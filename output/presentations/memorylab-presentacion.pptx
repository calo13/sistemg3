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fa5374920fc48d9" /><Relationship Type="http://schemas.openxmlformats.org/officeDocument/2006/relationships/extended-properties" Target="/docProps/app.xml" Id="Rad97932b94124682" /><Relationship Type="http://schemas.openxmlformats.org/officeDocument/2006/relationships/officeDocument" Target="/ppt/presentation.xml" Id="R0515a542794144fa" /></Relationships>
</file>

<file path=ppt/presentation.xml><?xml version="1.0" encoding="utf-8"?>
<p:presentation xmlns:p="http://schemas.openxmlformats.org/presentationml/2006/main">
  <p:sldMasterIdLst>
    <p:sldMasterId xmlns:r="http://schemas.openxmlformats.org/officeDocument/2006/relationships" id="2147483648" r:id="R423ca633c4e243f5"/>
  </p:sldMasterIdLst>
  <p:notesMasterIdLst>
    <p:notesMasterId xmlns:r="http://schemas.openxmlformats.org/officeDocument/2006/relationships" r:id="Rb537080732da4b48"/>
  </p:notesMasterIdLst>
  <p:sldIdLst>
    <p:sldId xmlns:r="http://schemas.openxmlformats.org/officeDocument/2006/relationships" id="256" r:id="Rd4316f8bb65946e6"/>
    <p:sldId xmlns:r="http://schemas.openxmlformats.org/officeDocument/2006/relationships" id="257" r:id="R82b580dce2844f2e"/>
    <p:sldId xmlns:r="http://schemas.openxmlformats.org/officeDocument/2006/relationships" id="258" r:id="R8217c53303a84f99"/>
    <p:sldId xmlns:r="http://schemas.openxmlformats.org/officeDocument/2006/relationships" id="259" r:id="R8e4f8ba6ce3c4c7c"/>
    <p:sldId xmlns:r="http://schemas.openxmlformats.org/officeDocument/2006/relationships" id="260" r:id="R42c0caf163484f8f"/>
    <p:sldId xmlns:r="http://schemas.openxmlformats.org/officeDocument/2006/relationships" id="261" r:id="R34a141d4a1fe4712"/>
    <p:sldId xmlns:r="http://schemas.openxmlformats.org/officeDocument/2006/relationships" id="262" r:id="R9d48b16bf1e442cf"/>
    <p:sldId xmlns:r="http://schemas.openxmlformats.org/officeDocument/2006/relationships" id="263" r:id="R09580c9a741343ce"/>
    <p:sldId xmlns:r="http://schemas.openxmlformats.org/officeDocument/2006/relationships" id="264" r:id="R2ac2505d6efa48a2"/>
    <p:sldId xmlns:r="http://schemas.openxmlformats.org/officeDocument/2006/relationships" id="265" r:id="Rf2234044be844ca1"/>
    <p:sldId xmlns:r="http://schemas.openxmlformats.org/officeDocument/2006/relationships" id="266" r:id="R38437759af4a417a"/>
    <p:sldId xmlns:r="http://schemas.openxmlformats.org/officeDocument/2006/relationships" id="267" r:id="Rfe38174b799a46b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1ea25eb89bc43a1" /><Relationship Type="http://schemas.openxmlformats.org/officeDocument/2006/relationships/slideMaster" Target="/ppt/slideMasters/slideMaster1.xml" Id="R423ca633c4e243f5" /><Relationship Type="http://schemas.openxmlformats.org/officeDocument/2006/relationships/notesMaster" Target="/ppt/notesMasters/notesMaster1.xml" Id="Rb537080732da4b48" /><Relationship Type="http://schemas.openxmlformats.org/officeDocument/2006/relationships/presProps" Target="/ppt/presProps.xml" Id="R7940ed0506d542f6" /><Relationship Type="http://schemas.openxmlformats.org/officeDocument/2006/relationships/tableStyles" Target="/ppt/tableStyles.xml" Id="Rf74bf925ee3f4dd1" /><Relationship Type="http://schemas.openxmlformats.org/officeDocument/2006/relationships/slide" Target="/ppt/slides/slide1.xml" Id="Rd4316f8bb65946e6" /><Relationship Type="http://schemas.openxmlformats.org/officeDocument/2006/relationships/slide" Target="/ppt/slides/slide2.xml" Id="R82b580dce2844f2e" /><Relationship Type="http://schemas.openxmlformats.org/officeDocument/2006/relationships/slide" Target="/ppt/slides/slide3.xml" Id="R8217c53303a84f99" /><Relationship Type="http://schemas.openxmlformats.org/officeDocument/2006/relationships/slide" Target="/ppt/slides/slide4.xml" Id="R8e4f8ba6ce3c4c7c" /><Relationship Type="http://schemas.openxmlformats.org/officeDocument/2006/relationships/slide" Target="/ppt/slides/slide5.xml" Id="R42c0caf163484f8f" /><Relationship Type="http://schemas.openxmlformats.org/officeDocument/2006/relationships/slide" Target="/ppt/slides/slide6.xml" Id="R34a141d4a1fe4712" /><Relationship Type="http://schemas.openxmlformats.org/officeDocument/2006/relationships/slide" Target="/ppt/slides/slide7.xml" Id="R9d48b16bf1e442cf" /><Relationship Type="http://schemas.openxmlformats.org/officeDocument/2006/relationships/slide" Target="/ppt/slides/slide8.xml" Id="R09580c9a741343ce" /><Relationship Type="http://schemas.openxmlformats.org/officeDocument/2006/relationships/slide" Target="/ppt/slides/slide9.xml" Id="R2ac2505d6efa48a2" /><Relationship Type="http://schemas.openxmlformats.org/officeDocument/2006/relationships/slide" Target="/ppt/slides/slide10.xml" Id="Rf2234044be844ca1" /><Relationship Type="http://schemas.openxmlformats.org/officeDocument/2006/relationships/slide" Target="/ppt/slides/slide11.xml" Id="R38437759af4a417a" /><Relationship Type="http://schemas.openxmlformats.org/officeDocument/2006/relationships/slide" Target="/ppt/slides/slide12.xml" Id="Rfe38174b799a46b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bdafe50ccca43f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cd732f1534d487a" /><Relationship Type="http://schemas.openxmlformats.org/officeDocument/2006/relationships/notesMaster" Target="/ppt/notesMasters/notesMaster1.xml" Id="Re649de31ccf44a3a" /></Relationships>
</file>

<file path=ppt/notesSlides/_rels/notesSlide2.xml.rels>&#65279;<?xml version="1.0" encoding="utf-8"?><Relationships xmlns="http://schemas.openxmlformats.org/package/2006/relationships"><Relationship Type="http://schemas.openxmlformats.org/officeDocument/2006/relationships/slide" Target="/ppt/slides/slide2.xml" Id="R9049fee2c9714503" /><Relationship Type="http://schemas.openxmlformats.org/officeDocument/2006/relationships/notesMaster" Target="/ppt/notesMasters/notesMaster1.xml" Id="R9f408c6c427c41ae" /></Relationships>
</file>

<file path=ppt/notesSlides/_rels/notesSlide3.xml.rels>&#65279;<?xml version="1.0" encoding="utf-8"?><Relationships xmlns="http://schemas.openxmlformats.org/package/2006/relationships"><Relationship Type="http://schemas.openxmlformats.org/officeDocument/2006/relationships/slide" Target="/ppt/slides/slide3.xml" Id="Rb5b3220366ed484d" /><Relationship Type="http://schemas.openxmlformats.org/officeDocument/2006/relationships/notesMaster" Target="/ppt/notesMasters/notesMaster1.xml" Id="R904a9bc335074123" /></Relationships>
</file>

<file path=ppt/notesSlides/_rels/notesSlide4.xml.rels>&#65279;<?xml version="1.0" encoding="utf-8"?><Relationships xmlns="http://schemas.openxmlformats.org/package/2006/relationships"><Relationship Type="http://schemas.openxmlformats.org/officeDocument/2006/relationships/slide" Target="/ppt/slides/slide4.xml" Id="Radc134c3efc04dd7" /><Relationship Type="http://schemas.openxmlformats.org/officeDocument/2006/relationships/notesMaster" Target="/ppt/notesMasters/notesMaster1.xml" Id="Rad081aec751e411b" /></Relationships>
</file>

<file path=ppt/notesSlides/_rels/notesSlide5.xml.rels>&#65279;<?xml version="1.0" encoding="utf-8"?><Relationships xmlns="http://schemas.openxmlformats.org/package/2006/relationships"><Relationship Type="http://schemas.openxmlformats.org/officeDocument/2006/relationships/slide" Target="/ppt/slides/slide5.xml" Id="Rc272bf7f64964f41" /><Relationship Type="http://schemas.openxmlformats.org/officeDocument/2006/relationships/notesMaster" Target="/ppt/notesMasters/notesMaster1.xml" Id="Re3628ca047d5439f" /></Relationships>
</file>

<file path=ppt/notesSlides/_rels/notesSlide6.xml.rels>&#65279;<?xml version="1.0" encoding="utf-8"?><Relationships xmlns="http://schemas.openxmlformats.org/package/2006/relationships"><Relationship Type="http://schemas.openxmlformats.org/officeDocument/2006/relationships/slide" Target="/ppt/slides/slide6.xml" Id="R8e195c0360e94c7b" /><Relationship Type="http://schemas.openxmlformats.org/officeDocument/2006/relationships/notesMaster" Target="/ppt/notesMasters/notesMaster1.xml" Id="Ra4ea76089ad042ef" /></Relationships>
</file>

<file path=ppt/notesSlides/_rels/notesSlide7.xml.rels>&#65279;<?xml version="1.0" encoding="utf-8"?><Relationships xmlns="http://schemas.openxmlformats.org/package/2006/relationships"><Relationship Type="http://schemas.openxmlformats.org/officeDocument/2006/relationships/slide" Target="/ppt/slides/slide7.xml" Id="Ra284c1bafb0d4eee" /><Relationship Type="http://schemas.openxmlformats.org/officeDocument/2006/relationships/notesMaster" Target="/ppt/notesMasters/notesMaster1.xml" Id="R62b25fbd47bc4ad8" /></Relationships>
</file>

<file path=ppt/notesSlides/_rels/notesSlide8.xml.rels>&#65279;<?xml version="1.0" encoding="utf-8"?><Relationships xmlns="http://schemas.openxmlformats.org/package/2006/relationships"><Relationship Type="http://schemas.openxmlformats.org/officeDocument/2006/relationships/slide" Target="/ppt/slides/slide8.xml" Id="Rea0b4fe798c84394" /><Relationship Type="http://schemas.openxmlformats.org/officeDocument/2006/relationships/notesMaster" Target="/ppt/notesMasters/notesMaster1.xml" Id="Reb2092ab9d0e42ff" /></Relationships>
</file>

<file path=ppt/notesSlides/_rels/notesSlide9.xml.rels>&#65279;<?xml version="1.0" encoding="utf-8"?><Relationships xmlns="http://schemas.openxmlformats.org/package/2006/relationships"><Relationship Type="http://schemas.openxmlformats.org/officeDocument/2006/relationships/slide" Target="/ppt/slides/slide9.xml" Id="R13a29d1ea80c436e" /><Relationship Type="http://schemas.openxmlformats.org/officeDocument/2006/relationships/notesMaster" Target="/ppt/notesMasters/notesMaster1.xml" Id="R06d82ab7b78346a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977a202404b4240" /><Relationship Type="http://schemas.openxmlformats.org/officeDocument/2006/relationships/notesMaster" Target="/ppt/notesMasters/notesMaster1.xml" Id="R602d4735433648f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9ff2350c0a840b5" /><Relationship Type="http://schemas.openxmlformats.org/officeDocument/2006/relationships/notesMaster" Target="/ppt/notesMasters/notesMaster1.xml" Id="Rd18f9105d071453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222af4078fe428b" /><Relationship Type="http://schemas.openxmlformats.org/officeDocument/2006/relationships/notesMaster" Target="/ppt/notesMasters/notesMaster1.xml" Id="R257f9219b7d245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Presentación académica final de doce diapositivas. MemoryLab es una simulación educativa desarrollada en Laravel. Los datos institucionales proceden de la configuración del proyecto. No se utiliza un logotipo institucional inventado.</a:t>
            </a:r>
          </a:p>
          <a:p xmlns:a="http://schemas.openxmlformats.org/drawingml/2006/main">
            <a:r>
              <a:t/>
            </a:r>
          </a:p>
          <a:p xmlns:a="http://schemas.openxmlformats.org/drawingml/2006/main">
            <a:r>
              <a:t>Fuentes y evidencia:</a:t>
            </a:r>
          </a:p>
          <a:p xmlns:a="http://schemas.openxmlformats.org/drawingml/2006/main">
            <a:r>
              <a:t>• C:\xampp\htdocs\sistemg3\config\memorylab.php</a:t>
            </a:r>
          </a:p>
          <a:p xmlns:a="http://schemas.openxmlformats.org/drawingml/2006/main">
            <a:r>
              <a:t>• C:\xampp\htdocs\sistemg3\docs\evidencias\solicitud-inicial.md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nombres y carnés se leen directamente del archivo de configuración, conservando su escritura exacta.</a:t>
            </a:r>
          </a:p>
          <a:p xmlns:a="http://schemas.openxmlformats.org/drawingml/2006/main">
            <a:r>
              <a:t/>
            </a:r>
          </a:p>
          <a:p xmlns:a="http://schemas.openxmlformats.org/drawingml/2006/main">
            <a:r>
              <a:t>Fuentes y evidencia:</a:t>
            </a:r>
          </a:p>
          <a:p xmlns:a="http://schemas.openxmlformats.org/drawingml/2006/main">
            <a:r>
              <a:t>• C:\xampp\htdocs\sistemg3\config\memorylab.php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objetivos sintetizan los requisitos de las fases de paginación, segmentación, traducción, comparación y explicación paso a paso. La memoria del sistema operativo del equipo no se consume para simular RAM.</a:t>
            </a:r>
          </a:p>
          <a:p xmlns:a="http://schemas.openxmlformats.org/drawingml/2006/main">
            <a:r>
              <a:t/>
            </a:r>
          </a:p>
          <a:p xmlns:a="http://schemas.openxmlformats.org/drawingml/2006/main">
            <a:r>
              <a:t>Fuentes y evidencia:</a:t>
            </a:r>
          </a:p>
          <a:p xmlns:a="http://schemas.openxmlformats.org/drawingml/2006/main">
            <a:r>
              <a:t>• C:\xampp\htdocs\sistemg3\docs\evidencias\solicitud-inicial.md</a:t>
            </a:r>
          </a:p>
          <a:p xmlns:a="http://schemas.openxmlformats.org/drawingml/2006/main">
            <a:r>
              <a:t>• C:\xampp\htdocs\sistemg3\app\Services\PagingFlowService.php</a:t>
            </a:r>
          </a:p>
          <a:p xmlns:a="http://schemas.openxmlformats.org/drawingml/2006/main">
            <a:r>
              <a:t>• C:\xampp\htdocs\sistemg3\app\Services\MemoryComparisonService.php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Diagrama nativo editable. Los controladores y componentes Livewire consumen servicios de dominio; las operaciones de memoria se ejecutan dentro de transacciones con bloqueo del escenario. Gates y permisos Spatie se comprueban con el usuario actualizado. La terminal educativa interpreta únicamente comandos permitidos y no ejecuta instrucciones del sistema operativo.</a:t>
            </a:r>
          </a:p>
          <a:p xmlns:a="http://schemas.openxmlformats.org/drawingml/2006/main">
            <a:r>
              <a:t/>
            </a:r>
          </a:p>
          <a:p xmlns:a="http://schemas.openxmlformats.org/drawingml/2006/main">
            <a:r>
              <a:t>Fuentes y evidencia:</a:t>
            </a:r>
          </a:p>
          <a:p xmlns:a="http://schemas.openxmlformats.org/drawingml/2006/main">
            <a:r>
              <a:t>• C:\xampp\htdocs\sistemg3\composer.json</a:t>
            </a:r>
          </a:p>
          <a:p xmlns:a="http://schemas.openxmlformats.org/drawingml/2006/main">
            <a:r>
              <a:t>• C:\xampp\htdocs\sistemg3\app\Services\PagingService.php</a:t>
            </a:r>
          </a:p>
          <a:p xmlns:a="http://schemas.openxmlformats.org/drawingml/2006/main">
            <a:r>
              <a:t>• C:\xampp\htdocs\sistemg3\app\Services\SegmentationService.php</a:t>
            </a:r>
          </a:p>
          <a:p xmlns:a="http://schemas.openxmlformats.org/drawingml/2006/main">
            <a:r>
              <a:t>• C:\xampp\htdocs\sistemg3\app\Services\EducationalTerminalService.php</a:t>
            </a:r>
          </a:p>
          <a:p xmlns:a="http://schemas.openxmlformats.org/drawingml/2006/main">
            <a:r>
              <a:t>• C:\xampp\htdocs\sistemg3\docs\informe-tecnico.md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conteo corresponde exclusivamente a las siete tablas del dominio de memoria; las tablas de usuarios y autorización no forman parte de ese total. El reporte de esquema de MySQL confirma doce FK y seis CHECK. pages.frame_id es nullable: una página sin marco se encuentra en memoria secundaria simulada. El historial se conserva después del reinicio.</a:t>
            </a:r>
          </a:p>
          <a:p xmlns:a="http://schemas.openxmlformats.org/drawingml/2006/main">
            <a:r>
              <a:t/>
            </a:r>
          </a:p>
          <a:p xmlns:a="http://schemas.openxmlformats.org/drawingml/2006/main">
            <a:r>
              <a:t>Fuentes y evidencia:</a:t>
            </a:r>
          </a:p>
          <a:p xmlns:a="http://schemas.openxmlformats.org/drawingml/2006/main">
            <a:r>
              <a:t>• C:\xampp\htdocs\sistemg3\docs\modelo-memoria.md</a:t>
            </a:r>
          </a:p>
          <a:p xmlns:a="http://schemas.openxmlformats.org/drawingml/2006/main">
            <a:r>
              <a:t>• C:\xampp\htdocs\sistemg3\docs\evidencias\fase-8-schema.json</a:t>
            </a:r>
          </a:p>
          <a:p xmlns:a="http://schemas.openxmlformats.org/drawingml/2006/main">
            <a:r>
              <a:t>• C:\xampp\htdocs\sistemg3\database\migrations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captura real corresponde a una evidencia de la fase 13: el proceso Chrome prueba tiene cuatro páginas y la página 0 ocupa el marco 2. Este ejemplo documenta la vista de tabla; no se presenta como el estado de la demostración base. La configuración utiliza unidades de 1024 bytes por KB.</a:t>
            </a:r>
          </a:p>
          <a:p xmlns:a="http://schemas.openxmlformats.org/drawingml/2006/main">
            <a:r>
              <a:t/>
            </a:r>
          </a:p>
          <a:p xmlns:a="http://schemas.openxmlformats.org/drawingml/2006/main">
            <a:r>
              <a:t>Fuentes y evidencia:</a:t>
            </a:r>
          </a:p>
          <a:p xmlns:a="http://schemas.openxmlformats.org/drawingml/2006/main">
            <a:r>
              <a:t>• https://pages.cs.wisc.edu/~remzi/OSTEP/vm-paging.pdf</a:t>
            </a:r>
          </a:p>
          <a:p xmlns:a="http://schemas.openxmlformats.org/drawingml/2006/main">
            <a:r>
              <a:t>• C:\xampp\htdocs\sistemg3\app\Services\PagingService.php</a:t>
            </a:r>
          </a:p>
          <a:p xmlns:a="http://schemas.openxmlformats.org/drawingml/2006/main">
            <a:r>
              <a:t>• C:\xampp\htdocs\sistemg3\docs\evidencias\fase-13-paginacion-escritorio.png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PAGE_REQUEST seguido de PAGE_HIT cuando la página ya está presente. Si está ausente, la secuencia es PAGE_REQUEST, PAGE_FAULT y PAGE_LOADED. El servicio elige el marco libre de menor número. Si no hay libres, FIFO utiliza loaded_at y luego id; la víctima pasa a secundaria. Un HIT no renueva loaded_at. La resolución es idempotente y no duplica eventos al repetirse.</a:t>
            </a:r>
          </a:p>
          <a:p xmlns:a="http://schemas.openxmlformats.org/drawingml/2006/main">
            <a:r>
              <a:t/>
            </a:r>
          </a:p>
          <a:p xmlns:a="http://schemas.openxmlformats.org/drawingml/2006/main">
            <a:r>
              <a:t>Fuentes y evidencia:</a:t>
            </a:r>
          </a:p>
          <a:p xmlns:a="http://schemas.openxmlformats.org/drawingml/2006/main">
            <a:r>
              <a:t>• https://pages.cs.wisc.edu/~remzi/OSTEP/vm-paging.pdf</a:t>
            </a:r>
          </a:p>
          <a:p xmlns:a="http://schemas.openxmlformats.org/drawingml/2006/main">
            <a:r>
              <a:t>• C:\xampp\htdocs\sistemg3\app\Services\PagingService.php</a:t>
            </a:r>
          </a:p>
          <a:p xmlns:a="http://schemas.openxmlformats.org/drawingml/2006/main">
            <a:r>
              <a:t>• C:\xampp\htdocs\sistemg3\app\Services\PagingFlowService.php</a:t>
            </a:r>
          </a:p>
          <a:p xmlns:a="http://schemas.openxmlformats.org/drawingml/2006/main">
            <a:r>
              <a:t>• C:\xampp\htdocs\sistemg3\docs\evidencias\fase-15-cpu-escritorio.png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Ejemplo matemático ilustrativo editable, independiente de las capturas. La dirección lógica 1124 produce página 1 y desplazamiento 100. Si la página 1 está en el marco 5, la dirección física es 5220. Cuando la página está en secundaria, el traductor informa ausencia y dirección física null; traducir no provoca carga, fallo ni eventos. El límite es el tamaño real del proceso, no el relleno de su última página.</a:t>
            </a:r>
          </a:p>
          <a:p xmlns:a="http://schemas.openxmlformats.org/drawingml/2006/main">
            <a:r>
              <a:t/>
            </a:r>
          </a:p>
          <a:p xmlns:a="http://schemas.openxmlformats.org/drawingml/2006/main">
            <a:r>
              <a:t>Fuentes y evidencia:</a:t>
            </a:r>
          </a:p>
          <a:p xmlns:a="http://schemas.openxmlformats.org/drawingml/2006/main">
            <a:r>
              <a:t>• https://pages.cs.wisc.edu/~remzi/OSTEP/vm-paging.pdf</a:t>
            </a:r>
          </a:p>
          <a:p xmlns:a="http://schemas.openxmlformats.org/drawingml/2006/main">
            <a:r>
              <a:t>• C:\xampp\htdocs\sistemg3\app\Services\AddressTranslationService.php</a:t>
            </a:r>
          </a:p>
          <a:p xmlns:a="http://schemas.openxmlformats.org/drawingml/2006/main">
            <a:r>
              <a:t>• C:\xampp\htdocs\sistemg3\docs\evidencias\fase-17.md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condición estricta es 0 &lt;= offset &lt; size_bytes. Un acceso válido produce base + offset y el evento SEGMENT_ACCESS. Si el desplazamiento iguala o supera el tamaño, el resultado es SEGMENTATION_FAULT sin dirección física y sin modificar RAM ni el estado de ejecución. Los segmentos activos no se solapan y el total del proceso no supera su tamaño. La captura real muestra el límite exacto de 1200 bytes.</a:t>
            </a:r>
          </a:p>
          <a:p xmlns:a="http://schemas.openxmlformats.org/drawingml/2006/main">
            <a:r>
              <a:t/>
            </a:r>
          </a:p>
          <a:p xmlns:a="http://schemas.openxmlformats.org/drawingml/2006/main">
            <a:r>
              <a:t>Fuentes y evidencia:</a:t>
            </a:r>
          </a:p>
          <a:p xmlns:a="http://schemas.openxmlformats.org/drawingml/2006/main">
            <a:r>
              <a:t>• https://pages.cs.wisc.edu/~remzi/OSTEP/vm-segmentation.pdf</a:t>
            </a:r>
          </a:p>
          <a:p xmlns:a="http://schemas.openxmlformats.org/drawingml/2006/main">
            <a:r>
              <a:t>• C:\xampp\htdocs\sistemg3\app\Services\SegmentationService.php</a:t>
            </a:r>
          </a:p>
          <a:p xmlns:a="http://schemas.openxmlformats.org/drawingml/2006/main">
            <a:r>
              <a:t>• C:\xampp\htdocs\sistemg3\docs\evidencias\fase-19-segmentation-fault-escritorio.png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Comparación matemática sin modificar la base de datos. Ocupaciones iniciales A=[0,4096) y B=[7168,10240). Huecos: [4096,7168), 3072 bytes; [10240,16384), 6144 bytes. Contigua first-fit rechaza una solicitud de 7168 porque el hueco mayor es 6144. Paginación reserva siete marcos de 1024 y desperdicio interno cero. Segmentación divide la solicitud en Código=4096 y Datos=3072: Código cabe en el hueco de 6144 y Datos en el de 3072. Ambos aceptados dejan 2048 bytes libres. Los modos rechazados conservan el estado inicial.</a:t>
            </a:r>
          </a:p>
          <a:p xmlns:a="http://schemas.openxmlformats.org/drawingml/2006/main">
            <a:r>
              <a:t/>
            </a:r>
          </a:p>
          <a:p xmlns:a="http://schemas.openxmlformats.org/drawingml/2006/main">
            <a:r>
              <a:t>Fuentes y evidencia:</a:t>
            </a:r>
          </a:p>
          <a:p xmlns:a="http://schemas.openxmlformats.org/drawingml/2006/main">
            <a:r>
              <a:t>• https://pages.cs.wisc.edu/~remzi/OSTEP/vm-freespace.pdf</a:t>
            </a:r>
          </a:p>
          <a:p xmlns:a="http://schemas.openxmlformats.org/drawingml/2006/main">
            <a:r>
              <a:t>• https://pages.cs.wisc.edu/~remzi/OSTEP/vm-paging.pdf</a:t>
            </a:r>
          </a:p>
          <a:p xmlns:a="http://schemas.openxmlformats.org/drawingml/2006/main">
            <a:r>
              <a:t>• https://pages.cs.wisc.edu/~remzi/OSTEP/vm-segmentation.pdf</a:t>
            </a:r>
          </a:p>
          <a:p xmlns:a="http://schemas.openxmlformats.org/drawingml/2006/main">
            <a:r>
              <a:t>• C:\xampp\htdocs\sistemg3\app\Services\MemoryComparisonService.php</a:t>
            </a:r>
          </a:p>
          <a:p xmlns:a="http://schemas.openxmlformats.org/drawingml/2006/main">
            <a:r>
              <a:t>• C:\xampp\htdocs\sistemg3\tests\Feature\MemoryComparisonTest.php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Resultado de la verificación integral de fase 27: 655 pruebas pasadas, 1 omitida, 4575 aserciones y duración 96.78 segundos. Las cifras provienen de la ejecución realizada para el cierre del proyecto; este proceso de autoría no ejecuta nuevamente pruebas ni consulta la base de datos. Los permisos se asignan por rol, con comprobación de autorización actualizada en los servicios. Los casos cubren lectura sin mutaciones, aislamiento entre escenarios, capacidad, FIFO, reintentos, límites de segmentos y reversión de transacciones.</a:t>
            </a:r>
          </a:p>
          <a:p xmlns:a="http://schemas.openxmlformats.org/drawingml/2006/main">
            <a:r>
              <a:t/>
            </a:r>
          </a:p>
          <a:p xmlns:a="http://schemas.openxmlformats.org/drawingml/2006/main">
            <a:r>
              <a:t>Fuentes y evidencia:</a:t>
            </a:r>
          </a:p>
          <a:p xmlns:a="http://schemas.openxmlformats.org/drawingml/2006/main">
            <a:r>
              <a:t>• C:\xampp\htdocs\sistemg3\database\seeders\RolesAndPermissionsSeeder.php</a:t>
            </a:r>
          </a:p>
          <a:p xmlns:a="http://schemas.openxmlformats.org/drawingml/2006/main">
            <a:r>
              <a:t>• C:\xampp\htdocs\sistemg3\app\Enums\PermissionName.php</a:t>
            </a:r>
          </a:p>
          <a:p xmlns:a="http://schemas.openxmlformats.org/drawingml/2006/main">
            <a:r>
              <a:t>• C:\xampp\htdocs\sistemg3\docs\evidencias\fase-27.md</a:t>
            </a:r>
          </a:p>
          <a:p xmlns:a="http://schemas.openxmlformats.org/drawingml/2006/main">
            <a:r>
              <a:t>• C:\xampp\htdocs\sistemg3\tests\Feature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Ruta sugerida de demostración: iniciar un par nuevo de demostración, seleccionar Chrome y solicitar página 0 para HIT; solicitar página 3, inicialmente en secundaria, para PAGE_FAULT. Para observar FIFO, completar la RAM usando carga controlada y solicitar una página ausente. En segmentación, seleccionar Código y offset 1200 para mostrar el límite inválido. La captura real de modo presentación muestra una carga de Chrome página 3 en marco 5. El uso de IA se documenta mediante la solicitud inicial, decisiones, correcciones y evidencias por fase; no sustituye los resultados comprobables del software.</a:t>
            </a:r>
          </a:p>
          <a:p xmlns:a="http://schemas.openxmlformats.org/drawingml/2006/main">
            <a:r>
              <a:t/>
            </a:r>
          </a:p>
          <a:p xmlns:a="http://schemas.openxmlformats.org/drawingml/2006/main">
            <a:r>
              <a:t>Fuentes y evidencia:</a:t>
            </a:r>
          </a:p>
          <a:p xmlns:a="http://schemas.openxmlformats.org/drawingml/2006/main">
            <a:r>
              <a:t>• C:\xampp\htdocs\sistemg3\docs\evidencias\solicitud-inicial.md</a:t>
            </a:r>
          </a:p>
          <a:p xmlns:a="http://schemas.openxmlformats.org/drawingml/2006/main">
            <a:r>
              <a:t>• C:\xampp\htdocs\sistemg3\docs\evidencias\fase-25-presentacion-escritorio.png</a:t>
            </a:r>
          </a:p>
          <a:p xmlns:a="http://schemas.openxmlformats.org/drawingml/2006/main">
            <a:r>
              <a:t>• C:\xampp\htdocs\sistemg3\app\Services\SimulationService.php</a:t>
            </a:r>
          </a:p>
          <a:p xmlns:a="http://schemas.openxmlformats.org/drawingml/2006/main">
            <a:r>
              <a:t>• C:\xampp\htdocs\sistemg3\app\Services\MemoryStressService.php</a:t>
            </a:r>
          </a:p>
          <a:p xmlns:a="http://schemas.openxmlformats.org/drawingml/2006/main">
            <a:r>
              <a:t>• C:\xampp\htdocs\sistemg3\docs\evidencias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79cc70351ff443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3bef9d07cee4ea0" /><Relationship Type="http://schemas.openxmlformats.org/officeDocument/2006/relationships/slideLayout" Target="/ppt/slideLayouts/slideLayout1.xml" Id="R2af036e999c94a8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f036e999c94a8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cd70c08974f4d69" /><Relationship Type="http://schemas.openxmlformats.org/officeDocument/2006/relationships/notesSlide" Target="/ppt/notesSlides/notesSlide1.xml" Id="Rb6cbb7b21f86468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db64242f2904bf7" /><Relationship Type="http://schemas.openxmlformats.org/officeDocument/2006/relationships/notesSlide" Target="/ppt/notesSlides/notesSlide2.xml" Id="R7685ac09b3a440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7517584575b47f7" /><Relationship Type="http://schemas.openxmlformats.org/officeDocument/2006/relationships/notesSlide" Target="/ppt/notesSlides/notesSlide3.xml" Id="R5cbb870eded5438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fd05610146b4df8" /><Relationship Type="http://schemas.openxmlformats.org/officeDocument/2006/relationships/notesSlide" Target="/ppt/notesSlides/notesSlide4.xml" Id="Rcc0e63249cf742f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bab3a8c0c654917" /><Relationship Type="http://schemas.openxmlformats.org/officeDocument/2006/relationships/notesSlide" Target="/ppt/notesSlides/notesSlide5.xml" Id="R6add9ee93b7c432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36bb860e2a44c6d" /><Relationship Type="http://schemas.openxmlformats.org/officeDocument/2006/relationships/image" Target="/ppt/media/image.png" Id="R5c0c49d8c3be417e" /><Relationship Type="http://schemas.openxmlformats.org/officeDocument/2006/relationships/notesSlide" Target="/ppt/notesSlides/notesSlide6.xml" Id="R9c636a0676e0415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e79b556f0ca47d5" /><Relationship Type="http://schemas.openxmlformats.org/officeDocument/2006/relationships/image" Target="/ppt/media/image2.png" Id="Rcfb4be91cf414b5b" /><Relationship Type="http://schemas.openxmlformats.org/officeDocument/2006/relationships/notesSlide" Target="/ppt/notesSlides/notesSlide7.xml" Id="Rf2b5b87ab6444c7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279aec0e78a446e" /><Relationship Type="http://schemas.openxmlformats.org/officeDocument/2006/relationships/notesSlide" Target="/ppt/notesSlides/notesSlide8.xml" Id="Ra74673edb0e243a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fe33bd4b4524c1d" /><Relationship Type="http://schemas.openxmlformats.org/officeDocument/2006/relationships/image" Target="/ppt/media/image3.png" Id="R8578d058b9684a46" /><Relationship Type="http://schemas.openxmlformats.org/officeDocument/2006/relationships/notesSlide" Target="/ppt/notesSlides/notesSlide9.xml" Id="R5fd34968be8347e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cd324e06fa44919" /><Relationship Type="http://schemas.openxmlformats.org/officeDocument/2006/relationships/notesSlide" Target="/ppt/notesSlides/notesSlide10.xml" Id="R689134379ac44d7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acb25f1141f4177" /><Relationship Type="http://schemas.openxmlformats.org/officeDocument/2006/relationships/notesSlide" Target="/ppt/notesSlides/notesSlide11.xml" Id="Rb4f745afbd4c48c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3aef22b0dbc4548" /><Relationship Type="http://schemas.openxmlformats.org/officeDocument/2006/relationships/image" Target="/ppt/media/image4.png" Id="R4af7d0db640e42b4" /><Relationship Type="http://schemas.openxmlformats.org/officeDocument/2006/relationships/notesSlide" Target="/ppt/notesSlides/notesSlide12.xml" Id="Rf10e06f5fc78431d" /></Relationships>
</file>

<file path=ppt/slides/slide1.xml><?xml version="1.0" encoding="utf-8"?>
<p:sld xmlns:p="http://schemas.openxmlformats.org/presentationml/2006/main">
  <p:cSld>
    <p:bg>
      <p:bgPr>
        <a:solidFill xmlns:a="http://schemas.openxmlformats.org/drawingml/2006/main">
          <a:srgbClr val="655C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F82B6A0-90BD-4298-B6CE-74D73DF4BC31}"/>
              </a:ext>
            </a:extLst>
          </p:cNvPr>
          <p:cNvSpPr>
            <a:spLocks xmlns:a="http://schemas.openxmlformats.org/drawingml/2006/main" noGrp="1"/>
          </p:cNvSpPr>
          <p:nvPr/>
        </p:nvSpPr>
        <p:spPr>
          <a:xfrm xmlns:a="http://schemas.openxmlformats.org/drawingml/2006/main">
            <a:off x="685800" y="123825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6450" b="1">
                <a:solidFill>
                  <a:srgbClr val="FFFFFF"/>
                </a:solidFill>
                <a:latin typeface="Arial"/>
                <a:ea typeface="Arial"/>
                <a:cs typeface="Arial"/>
              </a:defRPr>
            </a:pPr>
            <a:r>
              <a:rPr sz="6450" b="1">
                <a:solidFill>
                  <a:srgbClr val="FFFFFF"/>
                </a:solidFill>
                <a:latin typeface="Arial"/>
                <a:ea typeface="Arial"/>
                <a:cs typeface="Arial"/>
              </a:rPr>
              <a:t>MemoryLab</a:t>
            </a:r>
          </a:p>
        </p:txBody>
      </p:sp>
      <p:sp>
        <p:nvSpPr>
          <p:cNvPr id="2" name="">
            <a:extLst xmlns:a="http://schemas.openxmlformats.org/drawingml/2006/main">
              <a:ext uri="{FF2B5EF4-FFF2-40B4-BE49-F238E27FC236}">
                <a16:creationId xmlns:a16="http://schemas.microsoft.com/office/drawing/2014/main" id="{69743388-4FA1-4445-97F2-E85C1AAF5E2E}"/>
              </a:ext>
            </a:extLst>
          </p:cNvPr>
          <p:cNvSpPr>
            <a:spLocks xmlns:a="http://schemas.openxmlformats.org/drawingml/2006/main" noGrp="1"/>
          </p:cNvSpPr>
          <p:nvPr/>
        </p:nvSpPr>
        <p:spPr>
          <a:xfrm xmlns:a="http://schemas.openxmlformats.org/drawingml/2006/main">
            <a:off x="723900" y="2571750"/>
            <a:ext cx="10477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150">
                <a:solidFill>
                  <a:srgbClr val="FFFFFF"/>
                </a:solidFill>
                <a:latin typeface="Arial"/>
                <a:ea typeface="Arial"/>
                <a:cs typeface="Arial"/>
              </a:defRPr>
            </a:pPr>
            <a:r>
              <a:rPr sz="3150">
                <a:solidFill>
                  <a:srgbClr val="FFFFFF"/>
                </a:solidFill>
                <a:latin typeface="Arial"/>
                <a:ea typeface="Arial"/>
                <a:cs typeface="Arial"/>
              </a:rPr>
              <a:t>Simulador interactivo de</a:t>
            </a:r>
          </a:p>
          <a:p xmlns:a="http://schemas.openxmlformats.org/drawingml/2006/main">
            <a:pPr>
              <a:defRPr sz="3150">
                <a:solidFill>
                  <a:srgbClr val="FFFFFF"/>
                </a:solidFill>
                <a:latin typeface="Arial"/>
                <a:ea typeface="Arial"/>
                <a:cs typeface="Arial"/>
              </a:defRPr>
            </a:pPr>
            <a:r>
              <a:rPr sz="3150">
                <a:solidFill>
                  <a:srgbClr val="FFFFFF"/>
                </a:solidFill>
                <a:latin typeface="Arial"/>
                <a:ea typeface="Arial"/>
                <a:cs typeface="Arial"/>
              </a:rPr>
              <a:t>administración de memoria</a:t>
            </a:r>
          </a:p>
        </p:txBody>
      </p:sp>
      <p:sp>
        <p:nvSpPr>
          <p:cNvPr id="3" name="">
            <a:extLst xmlns:a="http://schemas.openxmlformats.org/drawingml/2006/main">
              <a:ext uri="{FF2B5EF4-FFF2-40B4-BE49-F238E27FC236}">
                <a16:creationId xmlns:a16="http://schemas.microsoft.com/office/drawing/2014/main" id="{8EAB8514-8BFE-4245-9BF8-3025F8D8A1F9}"/>
              </a:ext>
            </a:extLst>
          </p:cNvPr>
          <p:cNvSpPr>
            <a:spLocks xmlns:a="http://schemas.openxmlformats.org/drawingml/2006/main" noGrp="1"/>
          </p:cNvSpPr>
          <p:nvPr/>
        </p:nvSpPr>
        <p:spPr>
          <a:xfrm xmlns:a="http://schemas.openxmlformats.org/drawingml/2006/main">
            <a:off x="723900" y="4533900"/>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FFFFFF"/>
                </a:solidFill>
                <a:latin typeface="Arial"/>
                <a:ea typeface="Arial"/>
                <a:cs typeface="Arial"/>
              </a:defRPr>
            </a:pPr>
            <a:r>
              <a:rPr sz="2325" b="1">
                <a:solidFill>
                  <a:srgbClr val="FFFFFF"/>
                </a:solidFill>
                <a:latin typeface="Arial"/>
                <a:ea typeface="Arial"/>
                <a:cs typeface="Arial"/>
              </a:rPr>
              <a:t>Universidad Mariano Gálvez</a:t>
            </a:r>
          </a:p>
        </p:txBody>
      </p:sp>
      <p:sp>
        <p:nvSpPr>
          <p:cNvPr id="4" name="">
            <a:extLst xmlns:a="http://schemas.openxmlformats.org/drawingml/2006/main">
              <a:ext uri="{FF2B5EF4-FFF2-40B4-BE49-F238E27FC236}">
                <a16:creationId xmlns:a16="http://schemas.microsoft.com/office/drawing/2014/main" id="{CA7E71D2-9D79-4D14-926F-FF61FB35D582}"/>
              </a:ext>
            </a:extLst>
          </p:cNvPr>
          <p:cNvSpPr>
            <a:spLocks xmlns:a="http://schemas.openxmlformats.org/drawingml/2006/main" noGrp="1"/>
          </p:cNvSpPr>
          <p:nvPr/>
        </p:nvSpPr>
        <p:spPr>
          <a:xfrm xmlns:a="http://schemas.openxmlformats.org/drawingml/2006/main">
            <a:off x="723900" y="51816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a:solidFill>
                  <a:srgbClr val="FFFFFF"/>
                </a:solidFill>
                <a:latin typeface="Arial"/>
                <a:ea typeface="Arial"/>
                <a:cs typeface="Arial"/>
              </a:defRPr>
            </a:pPr>
            <a:r>
              <a:rPr sz="2025">
                <a:solidFill>
                  <a:srgbClr val="FFFFFF"/>
                </a:solidFill>
                <a:latin typeface="Arial"/>
                <a:ea typeface="Arial"/>
                <a:cs typeface="Arial"/>
              </a:rPr>
              <a:t>Ingeniería en Sistemas</a:t>
            </a:r>
          </a:p>
          <a:p xmlns:a="http://schemas.openxmlformats.org/drawingml/2006/main">
            <a:pPr>
              <a:defRPr sz="2025">
                <a:solidFill>
                  <a:srgbClr val="FFFFFF"/>
                </a:solidFill>
                <a:latin typeface="Arial"/>
                <a:ea typeface="Arial"/>
                <a:cs typeface="Arial"/>
              </a:defRPr>
            </a:pPr>
            <a:r>
              <a:rPr sz="2025">
                <a:solidFill>
                  <a:srgbClr val="FFFFFF"/>
                </a:solidFill>
                <a:latin typeface="Arial"/>
                <a:ea typeface="Arial"/>
                <a:cs typeface="Arial"/>
              </a:rPr>
              <a:t>Sistemas Operativos 1 · Grupo 3</a:t>
            </a:r>
          </a:p>
        </p:txBody>
      </p:sp>
    </p:spTree>
    <p:extLst>
      <p:ext uri="{BB962C8B-B14F-4D97-AF65-F5344CB8AC3E}">
        <p14:creationId xmlns:p14="http://schemas.microsoft.com/office/powerpoint/2010/main" val="6393177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4A565B5-0230-491B-9BBF-DB77B62BF8E8}"/>
              </a:ext>
            </a:extLst>
          </p:cNvPr>
          <p:cNvSpPr>
            <a:spLocks xmlns:a="http://schemas.openxmlformats.org/drawingml/2006/main" noGrp="1"/>
          </p:cNvSpPr>
          <p:nvPr/>
        </p:nvSpPr>
        <p:spPr>
          <a:xfrm xmlns:a="http://schemas.openxmlformats.org/drawingml/2006/main">
            <a:off x="533400" y="4000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242338"/>
                </a:solidFill>
                <a:latin typeface="Arial"/>
                <a:ea typeface="Arial"/>
                <a:cs typeface="Arial"/>
              </a:defRPr>
            </a:pPr>
            <a:r>
              <a:rPr sz="3450" b="1">
                <a:solidFill>
                  <a:srgbClr val="242338"/>
                </a:solidFill>
                <a:latin typeface="Arial"/>
                <a:ea typeface="Arial"/>
                <a:cs typeface="Arial"/>
              </a:rPr>
              <a:t>Equipo de trabajo</a:t>
            </a:r>
          </a:p>
        </p:txBody>
      </p:sp>
      <p:sp>
        <p:nvSpPr>
          <p:cNvPr id="2" name="">
            <a:extLst xmlns:a="http://schemas.openxmlformats.org/drawingml/2006/main">
              <a:ext uri="{FF2B5EF4-FFF2-40B4-BE49-F238E27FC236}">
                <a16:creationId xmlns:a16="http://schemas.microsoft.com/office/drawing/2014/main" id="{266A7DC8-1BF6-43CC-A731-495651DED256}"/>
              </a:ext>
            </a:extLst>
          </p:cNvPr>
          <p:cNvSpPr>
            <a:spLocks xmlns:a="http://schemas.openxmlformats.org/drawingml/2006/main" noGrp="1"/>
          </p:cNvSpPr>
          <p:nvPr/>
        </p:nvSpPr>
        <p:spPr>
          <a:xfrm xmlns:a="http://schemas.openxmlformats.org/drawingml/2006/main">
            <a:off x="552450" y="11049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a:solidFill>
                  <a:srgbClr val="67667B"/>
                </a:solidFill>
                <a:latin typeface="Arial"/>
                <a:ea typeface="Arial"/>
                <a:cs typeface="Arial"/>
              </a:defRPr>
            </a:pPr>
            <a:r>
              <a:rPr sz="1875">
                <a:solidFill>
                  <a:srgbClr val="67667B"/>
                </a:solidFill>
                <a:latin typeface="Arial"/>
                <a:ea typeface="Arial"/>
                <a:cs typeface="Arial"/>
              </a:rPr>
              <a:t>Ingeniería en Sistemas · Grupo 3</a:t>
            </a:r>
          </a:p>
        </p:txBody>
      </p:sp>
      <p:sp>
        <p:nvSpPr>
          <p:cNvPr id="3" name="">
            <a:extLst xmlns:a="http://schemas.openxmlformats.org/drawingml/2006/main">
              <a:ext uri="{FF2B5EF4-FFF2-40B4-BE49-F238E27FC236}">
                <a16:creationId xmlns:a16="http://schemas.microsoft.com/office/drawing/2014/main" id="{6C7864EF-D349-4544-B910-DEBE42AD0D5B}"/>
              </a:ext>
            </a:extLst>
          </p:cNvPr>
          <p:cNvSpPr>
            <a:spLocks xmlns:a="http://schemas.openxmlformats.org/drawingml/2006/main" noGrp="1"/>
          </p:cNvSpPr>
          <p:nvPr/>
        </p:nvSpPr>
        <p:spPr>
          <a:xfrm xmlns:a="http://schemas.openxmlformats.org/drawingml/2006/main">
            <a:off x="533400" y="6334125"/>
            <a:ext cx="11125200" cy="9525"/>
          </a:xfrm>
          <a:prstGeom xmlns:a="http://schemas.openxmlformats.org/drawingml/2006/main" prst="rect">
            <a:avLst/>
          </a:prstGeom>
          <a:solidFill xmlns:a="http://schemas.openxmlformats.org/drawingml/2006/main">
            <a:srgbClr val="DFDFE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12A4F84-E561-4A9C-B67E-5A22B340B8A8}"/>
              </a:ext>
            </a:extLst>
          </p:cNvPr>
          <p:cNvSpPr>
            <a:spLocks xmlns:a="http://schemas.openxmlformats.org/drawingml/2006/main" noGrp="1"/>
          </p:cNvSpPr>
          <p:nvPr/>
        </p:nvSpPr>
        <p:spPr>
          <a:xfrm xmlns:a="http://schemas.openxmlformats.org/drawingml/2006/main">
            <a:off x="533400" y="6486525"/>
            <a:ext cx="9906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a:solidFill>
                  <a:srgbClr val="67667B"/>
                </a:solidFill>
                <a:latin typeface="Arial"/>
                <a:ea typeface="Arial"/>
                <a:cs typeface="Arial"/>
              </a:defRPr>
            </a:pPr>
            <a:r>
              <a:rPr sz="1125">
                <a:solidFill>
                  <a:srgbClr val="67667B"/>
                </a:solidFill>
                <a:latin typeface="Arial"/>
                <a:ea typeface="Arial"/>
                <a:cs typeface="Arial"/>
              </a:rPr>
              <a:t>MemoryLab · Grupo 3 · Sistemas Operativos 1</a:t>
            </a:r>
          </a:p>
        </p:txBody>
      </p:sp>
      <p:sp>
        <p:nvSpPr>
          <p:cNvPr id="5" name="">
            <a:extLst xmlns:a="http://schemas.openxmlformats.org/drawingml/2006/main">
              <a:ext uri="{FF2B5EF4-FFF2-40B4-BE49-F238E27FC236}">
                <a16:creationId xmlns:a16="http://schemas.microsoft.com/office/drawing/2014/main" id="{D397A458-7F34-497E-90F8-CECDF937C125}"/>
              </a:ext>
            </a:extLst>
          </p:cNvPr>
          <p:cNvSpPr>
            <a:spLocks xmlns:a="http://schemas.openxmlformats.org/drawingml/2006/main" noGrp="1"/>
          </p:cNvSpPr>
          <p:nvPr/>
        </p:nvSpPr>
        <p:spPr>
          <a:xfrm xmlns:a="http://schemas.openxmlformats.org/drawingml/2006/main">
            <a:off x="11220450" y="64674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350" b="1">
                <a:solidFill>
                  <a:srgbClr val="655CF3"/>
                </a:solidFill>
                <a:latin typeface="Arial"/>
                <a:ea typeface="Arial"/>
                <a:cs typeface="Arial"/>
              </a:defRPr>
            </a:pPr>
            <a:r>
              <a:rPr sz="1350" b="1">
                <a:solidFill>
                  <a:srgbClr val="655CF3"/>
                </a:solidFill>
                <a:latin typeface="Arial"/>
                <a:ea typeface="Arial"/>
                <a:cs typeface="Arial"/>
              </a:rPr>
              <a:t>02</a:t>
            </a:r>
          </a:p>
        </p:txBody>
      </p:sp>
      <p:graphicFrame>
        <p:nvGraphicFramePr>
          <p:cNvPr id="12" name=""/>
          <p:cNvGraphicFramePr/>
          <p:nvPr/>
        </p:nvGraphicFramePr>
        <p:xfrm>
          <a:off xmlns:a="http://schemas.openxmlformats.org/drawingml/2006/main" x="685800" y="1828800"/>
          <a:ext xmlns:a="http://schemas.openxmlformats.org/drawingml/2006/main" cx="10820400" cy="3771900"/>
        </p:xfrm>
        <a:graphic xmlns:a="http://schemas.openxmlformats.org/drawingml/2006/main">
          <a:graphicData uri="http://schemas.openxmlformats.org/drawingml/2006/table">
            <a:tbl>
              <a:tblPr firstRow="1" bandRow="0"/>
              <a:tblGrid>
                <a:gridCol w="7810500"/>
                <a:gridCol w="3009900"/>
              </a:tblGrid>
              <a:tr h="628650">
                <a:tc>
                  <a:txBody>
                    <a:bodyPr>
                      <a:noAutofit/>
                    </a:bodyPr>
                    <a:lstStyle/>
                    <a:p>
                      <a:r>
                        <a:rPr sz="2025" b="1">
                          <a:solidFill>
                            <a:srgbClr val="FFFFFF"/>
                          </a:solidFill>
                          <a:latin typeface="Arial"/>
                          <a:ea typeface="Arial"/>
                          <a:cs typeface="Arial"/>
                        </a:rPr>
                        <a:t>Integrante</a:t>
                      </a:r>
                    </a:p>
                  </a:txBody>
                  <a:tcPr marL="152400" marR="133350" marT="114300" marB="95250">
                    <a:solidFill>
                      <a:srgbClr val="655CF3"/>
                    </a:solidFill>
                  </a:tcPr>
                </a:tc>
                <a:tc>
                  <a:txBody>
                    <a:bodyPr>
                      <a:noAutofit/>
                    </a:bodyPr>
                    <a:lstStyle/>
                    <a:p>
                      <a:r>
                        <a:rPr sz="2025" b="1">
                          <a:solidFill>
                            <a:srgbClr val="FFFFFF"/>
                          </a:solidFill>
                          <a:latin typeface="Arial"/>
                          <a:ea typeface="Arial"/>
                          <a:cs typeface="Arial"/>
                        </a:rPr>
                        <a:t>Carné</a:t>
                      </a:r>
                    </a:p>
                  </a:txBody>
                  <a:tcPr marL="152400" marR="133350" marT="114300" marB="95250">
                    <a:solidFill>
                      <a:srgbClr val="655CF3"/>
                    </a:solidFill>
                  </a:tcPr>
                </a:tc>
              </a:tr>
              <a:tr h="628650">
                <a:tc>
                  <a:txBody>
                    <a:bodyPr>
                      <a:noAutofit/>
                    </a:bodyPr>
                    <a:lstStyle/>
                    <a:p>
                      <a:r>
                        <a:rPr sz="2025" b="0">
                          <a:solidFill>
                            <a:srgbClr val="242338"/>
                          </a:solidFill>
                          <a:latin typeface="Arial"/>
                          <a:ea typeface="Arial"/>
                          <a:cs typeface="Arial"/>
                        </a:rPr>
                        <a:t>Enmer Antonio Buch Xinic</a:t>
                      </a:r>
                    </a:p>
                  </a:txBody>
                  <a:tcPr marL="152400" marR="133350" marT="114300" marB="95250">
                    <a:solidFill>
                      <a:srgbClr val="FFFFFF"/>
                    </a:solidFill>
                  </a:tcPr>
                </a:tc>
                <a:tc>
                  <a:txBody>
                    <a:bodyPr>
                      <a:noAutofit/>
                    </a:bodyPr>
                    <a:lstStyle/>
                    <a:p>
                      <a:r>
                        <a:rPr sz="2025" b="0">
                          <a:solidFill>
                            <a:srgbClr val="242338"/>
                          </a:solidFill>
                          <a:latin typeface="Arial"/>
                          <a:ea typeface="Arial"/>
                          <a:cs typeface="Arial"/>
                        </a:rPr>
                        <a:t>1990-22-15514</a:t>
                      </a:r>
                    </a:p>
                  </a:txBody>
                  <a:tcPr marL="152400" marR="133350" marT="114300" marB="95250">
                    <a:solidFill>
                      <a:srgbClr val="FFFFFF"/>
                    </a:solidFill>
                  </a:tcPr>
                </a:tc>
              </a:tr>
              <a:tr h="628650">
                <a:tc>
                  <a:txBody>
                    <a:bodyPr>
                      <a:noAutofit/>
                    </a:bodyPr>
                    <a:lstStyle/>
                    <a:p>
                      <a:r>
                        <a:rPr sz="2025" b="0">
                          <a:solidFill>
                            <a:srgbClr val="242338"/>
                          </a:solidFill>
                          <a:latin typeface="Arial"/>
                          <a:ea typeface="Arial"/>
                          <a:cs typeface="Arial"/>
                        </a:rPr>
                        <a:t>Lester Emilio Pedro Juan</a:t>
                      </a:r>
                    </a:p>
                  </a:txBody>
                  <a:tcPr marL="152400" marR="133350" marT="114300" marB="95250">
                    <a:solidFill>
                      <a:srgbClr val="F8F8FC"/>
                    </a:solidFill>
                  </a:tcPr>
                </a:tc>
                <a:tc>
                  <a:txBody>
                    <a:bodyPr>
                      <a:noAutofit/>
                    </a:bodyPr>
                    <a:lstStyle/>
                    <a:p>
                      <a:r>
                        <a:rPr sz="2025" b="0">
                          <a:solidFill>
                            <a:srgbClr val="242338"/>
                          </a:solidFill>
                          <a:latin typeface="Arial"/>
                          <a:ea typeface="Arial"/>
                          <a:cs typeface="Arial"/>
                        </a:rPr>
                        <a:t>6590-23-7214</a:t>
                      </a:r>
                    </a:p>
                  </a:txBody>
                  <a:tcPr marL="152400" marR="133350" marT="114300" marB="95250">
                    <a:solidFill>
                      <a:srgbClr val="F8F8FC"/>
                    </a:solidFill>
                  </a:tcPr>
                </a:tc>
              </a:tr>
              <a:tr h="628650">
                <a:tc>
                  <a:txBody>
                    <a:bodyPr>
                      <a:noAutofit/>
                    </a:bodyPr>
                    <a:lstStyle/>
                    <a:p>
                      <a:r>
                        <a:rPr sz="2025" b="0">
                          <a:solidFill>
                            <a:srgbClr val="242338"/>
                          </a:solidFill>
                          <a:latin typeface="Arial"/>
                          <a:ea typeface="Arial"/>
                          <a:cs typeface="Arial"/>
                        </a:rPr>
                        <a:t>Deivid Alberto Guerra Carpio</a:t>
                      </a:r>
                    </a:p>
                  </a:txBody>
                  <a:tcPr marL="152400" marR="133350" marT="114300" marB="95250">
                    <a:solidFill>
                      <a:srgbClr val="FFFFFF"/>
                    </a:solidFill>
                  </a:tcPr>
                </a:tc>
                <a:tc>
                  <a:txBody>
                    <a:bodyPr>
                      <a:noAutofit/>
                    </a:bodyPr>
                    <a:lstStyle/>
                    <a:p>
                      <a:r>
                        <a:rPr sz="2025" b="0">
                          <a:solidFill>
                            <a:srgbClr val="242338"/>
                          </a:solidFill>
                          <a:latin typeface="Arial"/>
                          <a:ea typeface="Arial"/>
                          <a:cs typeface="Arial"/>
                        </a:rPr>
                        <a:t>0905-24-23552</a:t>
                      </a:r>
                    </a:p>
                  </a:txBody>
                  <a:tcPr marL="152400" marR="133350" marT="114300" marB="95250">
                    <a:solidFill>
                      <a:srgbClr val="FFFFFF"/>
                    </a:solidFill>
                  </a:tcPr>
                </a:tc>
              </a:tr>
              <a:tr h="628650">
                <a:tc>
                  <a:txBody>
                    <a:bodyPr>
                      <a:noAutofit/>
                    </a:bodyPr>
                    <a:lstStyle/>
                    <a:p>
                      <a:r>
                        <a:rPr sz="2025" b="0">
                          <a:solidFill>
                            <a:srgbClr val="242338"/>
                          </a:solidFill>
                          <a:latin typeface="Arial"/>
                          <a:ea typeface="Arial"/>
                          <a:cs typeface="Arial"/>
                        </a:rPr>
                        <a:t>Rebeca Alizon Najarro Duarte</a:t>
                      </a:r>
                    </a:p>
                  </a:txBody>
                  <a:tcPr marL="152400" marR="133350" marT="114300" marB="95250">
                    <a:solidFill>
                      <a:srgbClr val="F8F8FC"/>
                    </a:solidFill>
                  </a:tcPr>
                </a:tc>
                <a:tc>
                  <a:txBody>
                    <a:bodyPr>
                      <a:noAutofit/>
                    </a:bodyPr>
                    <a:lstStyle/>
                    <a:p>
                      <a:r>
                        <a:rPr sz="2025" b="0">
                          <a:solidFill>
                            <a:srgbClr val="242338"/>
                          </a:solidFill>
                          <a:latin typeface="Arial"/>
                          <a:ea typeface="Arial"/>
                          <a:cs typeface="Arial"/>
                        </a:rPr>
                        <a:t>3190-23-11451</a:t>
                      </a:r>
                    </a:p>
                  </a:txBody>
                  <a:tcPr marL="152400" marR="133350" marT="114300" marB="95250">
                    <a:solidFill>
                      <a:srgbClr val="F8F8FC"/>
                    </a:solidFill>
                  </a:tcPr>
                </a:tc>
              </a:tr>
              <a:tr h="628650">
                <a:tc>
                  <a:txBody>
                    <a:bodyPr>
                      <a:noAutofit/>
                    </a:bodyPr>
                    <a:lstStyle/>
                    <a:p>
                      <a:r>
                        <a:rPr sz="2025" b="0">
                          <a:solidFill>
                            <a:srgbClr val="242338"/>
                          </a:solidFill>
                          <a:latin typeface="Arial"/>
                          <a:ea typeface="Arial"/>
                          <a:cs typeface="Arial"/>
                        </a:rPr>
                        <a:t>Carlos Lopez Urizar</a:t>
                      </a:r>
                    </a:p>
                  </a:txBody>
                  <a:tcPr marL="152400" marR="133350" marT="114300" marB="95250">
                    <a:solidFill>
                      <a:srgbClr val="FFFFFF"/>
                    </a:solidFill>
                  </a:tcPr>
                </a:tc>
                <a:tc>
                  <a:txBody>
                    <a:bodyPr>
                      <a:noAutofit/>
                    </a:bodyPr>
                    <a:lstStyle/>
                    <a:p>
                      <a:r>
                        <a:rPr sz="2025" b="0">
                          <a:solidFill>
                            <a:srgbClr val="242338"/>
                          </a:solidFill>
                          <a:latin typeface="Arial"/>
                          <a:ea typeface="Arial"/>
                          <a:cs typeface="Arial"/>
                        </a:rPr>
                        <a:t>6590-24-18604</a:t>
                      </a:r>
                    </a:p>
                  </a:txBody>
                  <a:tcPr marL="152400" marR="133350" marT="114300" marB="95250">
                    <a:solidFill>
                      <a:srgbClr val="FFFFFF"/>
                    </a:solidFill>
                  </a:tcPr>
                </a:tc>
              </a:tr>
            </a:tbl>
          </a:graphicData>
        </a:graphic>
      </p:graphicFrame>
    </p:spTree>
    <p:extLst>
      <p:ext uri="{BB962C8B-B14F-4D97-AF65-F5344CB8AC3E}">
        <p14:creationId xmlns:p14="http://schemas.microsoft.com/office/powerpoint/2010/main" val="192039320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A935611-0D28-4B9D-8A16-38A71E537E37}"/>
              </a:ext>
            </a:extLst>
          </p:cNvPr>
          <p:cNvSpPr>
            <a:spLocks xmlns:a="http://schemas.openxmlformats.org/drawingml/2006/main" noGrp="1"/>
          </p:cNvSpPr>
          <p:nvPr/>
        </p:nvSpPr>
        <p:spPr>
          <a:xfrm xmlns:a="http://schemas.openxmlformats.org/drawingml/2006/main">
            <a:off x="533400" y="4000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242338"/>
                </a:solidFill>
                <a:latin typeface="Arial"/>
                <a:ea typeface="Arial"/>
                <a:cs typeface="Arial"/>
              </a:defRPr>
            </a:pPr>
            <a:r>
              <a:rPr sz="3450" b="1">
                <a:solidFill>
                  <a:srgbClr val="242338"/>
                </a:solidFill>
                <a:latin typeface="Arial"/>
                <a:ea typeface="Arial"/>
                <a:cs typeface="Arial"/>
              </a:rPr>
              <a:t>Objetivos del simulador</a:t>
            </a:r>
          </a:p>
        </p:txBody>
      </p:sp>
      <p:sp>
        <p:nvSpPr>
          <p:cNvPr id="2" name="">
            <a:extLst xmlns:a="http://schemas.openxmlformats.org/drawingml/2006/main">
              <a:ext uri="{FF2B5EF4-FFF2-40B4-BE49-F238E27FC236}">
                <a16:creationId xmlns:a16="http://schemas.microsoft.com/office/drawing/2014/main" id="{5B4C9FAF-5BC7-47EA-8097-5AB318252227}"/>
              </a:ext>
            </a:extLst>
          </p:cNvPr>
          <p:cNvSpPr>
            <a:spLocks xmlns:a="http://schemas.openxmlformats.org/drawingml/2006/main" noGrp="1"/>
          </p:cNvSpPr>
          <p:nvPr/>
        </p:nvSpPr>
        <p:spPr>
          <a:xfrm xmlns:a="http://schemas.openxmlformats.org/drawingml/2006/main">
            <a:off x="552450" y="11049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a:solidFill>
                  <a:srgbClr val="67667B"/>
                </a:solidFill>
                <a:latin typeface="Arial"/>
                <a:ea typeface="Arial"/>
                <a:cs typeface="Arial"/>
              </a:defRPr>
            </a:pPr>
            <a:r>
              <a:rPr sz="1875">
                <a:solidFill>
                  <a:srgbClr val="67667B"/>
                </a:solidFill>
                <a:latin typeface="Arial"/>
                <a:ea typeface="Arial"/>
                <a:cs typeface="Arial"/>
              </a:rPr>
              <a:t>Observar los mecanismos y explicar cada resultado.</a:t>
            </a:r>
          </a:p>
        </p:txBody>
      </p:sp>
      <p:sp>
        <p:nvSpPr>
          <p:cNvPr id="3" name="">
            <a:extLst xmlns:a="http://schemas.openxmlformats.org/drawingml/2006/main">
              <a:ext uri="{FF2B5EF4-FFF2-40B4-BE49-F238E27FC236}">
                <a16:creationId xmlns:a16="http://schemas.microsoft.com/office/drawing/2014/main" id="{D1933B2B-2C1D-42E0-A190-B5749006480C}"/>
              </a:ext>
            </a:extLst>
          </p:cNvPr>
          <p:cNvSpPr>
            <a:spLocks xmlns:a="http://schemas.openxmlformats.org/drawingml/2006/main" noGrp="1"/>
          </p:cNvSpPr>
          <p:nvPr/>
        </p:nvSpPr>
        <p:spPr>
          <a:xfrm xmlns:a="http://schemas.openxmlformats.org/drawingml/2006/main">
            <a:off x="533400" y="6334125"/>
            <a:ext cx="11125200" cy="9525"/>
          </a:xfrm>
          <a:prstGeom xmlns:a="http://schemas.openxmlformats.org/drawingml/2006/main" prst="rect">
            <a:avLst/>
          </a:prstGeom>
          <a:solidFill xmlns:a="http://schemas.openxmlformats.org/drawingml/2006/main">
            <a:srgbClr val="DFDFE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3C8B44E-BDD2-4D46-8DFF-D0C4619C9DB7}"/>
              </a:ext>
            </a:extLst>
          </p:cNvPr>
          <p:cNvSpPr>
            <a:spLocks xmlns:a="http://schemas.openxmlformats.org/drawingml/2006/main" noGrp="1"/>
          </p:cNvSpPr>
          <p:nvPr/>
        </p:nvSpPr>
        <p:spPr>
          <a:xfrm xmlns:a="http://schemas.openxmlformats.org/drawingml/2006/main">
            <a:off x="533400" y="6486525"/>
            <a:ext cx="9906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a:solidFill>
                  <a:srgbClr val="67667B"/>
                </a:solidFill>
                <a:latin typeface="Arial"/>
                <a:ea typeface="Arial"/>
                <a:cs typeface="Arial"/>
              </a:defRPr>
            </a:pPr>
            <a:r>
              <a:rPr sz="1125">
                <a:solidFill>
                  <a:srgbClr val="67667B"/>
                </a:solidFill>
                <a:latin typeface="Arial"/>
                <a:ea typeface="Arial"/>
                <a:cs typeface="Arial"/>
              </a:rPr>
              <a:t>MemoryLab · Grupo 3 · Sistemas Operativos 1</a:t>
            </a:r>
          </a:p>
        </p:txBody>
      </p:sp>
      <p:sp>
        <p:nvSpPr>
          <p:cNvPr id="5" name="">
            <a:extLst xmlns:a="http://schemas.openxmlformats.org/drawingml/2006/main">
              <a:ext uri="{FF2B5EF4-FFF2-40B4-BE49-F238E27FC236}">
                <a16:creationId xmlns:a16="http://schemas.microsoft.com/office/drawing/2014/main" id="{E3C55C47-CCC6-401F-A640-FFCACFEDDBCC}"/>
              </a:ext>
            </a:extLst>
          </p:cNvPr>
          <p:cNvSpPr>
            <a:spLocks xmlns:a="http://schemas.openxmlformats.org/drawingml/2006/main" noGrp="1"/>
          </p:cNvSpPr>
          <p:nvPr/>
        </p:nvSpPr>
        <p:spPr>
          <a:xfrm xmlns:a="http://schemas.openxmlformats.org/drawingml/2006/main">
            <a:off x="11220450" y="64674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350" b="1">
                <a:solidFill>
                  <a:srgbClr val="655CF3"/>
                </a:solidFill>
                <a:latin typeface="Arial"/>
                <a:ea typeface="Arial"/>
                <a:cs typeface="Arial"/>
              </a:defRPr>
            </a:pPr>
            <a:r>
              <a:rPr sz="1350" b="1">
                <a:solidFill>
                  <a:srgbClr val="655CF3"/>
                </a:solidFill>
                <a:latin typeface="Arial"/>
                <a:ea typeface="Arial"/>
                <a:cs typeface="Arial"/>
              </a:rPr>
              <a:t>03</a:t>
            </a:r>
          </a:p>
        </p:txBody>
      </p:sp>
      <p:sp>
        <p:nvSpPr>
          <p:cNvPr id="6" name="">
            <a:extLst xmlns:a="http://schemas.openxmlformats.org/drawingml/2006/main">
              <a:ext uri="{FF2B5EF4-FFF2-40B4-BE49-F238E27FC236}">
                <a16:creationId xmlns:a16="http://schemas.microsoft.com/office/drawing/2014/main" id="{B2B50F50-3250-4C05-BB6F-2AC416DF9E80}"/>
              </a:ext>
            </a:extLst>
          </p:cNvPr>
          <p:cNvSpPr>
            <a:spLocks xmlns:a="http://schemas.openxmlformats.org/drawingml/2006/main" noGrp="1"/>
          </p:cNvSpPr>
          <p:nvPr/>
        </p:nvSpPr>
        <p:spPr>
          <a:xfrm xmlns:a="http://schemas.openxmlformats.org/drawingml/2006/main">
            <a:off x="685800" y="1962150"/>
            <a:ext cx="714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925" b="1">
                <a:solidFill>
                  <a:srgbClr val="655CF3"/>
                </a:solidFill>
                <a:latin typeface="Arial"/>
                <a:ea typeface="Arial"/>
                <a:cs typeface="Arial"/>
              </a:defRPr>
            </a:pPr>
            <a:r>
              <a:rPr sz="2925" b="1">
                <a:solidFill>
                  <a:srgbClr val="655CF3"/>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DCE7B71C-81FF-401B-A9D1-1D1FC597AC1A}"/>
              </a:ext>
            </a:extLst>
          </p:cNvPr>
          <p:cNvSpPr>
            <a:spLocks xmlns:a="http://schemas.openxmlformats.org/drawingml/2006/main" noGrp="1"/>
          </p:cNvSpPr>
          <p:nvPr/>
        </p:nvSpPr>
        <p:spPr>
          <a:xfrm xmlns:a="http://schemas.openxmlformats.org/drawingml/2006/main">
            <a:off x="1600200" y="1962150"/>
            <a:ext cx="9858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242338"/>
                </a:solidFill>
                <a:latin typeface="Arial"/>
                <a:ea typeface="Arial"/>
                <a:cs typeface="Arial"/>
              </a:defRPr>
            </a:pPr>
            <a:r>
              <a:rPr sz="2325" b="1">
                <a:solidFill>
                  <a:srgbClr val="242338"/>
                </a:solidFill>
                <a:latin typeface="Arial"/>
                <a:ea typeface="Arial"/>
                <a:cs typeface="Arial"/>
              </a:rPr>
              <a:t>Relacionar dirección lógica y física</a:t>
            </a:r>
          </a:p>
        </p:txBody>
      </p:sp>
      <p:sp>
        <p:nvSpPr>
          <p:cNvPr id="8" name="">
            <a:extLst xmlns:a="http://schemas.openxmlformats.org/drawingml/2006/main">
              <a:ext uri="{FF2B5EF4-FFF2-40B4-BE49-F238E27FC236}">
                <a16:creationId xmlns:a16="http://schemas.microsoft.com/office/drawing/2014/main" id="{BE698719-DA08-465A-BCEE-4D4F4D7F1A85}"/>
              </a:ext>
            </a:extLst>
          </p:cNvPr>
          <p:cNvSpPr>
            <a:spLocks xmlns:a="http://schemas.openxmlformats.org/drawingml/2006/main" noGrp="1"/>
          </p:cNvSpPr>
          <p:nvPr/>
        </p:nvSpPr>
        <p:spPr>
          <a:xfrm xmlns:a="http://schemas.openxmlformats.org/drawingml/2006/main">
            <a:off x="1600200" y="2514600"/>
            <a:ext cx="952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a:solidFill>
                  <a:srgbClr val="45445A"/>
                </a:solidFill>
                <a:latin typeface="Arial"/>
                <a:ea typeface="Arial"/>
                <a:cs typeface="Arial"/>
              </a:defRPr>
            </a:pPr>
            <a:r>
              <a:rPr sz="2025">
                <a:solidFill>
                  <a:srgbClr val="45445A"/>
                </a:solidFill>
                <a:latin typeface="Arial"/>
                <a:ea typeface="Arial"/>
                <a:cs typeface="Arial"/>
              </a:rPr>
              <a:t>Identificar página, desplazamiento, marco y límites del proceso.</a:t>
            </a:r>
          </a:p>
        </p:txBody>
      </p:sp>
      <p:sp>
        <p:nvSpPr>
          <p:cNvPr id="9" name="">
            <a:extLst xmlns:a="http://schemas.openxmlformats.org/drawingml/2006/main">
              <a:ext uri="{FF2B5EF4-FFF2-40B4-BE49-F238E27FC236}">
                <a16:creationId xmlns:a16="http://schemas.microsoft.com/office/drawing/2014/main" id="{28BF38E4-1494-4D8A-B921-756346C8CA3D}"/>
              </a:ext>
            </a:extLst>
          </p:cNvPr>
          <p:cNvSpPr>
            <a:spLocks xmlns:a="http://schemas.openxmlformats.org/drawingml/2006/main" noGrp="1"/>
          </p:cNvSpPr>
          <p:nvPr/>
        </p:nvSpPr>
        <p:spPr>
          <a:xfrm xmlns:a="http://schemas.openxmlformats.org/drawingml/2006/main">
            <a:off x="685800" y="3305175"/>
            <a:ext cx="714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925" b="1">
                <a:solidFill>
                  <a:srgbClr val="655CF3"/>
                </a:solidFill>
                <a:latin typeface="Arial"/>
                <a:ea typeface="Arial"/>
                <a:cs typeface="Arial"/>
              </a:defRPr>
            </a:pPr>
            <a:r>
              <a:rPr sz="2925" b="1">
                <a:solidFill>
                  <a:srgbClr val="655CF3"/>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E4E5C48E-58B0-4BA4-8FA8-16736A0B37E3}"/>
              </a:ext>
            </a:extLst>
          </p:cNvPr>
          <p:cNvSpPr>
            <a:spLocks xmlns:a="http://schemas.openxmlformats.org/drawingml/2006/main" noGrp="1"/>
          </p:cNvSpPr>
          <p:nvPr/>
        </p:nvSpPr>
        <p:spPr>
          <a:xfrm xmlns:a="http://schemas.openxmlformats.org/drawingml/2006/main">
            <a:off x="1600200" y="3305175"/>
            <a:ext cx="9858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242338"/>
                </a:solidFill>
                <a:latin typeface="Arial"/>
                <a:ea typeface="Arial"/>
                <a:cs typeface="Arial"/>
              </a:defRPr>
            </a:pPr>
            <a:r>
              <a:rPr sz="2325" b="1">
                <a:solidFill>
                  <a:srgbClr val="242338"/>
                </a:solidFill>
                <a:latin typeface="Arial"/>
                <a:ea typeface="Arial"/>
                <a:cs typeface="Arial"/>
              </a:rPr>
              <a:t>Seguir el acceso a una página</a:t>
            </a:r>
          </a:p>
        </p:txBody>
      </p:sp>
      <p:sp>
        <p:nvSpPr>
          <p:cNvPr id="11" name="">
            <a:extLst xmlns:a="http://schemas.openxmlformats.org/drawingml/2006/main">
              <a:ext uri="{FF2B5EF4-FFF2-40B4-BE49-F238E27FC236}">
                <a16:creationId xmlns:a16="http://schemas.microsoft.com/office/drawing/2014/main" id="{F479F40F-A436-46A6-AD4F-C487824A7A95}"/>
              </a:ext>
            </a:extLst>
          </p:cNvPr>
          <p:cNvSpPr>
            <a:spLocks xmlns:a="http://schemas.openxmlformats.org/drawingml/2006/main" noGrp="1"/>
          </p:cNvSpPr>
          <p:nvPr/>
        </p:nvSpPr>
        <p:spPr>
          <a:xfrm xmlns:a="http://schemas.openxmlformats.org/drawingml/2006/main">
            <a:off x="1600200" y="3857625"/>
            <a:ext cx="952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a:solidFill>
                  <a:srgbClr val="45445A"/>
                </a:solidFill>
                <a:latin typeface="Arial"/>
                <a:ea typeface="Arial"/>
                <a:cs typeface="Arial"/>
              </a:defRPr>
            </a:pPr>
            <a:r>
              <a:rPr sz="2025">
                <a:solidFill>
                  <a:srgbClr val="45445A"/>
                </a:solidFill>
                <a:latin typeface="Arial"/>
                <a:ea typeface="Arial"/>
                <a:cs typeface="Arial"/>
              </a:rPr>
              <a:t>Distinguir PAGE_HIT, PAGE_FAULT, carga y reemplazo FIFO.</a:t>
            </a:r>
          </a:p>
        </p:txBody>
      </p:sp>
      <p:sp>
        <p:nvSpPr>
          <p:cNvPr id="12" name="">
            <a:extLst xmlns:a="http://schemas.openxmlformats.org/drawingml/2006/main">
              <a:ext uri="{FF2B5EF4-FFF2-40B4-BE49-F238E27FC236}">
                <a16:creationId xmlns:a16="http://schemas.microsoft.com/office/drawing/2014/main" id="{F76FFF1D-9086-4276-9BD1-41616BC22028}"/>
              </a:ext>
            </a:extLst>
          </p:cNvPr>
          <p:cNvSpPr>
            <a:spLocks xmlns:a="http://schemas.openxmlformats.org/drawingml/2006/main" noGrp="1"/>
          </p:cNvSpPr>
          <p:nvPr/>
        </p:nvSpPr>
        <p:spPr>
          <a:xfrm xmlns:a="http://schemas.openxmlformats.org/drawingml/2006/main">
            <a:off x="685800" y="4648200"/>
            <a:ext cx="714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925" b="1">
                <a:solidFill>
                  <a:srgbClr val="655CF3"/>
                </a:solidFill>
                <a:latin typeface="Arial"/>
                <a:ea typeface="Arial"/>
                <a:cs typeface="Arial"/>
              </a:defRPr>
            </a:pPr>
            <a:r>
              <a:rPr sz="2925" b="1">
                <a:solidFill>
                  <a:srgbClr val="655CF3"/>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672508A7-D381-4F53-8120-EC70F567352E}"/>
              </a:ext>
            </a:extLst>
          </p:cNvPr>
          <p:cNvSpPr>
            <a:spLocks xmlns:a="http://schemas.openxmlformats.org/drawingml/2006/main" noGrp="1"/>
          </p:cNvSpPr>
          <p:nvPr/>
        </p:nvSpPr>
        <p:spPr>
          <a:xfrm xmlns:a="http://schemas.openxmlformats.org/drawingml/2006/main">
            <a:off x="1600200" y="4648200"/>
            <a:ext cx="9858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242338"/>
                </a:solidFill>
                <a:latin typeface="Arial"/>
                <a:ea typeface="Arial"/>
                <a:cs typeface="Arial"/>
              </a:defRPr>
            </a:pPr>
            <a:r>
              <a:rPr sz="2325" b="1">
                <a:solidFill>
                  <a:srgbClr val="242338"/>
                </a:solidFill>
                <a:latin typeface="Arial"/>
                <a:ea typeface="Arial"/>
                <a:cs typeface="Arial"/>
              </a:rPr>
              <a:t>Comparar formas de asignación</a:t>
            </a:r>
          </a:p>
        </p:txBody>
      </p:sp>
      <p:sp>
        <p:nvSpPr>
          <p:cNvPr id="14" name="">
            <a:extLst xmlns:a="http://schemas.openxmlformats.org/drawingml/2006/main">
              <a:ext uri="{FF2B5EF4-FFF2-40B4-BE49-F238E27FC236}">
                <a16:creationId xmlns:a16="http://schemas.microsoft.com/office/drawing/2014/main" id="{230FE8A7-F91A-425C-89B7-1F3AECB66C9C}"/>
              </a:ext>
            </a:extLst>
          </p:cNvPr>
          <p:cNvSpPr>
            <a:spLocks xmlns:a="http://schemas.openxmlformats.org/drawingml/2006/main" noGrp="1"/>
          </p:cNvSpPr>
          <p:nvPr/>
        </p:nvSpPr>
        <p:spPr>
          <a:xfrm xmlns:a="http://schemas.openxmlformats.org/drawingml/2006/main">
            <a:off x="1600200" y="5200650"/>
            <a:ext cx="952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a:solidFill>
                  <a:srgbClr val="45445A"/>
                </a:solidFill>
                <a:latin typeface="Arial"/>
                <a:ea typeface="Arial"/>
                <a:cs typeface="Arial"/>
              </a:defRPr>
            </a:pPr>
            <a:r>
              <a:rPr sz="2025">
                <a:solidFill>
                  <a:srgbClr val="45445A"/>
                </a:solidFill>
                <a:latin typeface="Arial"/>
                <a:ea typeface="Arial"/>
                <a:cs typeface="Arial"/>
              </a:rPr>
              <a:t>Contrastar bloques contiguos, páginas y segmentos con la misma RAM.</a:t>
            </a:r>
          </a:p>
        </p:txBody>
      </p:sp>
    </p:spTree>
    <p:extLst>
      <p:ext uri="{BB962C8B-B14F-4D97-AF65-F5344CB8AC3E}">
        <p14:creationId xmlns:p14="http://schemas.microsoft.com/office/powerpoint/2010/main" val="158693096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A92C0BE-C724-4F05-AD1B-05F464189133}"/>
              </a:ext>
            </a:extLst>
          </p:cNvPr>
          <p:cNvSpPr>
            <a:spLocks xmlns:a="http://schemas.openxmlformats.org/drawingml/2006/main" noGrp="1"/>
          </p:cNvSpPr>
          <p:nvPr/>
        </p:nvSpPr>
        <p:spPr>
          <a:xfrm xmlns:a="http://schemas.openxmlformats.org/drawingml/2006/main">
            <a:off x="533400" y="4000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242338"/>
                </a:solidFill>
                <a:latin typeface="Arial"/>
                <a:ea typeface="Arial"/>
                <a:cs typeface="Arial"/>
              </a:defRPr>
            </a:pPr>
            <a:r>
              <a:rPr sz="3450" b="1">
                <a:solidFill>
                  <a:srgbClr val="242338"/>
                </a:solidFill>
                <a:latin typeface="Arial"/>
                <a:ea typeface="Arial"/>
                <a:cs typeface="Arial"/>
              </a:rPr>
              <a:t>Arquitectura de la aplicación</a:t>
            </a:r>
          </a:p>
        </p:txBody>
      </p:sp>
      <p:sp>
        <p:nvSpPr>
          <p:cNvPr id="2" name="">
            <a:extLst xmlns:a="http://schemas.openxmlformats.org/drawingml/2006/main">
              <a:ext uri="{FF2B5EF4-FFF2-40B4-BE49-F238E27FC236}">
                <a16:creationId xmlns:a16="http://schemas.microsoft.com/office/drawing/2014/main" id="{4358F4A5-E78E-46BE-964B-AB621FC1FEBA}"/>
              </a:ext>
            </a:extLst>
          </p:cNvPr>
          <p:cNvSpPr>
            <a:spLocks xmlns:a="http://schemas.openxmlformats.org/drawingml/2006/main" noGrp="1"/>
          </p:cNvSpPr>
          <p:nvPr/>
        </p:nvSpPr>
        <p:spPr>
          <a:xfrm xmlns:a="http://schemas.openxmlformats.org/drawingml/2006/main">
            <a:off x="552450" y="11049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a:solidFill>
                  <a:srgbClr val="67667B"/>
                </a:solidFill>
                <a:latin typeface="Arial"/>
                <a:ea typeface="Arial"/>
                <a:cs typeface="Arial"/>
              </a:defRPr>
            </a:pPr>
            <a:r>
              <a:rPr sz="1875">
                <a:solidFill>
                  <a:srgbClr val="67667B"/>
                </a:solidFill>
                <a:latin typeface="Arial"/>
                <a:ea typeface="Arial"/>
                <a:cs typeface="Arial"/>
              </a:rPr>
              <a:t>Interfaz reactiva, reglas centralizadas y datos persistentes.</a:t>
            </a:r>
          </a:p>
        </p:txBody>
      </p:sp>
      <p:sp>
        <p:nvSpPr>
          <p:cNvPr id="3" name="">
            <a:extLst xmlns:a="http://schemas.openxmlformats.org/drawingml/2006/main">
              <a:ext uri="{FF2B5EF4-FFF2-40B4-BE49-F238E27FC236}">
                <a16:creationId xmlns:a16="http://schemas.microsoft.com/office/drawing/2014/main" id="{60937555-1052-4270-9C27-45A6543A838C}"/>
              </a:ext>
            </a:extLst>
          </p:cNvPr>
          <p:cNvSpPr>
            <a:spLocks xmlns:a="http://schemas.openxmlformats.org/drawingml/2006/main" noGrp="1"/>
          </p:cNvSpPr>
          <p:nvPr/>
        </p:nvSpPr>
        <p:spPr>
          <a:xfrm xmlns:a="http://schemas.openxmlformats.org/drawingml/2006/main">
            <a:off x="533400" y="6334125"/>
            <a:ext cx="11125200" cy="9525"/>
          </a:xfrm>
          <a:prstGeom xmlns:a="http://schemas.openxmlformats.org/drawingml/2006/main" prst="rect">
            <a:avLst/>
          </a:prstGeom>
          <a:solidFill xmlns:a="http://schemas.openxmlformats.org/drawingml/2006/main">
            <a:srgbClr val="DFDFE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24C0942-E199-44E5-B339-108E3EFC7285}"/>
              </a:ext>
            </a:extLst>
          </p:cNvPr>
          <p:cNvSpPr>
            <a:spLocks xmlns:a="http://schemas.openxmlformats.org/drawingml/2006/main" noGrp="1"/>
          </p:cNvSpPr>
          <p:nvPr/>
        </p:nvSpPr>
        <p:spPr>
          <a:xfrm xmlns:a="http://schemas.openxmlformats.org/drawingml/2006/main">
            <a:off x="533400" y="6486525"/>
            <a:ext cx="9906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a:solidFill>
                  <a:srgbClr val="67667B"/>
                </a:solidFill>
                <a:latin typeface="Arial"/>
                <a:ea typeface="Arial"/>
                <a:cs typeface="Arial"/>
              </a:defRPr>
            </a:pPr>
            <a:r>
              <a:rPr sz="1125">
                <a:solidFill>
                  <a:srgbClr val="67667B"/>
                </a:solidFill>
                <a:latin typeface="Arial"/>
                <a:ea typeface="Arial"/>
                <a:cs typeface="Arial"/>
              </a:rPr>
              <a:t>MemoryLab · Grupo 3 · Sistemas Operativos 1</a:t>
            </a:r>
          </a:p>
        </p:txBody>
      </p:sp>
      <p:sp>
        <p:nvSpPr>
          <p:cNvPr id="5" name="">
            <a:extLst xmlns:a="http://schemas.openxmlformats.org/drawingml/2006/main">
              <a:ext uri="{FF2B5EF4-FFF2-40B4-BE49-F238E27FC236}">
                <a16:creationId xmlns:a16="http://schemas.microsoft.com/office/drawing/2014/main" id="{85450BC8-3D37-48DA-99B2-B5912322364A}"/>
              </a:ext>
            </a:extLst>
          </p:cNvPr>
          <p:cNvSpPr>
            <a:spLocks xmlns:a="http://schemas.openxmlformats.org/drawingml/2006/main" noGrp="1"/>
          </p:cNvSpPr>
          <p:nvPr/>
        </p:nvSpPr>
        <p:spPr>
          <a:xfrm xmlns:a="http://schemas.openxmlformats.org/drawingml/2006/main">
            <a:off x="11220450" y="64674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350" b="1">
                <a:solidFill>
                  <a:srgbClr val="655CF3"/>
                </a:solidFill>
                <a:latin typeface="Arial"/>
                <a:ea typeface="Arial"/>
                <a:cs typeface="Arial"/>
              </a:defRPr>
            </a:pPr>
            <a:r>
              <a:rPr sz="1350" b="1">
                <a:solidFill>
                  <a:srgbClr val="655CF3"/>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0BC8B9EC-1DA5-470A-AEBC-D83BDD27A9CD}"/>
              </a:ext>
            </a:extLst>
          </p:cNvPr>
          <p:cNvSpPr>
            <a:spLocks xmlns:a="http://schemas.openxmlformats.org/drawingml/2006/main" noGrp="1"/>
          </p:cNvSpPr>
          <p:nvPr/>
        </p:nvSpPr>
        <p:spPr>
          <a:xfrm xmlns:a="http://schemas.openxmlformats.org/drawingml/2006/main">
            <a:off x="685800" y="2114550"/>
            <a:ext cx="3086100" cy="1476375"/>
          </a:xfrm>
          <a:prstGeom xmlns:a="http://schemas.openxmlformats.org/drawingml/2006/main" prst="rect">
            <a:avLst/>
          </a:prstGeom>
          <a:solidFill xmlns:a="http://schemas.openxmlformats.org/drawingml/2006/main">
            <a:srgbClr val="F1F0FF"/>
          </a:solidFill>
          <a:ln xmlns:a="http://schemas.openxmlformats.org/drawingml/2006/main" w="14288">
            <a:solidFill>
              <a:srgbClr val="DFDFEA"/>
            </a:solidFill>
          </a:ln>
        </p:spPr>
        <p:txBody>
          <a:bodyPr xmlns:a="http://schemas.openxmlformats.org/drawingml/2006/main" lIns="114300" tIns="133350" rIns="114300" bIns="95250" anchor="ctr">
            <a:noAutofit/>
          </a:bodyPr>
          <a:lstStyle xmlns:a="http://schemas.openxmlformats.org/drawingml/2006/main"/>
          <a:p xmlns:a="http://schemas.openxmlformats.org/drawingml/2006/main">
            <a:pPr algn="ctr">
              <a:defRPr sz="2025" b="1">
                <a:solidFill>
                  <a:srgbClr val="242338"/>
                </a:solidFill>
                <a:latin typeface="Arial"/>
                <a:ea typeface="Arial"/>
                <a:cs typeface="Arial"/>
              </a:defRPr>
            </a:pPr>
            <a:r>
              <a:rPr sz="2025" b="1">
                <a:solidFill>
                  <a:srgbClr val="242338"/>
                </a:solidFill>
                <a:latin typeface="Arial"/>
                <a:ea typeface="Arial"/>
                <a:cs typeface="Arial"/>
              </a:rPr>
              <a:t>Interfaz web</a:t>
            </a:r>
          </a:p>
          <a:p xmlns:a="http://schemas.openxmlformats.org/drawingml/2006/main">
            <a:pPr algn="ctr">
              <a:defRPr sz="2025" b="1">
                <a:solidFill>
                  <a:srgbClr val="242338"/>
                </a:solidFill>
                <a:latin typeface="Arial"/>
                <a:ea typeface="Arial"/>
                <a:cs typeface="Arial"/>
              </a:defRPr>
            </a:pPr>
            <a:r>
              <a:rPr sz="2025" b="1">
                <a:solidFill>
                  <a:srgbClr val="242338"/>
                </a:solidFill>
                <a:latin typeface="Arial"/>
                <a:ea typeface="Arial"/>
                <a:cs typeface="Arial"/>
              </a:rPr>
              <a:t>Blade + Bootstrap</a:t>
            </a:r>
          </a:p>
          <a:p xmlns:a="http://schemas.openxmlformats.org/drawingml/2006/main">
            <a:pPr algn="ctr">
              <a:defRPr sz="2025" b="1">
                <a:solidFill>
                  <a:srgbClr val="242338"/>
                </a:solidFill>
                <a:latin typeface="Arial"/>
                <a:ea typeface="Arial"/>
                <a:cs typeface="Arial"/>
              </a:defRPr>
            </a:pPr>
            <a:r>
              <a:rPr sz="2025" b="1">
                <a:solidFill>
                  <a:srgbClr val="242338"/>
                </a:solidFill>
                <a:latin typeface="Arial"/>
                <a:ea typeface="Arial"/>
                <a:cs typeface="Arial"/>
              </a:rPr>
              <a:t>Livewire</a:t>
            </a:r>
          </a:p>
        </p:txBody>
      </p:sp>
      <p:sp>
        <p:nvSpPr>
          <p:cNvPr id="7" name="">
            <a:extLst xmlns:a="http://schemas.openxmlformats.org/drawingml/2006/main">
              <a:ext uri="{FF2B5EF4-FFF2-40B4-BE49-F238E27FC236}">
                <a16:creationId xmlns:a16="http://schemas.microsoft.com/office/drawing/2014/main" id="{0C101A8C-C572-4BA3-BFBA-C6DFD603EE4F}"/>
              </a:ext>
            </a:extLst>
          </p:cNvPr>
          <p:cNvSpPr>
            <a:spLocks xmlns:a="http://schemas.openxmlformats.org/drawingml/2006/main" noGrp="1"/>
          </p:cNvSpPr>
          <p:nvPr/>
        </p:nvSpPr>
        <p:spPr>
          <a:xfrm xmlns:a="http://schemas.openxmlformats.org/drawingml/2006/main">
            <a:off x="4552950" y="2114550"/>
            <a:ext cx="3086100" cy="1476375"/>
          </a:xfrm>
          <a:prstGeom xmlns:a="http://schemas.openxmlformats.org/drawingml/2006/main" prst="rect">
            <a:avLst/>
          </a:prstGeom>
          <a:solidFill xmlns:a="http://schemas.openxmlformats.org/drawingml/2006/main">
            <a:srgbClr val="F1F0FF"/>
          </a:solidFill>
          <a:ln xmlns:a="http://schemas.openxmlformats.org/drawingml/2006/main" w="14288">
            <a:solidFill>
              <a:srgbClr val="DFDFEA"/>
            </a:solidFill>
          </a:ln>
        </p:spPr>
        <p:txBody>
          <a:bodyPr xmlns:a="http://schemas.openxmlformats.org/drawingml/2006/main" lIns="114300" tIns="133350" rIns="114300" bIns="95250" anchor="ctr">
            <a:noAutofit/>
          </a:bodyPr>
          <a:lstStyle xmlns:a="http://schemas.openxmlformats.org/drawingml/2006/main"/>
          <a:p xmlns:a="http://schemas.openxmlformats.org/drawingml/2006/main">
            <a:pPr algn="ctr">
              <a:defRPr sz="2025" b="1">
                <a:solidFill>
                  <a:srgbClr val="242338"/>
                </a:solidFill>
                <a:latin typeface="Arial"/>
                <a:ea typeface="Arial"/>
                <a:cs typeface="Arial"/>
              </a:defRPr>
            </a:pPr>
            <a:r>
              <a:rPr sz="2025" b="1">
                <a:solidFill>
                  <a:srgbClr val="242338"/>
                </a:solidFill>
                <a:latin typeface="Arial"/>
                <a:ea typeface="Arial"/>
                <a:cs typeface="Arial"/>
              </a:rPr>
              <a:t>Laravel Services</a:t>
            </a:r>
          </a:p>
          <a:p xmlns:a="http://schemas.openxmlformats.org/drawingml/2006/main">
            <a:pPr algn="ctr">
              <a:defRPr sz="2025" b="1">
                <a:solidFill>
                  <a:srgbClr val="242338"/>
                </a:solidFill>
                <a:latin typeface="Arial"/>
                <a:ea typeface="Arial"/>
                <a:cs typeface="Arial"/>
              </a:defRPr>
            </a:pPr>
            <a:r>
              <a:rPr sz="2025" b="1">
                <a:solidFill>
                  <a:srgbClr val="242338"/>
                </a:solidFill>
                <a:latin typeface="Arial"/>
                <a:ea typeface="Arial"/>
                <a:cs typeface="Arial"/>
              </a:rPr>
              <a:t>Paginación</a:t>
            </a:r>
          </a:p>
          <a:p xmlns:a="http://schemas.openxmlformats.org/drawingml/2006/main">
            <a:pPr algn="ctr">
              <a:defRPr sz="2025" b="1">
                <a:solidFill>
                  <a:srgbClr val="242338"/>
                </a:solidFill>
                <a:latin typeface="Arial"/>
                <a:ea typeface="Arial"/>
                <a:cs typeface="Arial"/>
              </a:defRPr>
            </a:pPr>
            <a:r>
              <a:rPr sz="2025" b="1">
                <a:solidFill>
                  <a:srgbClr val="242338"/>
                </a:solidFill>
                <a:latin typeface="Arial"/>
                <a:ea typeface="Arial"/>
                <a:cs typeface="Arial"/>
              </a:rPr>
              <a:t>Segmentación</a:t>
            </a:r>
          </a:p>
        </p:txBody>
      </p:sp>
      <p:sp>
        <p:nvSpPr>
          <p:cNvPr id="8" name="">
            <a:extLst xmlns:a="http://schemas.openxmlformats.org/drawingml/2006/main">
              <a:ext uri="{FF2B5EF4-FFF2-40B4-BE49-F238E27FC236}">
                <a16:creationId xmlns:a16="http://schemas.microsoft.com/office/drawing/2014/main" id="{854D4FD9-5F0D-4DC9-A41B-912315E4060C}"/>
              </a:ext>
            </a:extLst>
          </p:cNvPr>
          <p:cNvSpPr>
            <a:spLocks xmlns:a="http://schemas.openxmlformats.org/drawingml/2006/main" noGrp="1"/>
          </p:cNvSpPr>
          <p:nvPr/>
        </p:nvSpPr>
        <p:spPr>
          <a:xfrm xmlns:a="http://schemas.openxmlformats.org/drawingml/2006/main">
            <a:off x="8420100" y="2114550"/>
            <a:ext cx="3086100" cy="1476375"/>
          </a:xfrm>
          <a:prstGeom xmlns:a="http://schemas.openxmlformats.org/drawingml/2006/main" prst="rect">
            <a:avLst/>
          </a:prstGeom>
          <a:solidFill xmlns:a="http://schemas.openxmlformats.org/drawingml/2006/main">
            <a:srgbClr val="F1F0FF"/>
          </a:solidFill>
          <a:ln xmlns:a="http://schemas.openxmlformats.org/drawingml/2006/main" w="14288">
            <a:solidFill>
              <a:srgbClr val="DFDFEA"/>
            </a:solidFill>
          </a:ln>
        </p:spPr>
        <p:txBody>
          <a:bodyPr xmlns:a="http://schemas.openxmlformats.org/drawingml/2006/main" lIns="114300" tIns="133350" rIns="114300" bIns="95250" anchor="ctr">
            <a:noAutofit/>
          </a:bodyPr>
          <a:lstStyle xmlns:a="http://schemas.openxmlformats.org/drawingml/2006/main"/>
          <a:p xmlns:a="http://schemas.openxmlformats.org/drawingml/2006/main">
            <a:pPr algn="ctr">
              <a:defRPr sz="2025" b="1">
                <a:solidFill>
                  <a:srgbClr val="242338"/>
                </a:solidFill>
                <a:latin typeface="Arial"/>
                <a:ea typeface="Arial"/>
                <a:cs typeface="Arial"/>
              </a:defRPr>
            </a:pPr>
            <a:r>
              <a:rPr sz="2025" b="1">
                <a:solidFill>
                  <a:srgbClr val="242338"/>
                </a:solidFill>
                <a:latin typeface="Arial"/>
                <a:ea typeface="Arial"/>
                <a:cs typeface="Arial"/>
              </a:rPr>
              <a:t>MySQL</a:t>
            </a:r>
          </a:p>
          <a:p xmlns:a="http://schemas.openxmlformats.org/drawingml/2006/main">
            <a:pPr algn="ctr">
              <a:defRPr sz="2025" b="1">
                <a:solidFill>
                  <a:srgbClr val="242338"/>
                </a:solidFill>
                <a:latin typeface="Arial"/>
                <a:ea typeface="Arial"/>
                <a:cs typeface="Arial"/>
              </a:defRPr>
            </a:pPr>
            <a:r>
              <a:rPr sz="2025" b="1">
                <a:solidFill>
                  <a:srgbClr val="242338"/>
                </a:solidFill>
                <a:latin typeface="Arial"/>
                <a:ea typeface="Arial"/>
                <a:cs typeface="Arial"/>
              </a:rPr>
              <a:t>Escenarios</a:t>
            </a:r>
          </a:p>
          <a:p xmlns:a="http://schemas.openxmlformats.org/drawingml/2006/main">
            <a:pPr algn="ctr">
              <a:defRPr sz="2025" b="1">
                <a:solidFill>
                  <a:srgbClr val="242338"/>
                </a:solidFill>
                <a:latin typeface="Arial"/>
                <a:ea typeface="Arial"/>
                <a:cs typeface="Arial"/>
              </a:defRPr>
            </a:pPr>
            <a:r>
              <a:rPr sz="2025" b="1">
                <a:solidFill>
                  <a:srgbClr val="242338"/>
                </a:solidFill>
                <a:latin typeface="Arial"/>
                <a:ea typeface="Arial"/>
                <a:cs typeface="Arial"/>
              </a:rPr>
              <a:t>Memoria e historial</a:t>
            </a:r>
          </a:p>
        </p:txBody>
      </p:sp>
      <p:cxnSp>
        <p:nvCxnSpPr>
          <p:cNvPr id="23" name=""/>
          <p:cNvCxnSpPr>
            <a:stCxn xmlns:a="http://schemas.openxmlformats.org/drawingml/2006/main" id="6" idx="3"/>
            <a:endCxn xmlns:a="http://schemas.openxmlformats.org/drawingml/2006/main" id="7" idx="1"/>
          </p:cNvCxnSpPr>
          <p:nvPr/>
        </p:nvCxnSpPr>
        <p:spPr>
          <a:xfrm xmlns:a="http://schemas.openxmlformats.org/drawingml/2006/main">
            <a:off x="3771900" y="2852738"/>
            <a:ext cx="781050" cy="0"/>
          </a:xfrm>
          <a:prstGeom xmlns:a="http://schemas.openxmlformats.org/drawingml/2006/main" prst="straightConnector1">
            <a:avLst/>
          </a:prstGeom>
          <a:ln xmlns:a="http://schemas.openxmlformats.org/drawingml/2006/main" w="23813">
            <a:solidFill>
              <a:srgbClr val="655CF3"/>
            </a:solidFill>
            <a:prstDash val="solid"/>
            <a:tailEnd type="arrow" w="med" len="med"/>
          </a:ln>
        </p:spPr>
      </p:cxnSp>
      <p:cxnSp>
        <p:nvCxnSpPr>
          <p:cNvPr id="24" name=""/>
          <p:cNvCxnSpPr>
            <a:stCxn xmlns:a="http://schemas.openxmlformats.org/drawingml/2006/main" id="7" idx="3"/>
            <a:endCxn xmlns:a="http://schemas.openxmlformats.org/drawingml/2006/main" id="8" idx="1"/>
          </p:cNvCxnSpPr>
          <p:nvPr/>
        </p:nvCxnSpPr>
        <p:spPr>
          <a:xfrm xmlns:a="http://schemas.openxmlformats.org/drawingml/2006/main">
            <a:off x="7639050" y="2852738"/>
            <a:ext cx="781050" cy="0"/>
          </a:xfrm>
          <a:prstGeom xmlns:a="http://schemas.openxmlformats.org/drawingml/2006/main" prst="straightConnector1">
            <a:avLst/>
          </a:prstGeom>
          <a:ln xmlns:a="http://schemas.openxmlformats.org/drawingml/2006/main" w="23813">
            <a:solidFill>
              <a:srgbClr val="655CF3"/>
            </a:solidFill>
            <a:prstDash val="solid"/>
            <a:tailEnd type="arrow" w="med" len="med"/>
          </a:ln>
        </p:spPr>
      </p:cxnSp>
      <p:sp>
        <p:nvSpPr>
          <p:cNvPr id="11" name="">
            <a:extLst xmlns:a="http://schemas.openxmlformats.org/drawingml/2006/main">
              <a:ext uri="{FF2B5EF4-FFF2-40B4-BE49-F238E27FC236}">
                <a16:creationId xmlns:a16="http://schemas.microsoft.com/office/drawing/2014/main" id="{48C79987-61E1-4ED3-8DAA-18F629FC8FA4}"/>
              </a:ext>
            </a:extLst>
          </p:cNvPr>
          <p:cNvSpPr>
            <a:spLocks xmlns:a="http://schemas.openxmlformats.org/drawingml/2006/main" noGrp="1"/>
          </p:cNvSpPr>
          <p:nvPr/>
        </p:nvSpPr>
        <p:spPr>
          <a:xfrm xmlns:a="http://schemas.openxmlformats.org/drawingml/2006/main">
            <a:off x="723900" y="4095750"/>
            <a:ext cx="457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242338"/>
                </a:solidFill>
                <a:latin typeface="Arial"/>
                <a:ea typeface="Arial"/>
                <a:cs typeface="Arial"/>
              </a:defRPr>
            </a:pPr>
            <a:r>
              <a:rPr sz="2325" b="1">
                <a:solidFill>
                  <a:srgbClr val="242338"/>
                </a:solidFill>
                <a:latin typeface="Arial"/>
                <a:ea typeface="Arial"/>
                <a:cs typeface="Arial"/>
              </a:rPr>
              <a:t>Autorización por permisos</a:t>
            </a:r>
          </a:p>
        </p:txBody>
      </p:sp>
      <p:sp>
        <p:nvSpPr>
          <p:cNvPr id="12" name="">
            <a:extLst xmlns:a="http://schemas.openxmlformats.org/drawingml/2006/main">
              <a:ext uri="{FF2B5EF4-FFF2-40B4-BE49-F238E27FC236}">
                <a16:creationId xmlns:a16="http://schemas.microsoft.com/office/drawing/2014/main" id="{77F2FBD7-D32C-42E6-9218-CBEA4E14862D}"/>
              </a:ext>
            </a:extLst>
          </p:cNvPr>
          <p:cNvSpPr>
            <a:spLocks xmlns:a="http://schemas.openxmlformats.org/drawingml/2006/main" noGrp="1"/>
          </p:cNvSpPr>
          <p:nvPr/>
        </p:nvSpPr>
        <p:spPr>
          <a:xfrm xmlns:a="http://schemas.openxmlformats.org/drawingml/2006/main">
            <a:off x="723900" y="4667250"/>
            <a:ext cx="48101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a:solidFill>
                  <a:srgbClr val="45445A"/>
                </a:solidFill>
                <a:latin typeface="Arial"/>
                <a:ea typeface="Arial"/>
                <a:cs typeface="Arial"/>
              </a:defRPr>
            </a:pPr>
            <a:r>
              <a:rPr sz="2025">
                <a:solidFill>
                  <a:srgbClr val="45445A"/>
                </a:solidFill>
                <a:latin typeface="Arial"/>
                <a:ea typeface="Arial"/>
                <a:cs typeface="Arial"/>
              </a:rPr>
              <a:t>Las operaciones de memoria comprueban los permisos vigentes.</a:t>
            </a:r>
          </a:p>
        </p:txBody>
      </p:sp>
      <p:sp>
        <p:nvSpPr>
          <p:cNvPr id="13" name="">
            <a:extLst xmlns:a="http://schemas.openxmlformats.org/drawingml/2006/main">
              <a:ext uri="{FF2B5EF4-FFF2-40B4-BE49-F238E27FC236}">
                <a16:creationId xmlns:a16="http://schemas.microsoft.com/office/drawing/2014/main" id="{D35D02DE-0021-44F5-ACC5-E9DEACB743EC}"/>
              </a:ext>
            </a:extLst>
          </p:cNvPr>
          <p:cNvSpPr>
            <a:spLocks xmlns:a="http://schemas.openxmlformats.org/drawingml/2006/main" noGrp="1"/>
          </p:cNvSpPr>
          <p:nvPr/>
        </p:nvSpPr>
        <p:spPr>
          <a:xfrm xmlns:a="http://schemas.openxmlformats.org/drawingml/2006/main">
            <a:off x="6343650" y="4095750"/>
            <a:ext cx="5095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242338"/>
                </a:solidFill>
                <a:latin typeface="Arial"/>
                <a:ea typeface="Arial"/>
                <a:cs typeface="Arial"/>
              </a:defRPr>
            </a:pPr>
            <a:r>
              <a:rPr sz="2325" b="1">
                <a:solidFill>
                  <a:srgbClr val="242338"/>
                </a:solidFill>
                <a:latin typeface="Arial"/>
                <a:ea typeface="Arial"/>
                <a:cs typeface="Arial"/>
              </a:rPr>
              <a:t>Cambios atómicos</a:t>
            </a:r>
          </a:p>
        </p:txBody>
      </p:sp>
      <p:sp>
        <p:nvSpPr>
          <p:cNvPr id="14" name="">
            <a:extLst xmlns:a="http://schemas.openxmlformats.org/drawingml/2006/main">
              <a:ext uri="{FF2B5EF4-FFF2-40B4-BE49-F238E27FC236}">
                <a16:creationId xmlns:a16="http://schemas.microsoft.com/office/drawing/2014/main" id="{8212E5F8-13C6-4510-841E-C4D9CAA9AA34}"/>
              </a:ext>
            </a:extLst>
          </p:cNvPr>
          <p:cNvSpPr>
            <a:spLocks xmlns:a="http://schemas.openxmlformats.org/drawingml/2006/main" noGrp="1"/>
          </p:cNvSpPr>
          <p:nvPr/>
        </p:nvSpPr>
        <p:spPr>
          <a:xfrm xmlns:a="http://schemas.openxmlformats.org/drawingml/2006/main">
            <a:off x="6343650" y="4667250"/>
            <a:ext cx="50958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a:solidFill>
                  <a:srgbClr val="45445A"/>
                </a:solidFill>
                <a:latin typeface="Arial"/>
                <a:ea typeface="Arial"/>
                <a:cs typeface="Arial"/>
              </a:defRPr>
            </a:pPr>
            <a:r>
              <a:rPr sz="2025">
                <a:solidFill>
                  <a:srgbClr val="45445A"/>
                </a:solidFill>
                <a:latin typeface="Arial"/>
                <a:ea typeface="Arial"/>
                <a:cs typeface="Arial"/>
              </a:rPr>
              <a:t>Una transacción y el bloqueo del escenario conservan la coherencia.</a:t>
            </a:r>
          </a:p>
        </p:txBody>
      </p:sp>
    </p:spTree>
    <p:extLst>
      <p:ext uri="{BB962C8B-B14F-4D97-AF65-F5344CB8AC3E}">
        <p14:creationId xmlns:p14="http://schemas.microsoft.com/office/powerpoint/2010/main" val="15544225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C95B928-8430-4F2D-B840-D832E1EAEE6B}"/>
              </a:ext>
            </a:extLst>
          </p:cNvPr>
          <p:cNvSpPr>
            <a:spLocks xmlns:a="http://schemas.openxmlformats.org/drawingml/2006/main" noGrp="1"/>
          </p:cNvSpPr>
          <p:nvPr/>
        </p:nvSpPr>
        <p:spPr>
          <a:xfrm xmlns:a="http://schemas.openxmlformats.org/drawingml/2006/main">
            <a:off x="533400" y="4000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242338"/>
                </a:solidFill>
                <a:latin typeface="Arial"/>
                <a:ea typeface="Arial"/>
                <a:cs typeface="Arial"/>
              </a:defRPr>
            </a:pPr>
            <a:r>
              <a:rPr sz="3450" b="1">
                <a:solidFill>
                  <a:srgbClr val="242338"/>
                </a:solidFill>
                <a:latin typeface="Arial"/>
                <a:ea typeface="Arial"/>
                <a:cs typeface="Arial"/>
              </a:rPr>
              <a:t>Modelo persistente de memoria</a:t>
            </a:r>
          </a:p>
        </p:txBody>
      </p:sp>
      <p:sp>
        <p:nvSpPr>
          <p:cNvPr id="2" name="">
            <a:extLst xmlns:a="http://schemas.openxmlformats.org/drawingml/2006/main">
              <a:ext uri="{FF2B5EF4-FFF2-40B4-BE49-F238E27FC236}">
                <a16:creationId xmlns:a16="http://schemas.microsoft.com/office/drawing/2014/main" id="{81F8632D-E0C2-460B-8C21-73FA9D34A4BD}"/>
              </a:ext>
            </a:extLst>
          </p:cNvPr>
          <p:cNvSpPr>
            <a:spLocks xmlns:a="http://schemas.openxmlformats.org/drawingml/2006/main" noGrp="1"/>
          </p:cNvSpPr>
          <p:nvPr/>
        </p:nvSpPr>
        <p:spPr>
          <a:xfrm xmlns:a="http://schemas.openxmlformats.org/drawingml/2006/main">
            <a:off x="552450" y="11049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a:solidFill>
                  <a:srgbClr val="67667B"/>
                </a:solidFill>
                <a:latin typeface="Arial"/>
                <a:ea typeface="Arial"/>
                <a:cs typeface="Arial"/>
              </a:defRPr>
            </a:pPr>
            <a:r>
              <a:rPr sz="1875">
                <a:solidFill>
                  <a:srgbClr val="67667B"/>
                </a:solidFill>
                <a:latin typeface="Arial"/>
                <a:ea typeface="Arial"/>
                <a:cs typeface="Arial"/>
              </a:rPr>
              <a:t>7 tablas de dominio · 12 claves foráneas · 6 restricciones CHECK</a:t>
            </a:r>
          </a:p>
        </p:txBody>
      </p:sp>
      <p:sp>
        <p:nvSpPr>
          <p:cNvPr id="3" name="">
            <a:extLst xmlns:a="http://schemas.openxmlformats.org/drawingml/2006/main">
              <a:ext uri="{FF2B5EF4-FFF2-40B4-BE49-F238E27FC236}">
                <a16:creationId xmlns:a16="http://schemas.microsoft.com/office/drawing/2014/main" id="{3AA5993F-62D2-4B1F-94EE-6CCF27ACF07C}"/>
              </a:ext>
            </a:extLst>
          </p:cNvPr>
          <p:cNvSpPr>
            <a:spLocks xmlns:a="http://schemas.openxmlformats.org/drawingml/2006/main" noGrp="1"/>
          </p:cNvSpPr>
          <p:nvPr/>
        </p:nvSpPr>
        <p:spPr>
          <a:xfrm xmlns:a="http://schemas.openxmlformats.org/drawingml/2006/main">
            <a:off x="533400" y="6334125"/>
            <a:ext cx="11125200" cy="9525"/>
          </a:xfrm>
          <a:prstGeom xmlns:a="http://schemas.openxmlformats.org/drawingml/2006/main" prst="rect">
            <a:avLst/>
          </a:prstGeom>
          <a:solidFill xmlns:a="http://schemas.openxmlformats.org/drawingml/2006/main">
            <a:srgbClr val="DFDFE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E7687D7-EB42-4CC6-858B-E532A75DE26E}"/>
              </a:ext>
            </a:extLst>
          </p:cNvPr>
          <p:cNvSpPr>
            <a:spLocks xmlns:a="http://schemas.openxmlformats.org/drawingml/2006/main" noGrp="1"/>
          </p:cNvSpPr>
          <p:nvPr/>
        </p:nvSpPr>
        <p:spPr>
          <a:xfrm xmlns:a="http://schemas.openxmlformats.org/drawingml/2006/main">
            <a:off x="533400" y="6486525"/>
            <a:ext cx="9906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a:solidFill>
                  <a:srgbClr val="67667B"/>
                </a:solidFill>
                <a:latin typeface="Arial"/>
                <a:ea typeface="Arial"/>
                <a:cs typeface="Arial"/>
              </a:defRPr>
            </a:pPr>
            <a:r>
              <a:rPr sz="1125">
                <a:solidFill>
                  <a:srgbClr val="67667B"/>
                </a:solidFill>
                <a:latin typeface="Arial"/>
                <a:ea typeface="Arial"/>
                <a:cs typeface="Arial"/>
              </a:rPr>
              <a:t>MemoryLab · Grupo 3 · Sistemas Operativos 1</a:t>
            </a:r>
          </a:p>
        </p:txBody>
      </p:sp>
      <p:sp>
        <p:nvSpPr>
          <p:cNvPr id="5" name="">
            <a:extLst xmlns:a="http://schemas.openxmlformats.org/drawingml/2006/main">
              <a:ext uri="{FF2B5EF4-FFF2-40B4-BE49-F238E27FC236}">
                <a16:creationId xmlns:a16="http://schemas.microsoft.com/office/drawing/2014/main" id="{B5EF47B3-267A-4924-96CF-99B308562015}"/>
              </a:ext>
            </a:extLst>
          </p:cNvPr>
          <p:cNvSpPr>
            <a:spLocks xmlns:a="http://schemas.openxmlformats.org/drawingml/2006/main" noGrp="1"/>
          </p:cNvSpPr>
          <p:nvPr/>
        </p:nvSpPr>
        <p:spPr>
          <a:xfrm xmlns:a="http://schemas.openxmlformats.org/drawingml/2006/main">
            <a:off x="11220450" y="64674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350" b="1">
                <a:solidFill>
                  <a:srgbClr val="655CF3"/>
                </a:solidFill>
                <a:latin typeface="Arial"/>
                <a:ea typeface="Arial"/>
                <a:cs typeface="Arial"/>
              </a:defRPr>
            </a:pPr>
            <a:r>
              <a:rPr sz="1350" b="1">
                <a:solidFill>
                  <a:srgbClr val="655CF3"/>
                </a:solidFill>
                <a:latin typeface="Arial"/>
                <a:ea typeface="Arial"/>
                <a:cs typeface="Arial"/>
              </a:rPr>
              <a:t>05</a:t>
            </a:r>
          </a:p>
        </p:txBody>
      </p:sp>
      <p:graphicFrame>
        <p:nvGraphicFramePr>
          <p:cNvPr id="12" name=""/>
          <p:cNvGraphicFramePr/>
          <p:nvPr/>
        </p:nvGraphicFramePr>
        <p:xfrm>
          <a:off xmlns:a="http://schemas.openxmlformats.org/drawingml/2006/main" x="685800" y="1752600"/>
          <a:ext xmlns:a="http://schemas.openxmlformats.org/drawingml/2006/main" cx="10820400" cy="4114800"/>
        </p:xfrm>
        <a:graphic xmlns:a="http://schemas.openxmlformats.org/drawingml/2006/main">
          <a:graphicData uri="http://schemas.openxmlformats.org/drawingml/2006/table">
            <a:tbl>
              <a:tblPr firstRow="1" bandRow="0"/>
              <a:tblGrid>
                <a:gridCol w="4191000"/>
                <a:gridCol w="6629400"/>
              </a:tblGrid>
              <a:tr h="514350">
                <a:tc>
                  <a:txBody>
                    <a:bodyPr>
                      <a:noAutofit/>
                    </a:bodyPr>
                    <a:lstStyle/>
                    <a:p>
                      <a:r>
                        <a:rPr sz="1800" b="1">
                          <a:solidFill>
                            <a:srgbClr val="FFFFFF"/>
                          </a:solidFill>
                          <a:latin typeface="Arial"/>
                          <a:ea typeface="Arial"/>
                          <a:cs typeface="Arial"/>
                        </a:rPr>
                        <a:t>Tabla</a:t>
                      </a:r>
                    </a:p>
                  </a:txBody>
                  <a:tcPr marL="152400" marR="133350" marT="114300" marB="95250">
                    <a:solidFill>
                      <a:srgbClr val="655CF3"/>
                    </a:solidFill>
                  </a:tcPr>
                </a:tc>
                <a:tc>
                  <a:txBody>
                    <a:bodyPr>
                      <a:noAutofit/>
                    </a:bodyPr>
                    <a:lstStyle/>
                    <a:p>
                      <a:r>
                        <a:rPr sz="1800" b="1">
                          <a:solidFill>
                            <a:srgbClr val="FFFFFF"/>
                          </a:solidFill>
                          <a:latin typeface="Arial"/>
                          <a:ea typeface="Arial"/>
                          <a:cs typeface="Arial"/>
                        </a:rPr>
                        <a:t>Responsabilidad</a:t>
                      </a:r>
                    </a:p>
                  </a:txBody>
                  <a:tcPr marL="152400" marR="133350" marT="114300" marB="95250">
                    <a:solidFill>
                      <a:srgbClr val="655CF3"/>
                    </a:solidFill>
                  </a:tcPr>
                </a:tc>
              </a:tr>
              <a:tr h="514350">
                <a:tc>
                  <a:txBody>
                    <a:bodyPr>
                      <a:noAutofit/>
                    </a:bodyPr>
                    <a:lstStyle/>
                    <a:p>
                      <a:r>
                        <a:rPr sz="1800" b="0">
                          <a:solidFill>
                            <a:srgbClr val="242338"/>
                          </a:solidFill>
                          <a:latin typeface="Arial"/>
                          <a:ea typeface="Arial"/>
                          <a:cs typeface="Arial"/>
                        </a:rPr>
                        <a:t>scenarios</a:t>
                      </a:r>
                    </a:p>
                  </a:txBody>
                  <a:tcPr marL="152400" marR="133350" marT="114300" marB="95250">
                    <a:solidFill>
                      <a:srgbClr val="FFFFFF"/>
                    </a:solidFill>
                  </a:tcPr>
                </a:tc>
                <a:tc>
                  <a:txBody>
                    <a:bodyPr>
                      <a:noAutofit/>
                    </a:bodyPr>
                    <a:lstStyle/>
                    <a:p>
                      <a:r>
                        <a:rPr sz="1800" b="0">
                          <a:solidFill>
                            <a:srgbClr val="242338"/>
                          </a:solidFill>
                          <a:latin typeface="Arial"/>
                          <a:ea typeface="Arial"/>
                          <a:cs typeface="Arial"/>
                        </a:rPr>
                        <a:t>Modo y estado de la simulación</a:t>
                      </a:r>
                    </a:p>
                  </a:txBody>
                  <a:tcPr marL="152400" marR="133350" marT="114300" marB="95250">
                    <a:solidFill>
                      <a:srgbClr val="FFFFFF"/>
                    </a:solidFill>
                  </a:tcPr>
                </a:tc>
              </a:tr>
              <a:tr h="514350">
                <a:tc>
                  <a:txBody>
                    <a:bodyPr>
                      <a:noAutofit/>
                    </a:bodyPr>
                    <a:lstStyle/>
                    <a:p>
                      <a:r>
                        <a:rPr sz="1800" b="0">
                          <a:solidFill>
                            <a:srgbClr val="242338"/>
                          </a:solidFill>
                          <a:latin typeface="Arial"/>
                          <a:ea typeface="Arial"/>
                          <a:cs typeface="Arial"/>
                        </a:rPr>
                        <a:t>memory_configurations</a:t>
                      </a:r>
                    </a:p>
                  </a:txBody>
                  <a:tcPr marL="152400" marR="133350" marT="114300" marB="95250">
                    <a:solidFill>
                      <a:srgbClr val="F8F8FC"/>
                    </a:solidFill>
                  </a:tcPr>
                </a:tc>
                <a:tc>
                  <a:txBody>
                    <a:bodyPr>
                      <a:noAutofit/>
                    </a:bodyPr>
                    <a:lstStyle/>
                    <a:p>
                      <a:r>
                        <a:rPr sz="1800" b="0">
                          <a:solidFill>
                            <a:srgbClr val="242338"/>
                          </a:solidFill>
                          <a:latin typeface="Arial"/>
                          <a:ea typeface="Arial"/>
                          <a:cs typeface="Arial"/>
                        </a:rPr>
                        <a:t>Capacidades de RAM, página y secundaria</a:t>
                      </a:r>
                    </a:p>
                  </a:txBody>
                  <a:tcPr marL="152400" marR="133350" marT="114300" marB="95250">
                    <a:solidFill>
                      <a:srgbClr val="F8F8FC"/>
                    </a:solidFill>
                  </a:tcPr>
                </a:tc>
              </a:tr>
              <a:tr h="514350">
                <a:tc>
                  <a:txBody>
                    <a:bodyPr>
                      <a:noAutofit/>
                    </a:bodyPr>
                    <a:lstStyle/>
                    <a:p>
                      <a:r>
                        <a:rPr sz="1800" b="0">
                          <a:solidFill>
                            <a:srgbClr val="242338"/>
                          </a:solidFill>
                          <a:latin typeface="Arial"/>
                          <a:ea typeface="Arial"/>
                          <a:cs typeface="Arial"/>
                        </a:rPr>
                        <a:t>processes</a:t>
                      </a:r>
                    </a:p>
                  </a:txBody>
                  <a:tcPr marL="152400" marR="133350" marT="114300" marB="95250">
                    <a:solidFill>
                      <a:srgbClr val="FFFFFF"/>
                    </a:solidFill>
                  </a:tcPr>
                </a:tc>
                <a:tc>
                  <a:txBody>
                    <a:bodyPr>
                      <a:noAutofit/>
                    </a:bodyPr>
                    <a:lstStyle/>
                    <a:p>
                      <a:r>
                        <a:rPr sz="1800" b="0">
                          <a:solidFill>
                            <a:srgbClr val="242338"/>
                          </a:solidFill>
                          <a:latin typeface="Arial"/>
                          <a:ea typeface="Arial"/>
                          <a:cs typeface="Arial"/>
                        </a:rPr>
                        <a:t>Nombre, tamaño y estado del proceso</a:t>
                      </a:r>
                    </a:p>
                  </a:txBody>
                  <a:tcPr marL="152400" marR="133350" marT="114300" marB="95250">
                    <a:solidFill>
                      <a:srgbClr val="FFFFFF"/>
                    </a:solidFill>
                  </a:tcPr>
                </a:tc>
              </a:tr>
              <a:tr h="514350">
                <a:tc>
                  <a:txBody>
                    <a:bodyPr>
                      <a:noAutofit/>
                    </a:bodyPr>
                    <a:lstStyle/>
                    <a:p>
                      <a:r>
                        <a:rPr sz="1800" b="0">
                          <a:solidFill>
                            <a:srgbClr val="242338"/>
                          </a:solidFill>
                          <a:latin typeface="Arial"/>
                          <a:ea typeface="Arial"/>
                          <a:cs typeface="Arial"/>
                        </a:rPr>
                        <a:t>memory_frames</a:t>
                      </a:r>
                    </a:p>
                  </a:txBody>
                  <a:tcPr marL="152400" marR="133350" marT="114300" marB="95250">
                    <a:solidFill>
                      <a:srgbClr val="F8F8FC"/>
                    </a:solidFill>
                  </a:tcPr>
                </a:tc>
                <a:tc>
                  <a:txBody>
                    <a:bodyPr>
                      <a:noAutofit/>
                    </a:bodyPr>
                    <a:lstStyle/>
                    <a:p>
                      <a:r>
                        <a:rPr sz="1800" b="0">
                          <a:solidFill>
                            <a:srgbClr val="242338"/>
                          </a:solidFill>
                          <a:latin typeface="Arial"/>
                          <a:ea typeface="Arial"/>
                          <a:cs typeface="Arial"/>
                        </a:rPr>
                        <a:t>Marcos físicos del escenario</a:t>
                      </a:r>
                    </a:p>
                  </a:txBody>
                  <a:tcPr marL="152400" marR="133350" marT="114300" marB="95250">
                    <a:solidFill>
                      <a:srgbClr val="F8F8FC"/>
                    </a:solidFill>
                  </a:tcPr>
                </a:tc>
              </a:tr>
              <a:tr h="514350">
                <a:tc>
                  <a:txBody>
                    <a:bodyPr>
                      <a:noAutofit/>
                    </a:bodyPr>
                    <a:lstStyle/>
                    <a:p>
                      <a:r>
                        <a:rPr sz="1800" b="0">
                          <a:solidFill>
                            <a:srgbClr val="242338"/>
                          </a:solidFill>
                          <a:latin typeface="Arial"/>
                          <a:ea typeface="Arial"/>
                          <a:cs typeface="Arial"/>
                        </a:rPr>
                        <a:t>pages</a:t>
                      </a:r>
                    </a:p>
                  </a:txBody>
                  <a:tcPr marL="152400" marR="133350" marT="114300" marB="95250">
                    <a:solidFill>
                      <a:srgbClr val="FFFFFF"/>
                    </a:solidFill>
                  </a:tcPr>
                </a:tc>
                <a:tc>
                  <a:txBody>
                    <a:bodyPr>
                      <a:noAutofit/>
                    </a:bodyPr>
                    <a:lstStyle/>
                    <a:p>
                      <a:r>
                        <a:rPr sz="1800" b="0">
                          <a:solidFill>
                            <a:srgbClr val="242338"/>
                          </a:solidFill>
                          <a:latin typeface="Arial"/>
                          <a:ea typeface="Arial"/>
                          <a:cs typeface="Arial"/>
                        </a:rPr>
                        <a:t>Páginas y referencia opcional al marco</a:t>
                      </a:r>
                    </a:p>
                  </a:txBody>
                  <a:tcPr marL="152400" marR="133350" marT="114300" marB="95250">
                    <a:solidFill>
                      <a:srgbClr val="FFFFFF"/>
                    </a:solidFill>
                  </a:tcPr>
                </a:tc>
              </a:tr>
              <a:tr h="514350">
                <a:tc>
                  <a:txBody>
                    <a:bodyPr>
                      <a:noAutofit/>
                    </a:bodyPr>
                    <a:lstStyle/>
                    <a:p>
                      <a:r>
                        <a:rPr sz="1800" b="0">
                          <a:solidFill>
                            <a:srgbClr val="242338"/>
                          </a:solidFill>
                          <a:latin typeface="Arial"/>
                          <a:ea typeface="Arial"/>
                          <a:cs typeface="Arial"/>
                        </a:rPr>
                        <a:t>segments</a:t>
                      </a:r>
                    </a:p>
                  </a:txBody>
                  <a:tcPr marL="152400" marR="133350" marT="114300" marB="95250">
                    <a:solidFill>
                      <a:srgbClr val="F8F8FC"/>
                    </a:solidFill>
                  </a:tcPr>
                </a:tc>
                <a:tc>
                  <a:txBody>
                    <a:bodyPr>
                      <a:noAutofit/>
                    </a:bodyPr>
                    <a:lstStyle/>
                    <a:p>
                      <a:r>
                        <a:rPr sz="1800" b="0">
                          <a:solidFill>
                            <a:srgbClr val="242338"/>
                          </a:solidFill>
                          <a:latin typeface="Arial"/>
                          <a:ea typeface="Arial"/>
                          <a:cs typeface="Arial"/>
                        </a:rPr>
                        <a:t>Número, base, tamaño y estado</a:t>
                      </a:r>
                    </a:p>
                  </a:txBody>
                  <a:tcPr marL="152400" marR="133350" marT="114300" marB="95250">
                    <a:solidFill>
                      <a:srgbClr val="F8F8FC"/>
                    </a:solidFill>
                  </a:tcPr>
                </a:tc>
              </a:tr>
              <a:tr h="514350">
                <a:tc>
                  <a:txBody>
                    <a:bodyPr>
                      <a:noAutofit/>
                    </a:bodyPr>
                    <a:lstStyle/>
                    <a:p>
                      <a:r>
                        <a:rPr sz="1800" b="0">
                          <a:solidFill>
                            <a:srgbClr val="242338"/>
                          </a:solidFill>
                          <a:latin typeface="Arial"/>
                          <a:ea typeface="Arial"/>
                          <a:cs typeface="Arial"/>
                        </a:rPr>
                        <a:t>simulation_events</a:t>
                      </a:r>
                    </a:p>
                  </a:txBody>
                  <a:tcPr marL="152400" marR="133350" marT="114300" marB="95250">
                    <a:solidFill>
                      <a:srgbClr val="FFFFFF"/>
                    </a:solidFill>
                  </a:tcPr>
                </a:tc>
                <a:tc>
                  <a:txBody>
                    <a:bodyPr>
                      <a:noAutofit/>
                    </a:bodyPr>
                    <a:lstStyle/>
                    <a:p>
                      <a:r>
                        <a:rPr sz="1800" b="0">
                          <a:solidFill>
                            <a:srgbClr val="242338"/>
                          </a:solidFill>
                          <a:latin typeface="Arial"/>
                          <a:ea typeface="Arial"/>
                          <a:cs typeface="Arial"/>
                        </a:rPr>
                        <a:t>Actor, operación, fecha y metadatos</a:t>
                      </a:r>
                    </a:p>
                  </a:txBody>
                  <a:tcPr marL="152400" marR="133350" marT="114300" marB="95250">
                    <a:solidFill>
                      <a:srgbClr val="FFFFFF"/>
                    </a:solidFill>
                  </a:tcPr>
                </a:tc>
              </a:tr>
            </a:tbl>
          </a:graphicData>
        </a:graphic>
      </p:graphicFrame>
    </p:spTree>
    <p:extLst>
      <p:ext uri="{BB962C8B-B14F-4D97-AF65-F5344CB8AC3E}">
        <p14:creationId xmlns:p14="http://schemas.microsoft.com/office/powerpoint/2010/main" val="211352430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F5429AF-485A-4A05-97B7-DE28B6643760}"/>
              </a:ext>
            </a:extLst>
          </p:cNvPr>
          <p:cNvSpPr>
            <a:spLocks xmlns:a="http://schemas.openxmlformats.org/drawingml/2006/main" noGrp="1"/>
          </p:cNvSpPr>
          <p:nvPr/>
        </p:nvSpPr>
        <p:spPr>
          <a:xfrm xmlns:a="http://schemas.openxmlformats.org/drawingml/2006/main">
            <a:off x="533400" y="4000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242338"/>
                </a:solidFill>
                <a:latin typeface="Arial"/>
                <a:ea typeface="Arial"/>
                <a:cs typeface="Arial"/>
              </a:defRPr>
            </a:pPr>
            <a:r>
              <a:rPr sz="3450" b="1">
                <a:solidFill>
                  <a:srgbClr val="242338"/>
                </a:solidFill>
                <a:latin typeface="Arial"/>
                <a:ea typeface="Arial"/>
                <a:cs typeface="Arial"/>
              </a:rPr>
              <a:t>Paginación: páginas y marcos</a:t>
            </a:r>
          </a:p>
        </p:txBody>
      </p:sp>
      <p:sp>
        <p:nvSpPr>
          <p:cNvPr id="2" name="">
            <a:extLst xmlns:a="http://schemas.openxmlformats.org/drawingml/2006/main">
              <a:ext uri="{FF2B5EF4-FFF2-40B4-BE49-F238E27FC236}">
                <a16:creationId xmlns:a16="http://schemas.microsoft.com/office/drawing/2014/main" id="{CD565047-1549-45FA-B23D-AFD73A37894D}"/>
              </a:ext>
            </a:extLst>
          </p:cNvPr>
          <p:cNvSpPr>
            <a:spLocks xmlns:a="http://schemas.openxmlformats.org/drawingml/2006/main" noGrp="1"/>
          </p:cNvSpPr>
          <p:nvPr/>
        </p:nvSpPr>
        <p:spPr>
          <a:xfrm xmlns:a="http://schemas.openxmlformats.org/drawingml/2006/main">
            <a:off x="552450" y="11049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a:solidFill>
                  <a:srgbClr val="67667B"/>
                </a:solidFill>
                <a:latin typeface="Arial"/>
                <a:ea typeface="Arial"/>
                <a:cs typeface="Arial"/>
              </a:defRPr>
            </a:pPr>
            <a:r>
              <a:rPr sz="1875">
                <a:solidFill>
                  <a:srgbClr val="67667B"/>
                </a:solidFill>
                <a:latin typeface="Arial"/>
                <a:ea typeface="Arial"/>
                <a:cs typeface="Arial"/>
              </a:rPr>
              <a:t>RAM de 16 KB · páginas de 1 KB · 16 marcos físicos</a:t>
            </a:r>
          </a:p>
        </p:txBody>
      </p:sp>
      <p:sp>
        <p:nvSpPr>
          <p:cNvPr id="3" name="">
            <a:extLst xmlns:a="http://schemas.openxmlformats.org/drawingml/2006/main">
              <a:ext uri="{FF2B5EF4-FFF2-40B4-BE49-F238E27FC236}">
                <a16:creationId xmlns:a16="http://schemas.microsoft.com/office/drawing/2014/main" id="{6F100978-1001-4F06-9AD6-6B9BCBFB186A}"/>
              </a:ext>
            </a:extLst>
          </p:cNvPr>
          <p:cNvSpPr>
            <a:spLocks xmlns:a="http://schemas.openxmlformats.org/drawingml/2006/main" noGrp="1"/>
          </p:cNvSpPr>
          <p:nvPr/>
        </p:nvSpPr>
        <p:spPr>
          <a:xfrm xmlns:a="http://schemas.openxmlformats.org/drawingml/2006/main">
            <a:off x="533400" y="6334125"/>
            <a:ext cx="11125200" cy="9525"/>
          </a:xfrm>
          <a:prstGeom xmlns:a="http://schemas.openxmlformats.org/drawingml/2006/main" prst="rect">
            <a:avLst/>
          </a:prstGeom>
          <a:solidFill xmlns:a="http://schemas.openxmlformats.org/drawingml/2006/main">
            <a:srgbClr val="DFDFE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61AF94D-0D43-428B-A6B7-2A04A4ACC8BC}"/>
              </a:ext>
            </a:extLst>
          </p:cNvPr>
          <p:cNvSpPr>
            <a:spLocks xmlns:a="http://schemas.openxmlformats.org/drawingml/2006/main" noGrp="1"/>
          </p:cNvSpPr>
          <p:nvPr/>
        </p:nvSpPr>
        <p:spPr>
          <a:xfrm xmlns:a="http://schemas.openxmlformats.org/drawingml/2006/main">
            <a:off x="533400" y="6486525"/>
            <a:ext cx="9906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a:solidFill>
                  <a:srgbClr val="67667B"/>
                </a:solidFill>
                <a:latin typeface="Arial"/>
                <a:ea typeface="Arial"/>
                <a:cs typeface="Arial"/>
              </a:defRPr>
            </a:pPr>
            <a:r>
              <a:rPr sz="1125">
                <a:solidFill>
                  <a:srgbClr val="67667B"/>
                </a:solidFill>
                <a:latin typeface="Arial"/>
                <a:ea typeface="Arial"/>
                <a:cs typeface="Arial"/>
              </a:rPr>
              <a:t>MemoryLab · Grupo 3 · Sistemas Operativos 1</a:t>
            </a:r>
          </a:p>
        </p:txBody>
      </p:sp>
      <p:sp>
        <p:nvSpPr>
          <p:cNvPr id="5" name="">
            <a:extLst xmlns:a="http://schemas.openxmlformats.org/drawingml/2006/main">
              <a:ext uri="{FF2B5EF4-FFF2-40B4-BE49-F238E27FC236}">
                <a16:creationId xmlns:a16="http://schemas.microsoft.com/office/drawing/2014/main" id="{B99BD58D-E571-4D4C-B698-136BBE5574B0}"/>
              </a:ext>
            </a:extLst>
          </p:cNvPr>
          <p:cNvSpPr>
            <a:spLocks xmlns:a="http://schemas.openxmlformats.org/drawingml/2006/main" noGrp="1"/>
          </p:cNvSpPr>
          <p:nvPr/>
        </p:nvSpPr>
        <p:spPr>
          <a:xfrm xmlns:a="http://schemas.openxmlformats.org/drawingml/2006/main">
            <a:off x="11220450" y="64674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350" b="1">
                <a:solidFill>
                  <a:srgbClr val="655CF3"/>
                </a:solidFill>
                <a:latin typeface="Arial"/>
                <a:ea typeface="Arial"/>
                <a:cs typeface="Arial"/>
              </a:defRPr>
            </a:pPr>
            <a:r>
              <a:rPr sz="1350" b="1">
                <a:solidFill>
                  <a:srgbClr val="655CF3"/>
                </a:solidFill>
                <a:latin typeface="Arial"/>
                <a:ea typeface="Arial"/>
                <a:cs typeface="Arial"/>
              </a:rPr>
              <a:t>06</a:t>
            </a:r>
          </a:p>
        </p:txBody>
      </p:sp>
      <p:sp>
        <p:nvSpPr>
          <p:cNvPr id="6" name="">
            <a:extLst xmlns:a="http://schemas.openxmlformats.org/drawingml/2006/main">
              <a:ext uri="{FF2B5EF4-FFF2-40B4-BE49-F238E27FC236}">
                <a16:creationId xmlns:a16="http://schemas.microsoft.com/office/drawing/2014/main" id="{1BD3A470-ECEC-40FD-9DCE-AC68BCDDBABC}"/>
              </a:ext>
            </a:extLst>
          </p:cNvPr>
          <p:cNvSpPr>
            <a:spLocks xmlns:a="http://schemas.openxmlformats.org/drawingml/2006/main" noGrp="1"/>
          </p:cNvSpPr>
          <p:nvPr/>
        </p:nvSpPr>
        <p:spPr>
          <a:xfrm xmlns:a="http://schemas.openxmlformats.org/drawingml/2006/main">
            <a:off x="685800" y="2000250"/>
            <a:ext cx="3790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75" b="1">
                <a:solidFill>
                  <a:srgbClr val="242338"/>
                </a:solidFill>
                <a:latin typeface="Arial"/>
                <a:ea typeface="Arial"/>
                <a:cs typeface="Arial"/>
              </a:defRPr>
            </a:pPr>
            <a:r>
              <a:rPr sz="2475" b="1">
                <a:solidFill>
                  <a:srgbClr val="242338"/>
                </a:solidFill>
                <a:latin typeface="Arial"/>
                <a:ea typeface="Arial"/>
                <a:cs typeface="Arial"/>
              </a:rPr>
              <a:t>Tamaño fijo</a:t>
            </a:r>
          </a:p>
        </p:txBody>
      </p:sp>
      <p:sp>
        <p:nvSpPr>
          <p:cNvPr id="7" name="">
            <a:extLst xmlns:a="http://schemas.openxmlformats.org/drawingml/2006/main">
              <a:ext uri="{FF2B5EF4-FFF2-40B4-BE49-F238E27FC236}">
                <a16:creationId xmlns:a16="http://schemas.microsoft.com/office/drawing/2014/main" id="{94DCA431-FDDD-49EF-BB73-5BD5544A3685}"/>
              </a:ext>
            </a:extLst>
          </p:cNvPr>
          <p:cNvSpPr>
            <a:spLocks xmlns:a="http://schemas.openxmlformats.org/drawingml/2006/main" noGrp="1"/>
          </p:cNvSpPr>
          <p:nvPr/>
        </p:nvSpPr>
        <p:spPr>
          <a:xfrm xmlns:a="http://schemas.openxmlformats.org/drawingml/2006/main">
            <a:off x="685800" y="2609850"/>
            <a:ext cx="38671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a:solidFill>
                  <a:srgbClr val="45445A"/>
                </a:solidFill>
                <a:latin typeface="Arial"/>
                <a:ea typeface="Arial"/>
                <a:cs typeface="Arial"/>
              </a:defRPr>
            </a:pPr>
            <a:r>
              <a:rPr sz="2175">
                <a:solidFill>
                  <a:srgbClr val="45445A"/>
                </a:solidFill>
                <a:latin typeface="Arial"/>
                <a:ea typeface="Arial"/>
                <a:cs typeface="Arial"/>
              </a:rPr>
              <a:t>Cada página ocupa un marco completo cuando está en RAM.</a:t>
            </a:r>
          </a:p>
        </p:txBody>
      </p:sp>
      <p:sp>
        <p:nvSpPr>
          <p:cNvPr id="8" name="">
            <a:extLst xmlns:a="http://schemas.openxmlformats.org/drawingml/2006/main">
              <a:ext uri="{FF2B5EF4-FFF2-40B4-BE49-F238E27FC236}">
                <a16:creationId xmlns:a16="http://schemas.microsoft.com/office/drawing/2014/main" id="{5735E2E3-1138-4ABE-ABF5-8C6902632A25}"/>
              </a:ext>
            </a:extLst>
          </p:cNvPr>
          <p:cNvSpPr>
            <a:spLocks xmlns:a="http://schemas.openxmlformats.org/drawingml/2006/main" noGrp="1"/>
          </p:cNvSpPr>
          <p:nvPr/>
        </p:nvSpPr>
        <p:spPr>
          <a:xfrm xmlns:a="http://schemas.openxmlformats.org/drawingml/2006/main">
            <a:off x="685800" y="4171950"/>
            <a:ext cx="38957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75" b="1">
                <a:solidFill>
                  <a:srgbClr val="242338"/>
                </a:solidFill>
                <a:latin typeface="Arial"/>
                <a:ea typeface="Arial"/>
                <a:cs typeface="Arial"/>
              </a:defRPr>
            </a:pPr>
            <a:r>
              <a:rPr sz="2475" b="1">
                <a:solidFill>
                  <a:srgbClr val="242338"/>
                </a:solidFill>
                <a:latin typeface="Arial"/>
                <a:ea typeface="Arial"/>
                <a:cs typeface="Arial"/>
              </a:rPr>
              <a:t>Tabla de páginas</a:t>
            </a:r>
          </a:p>
        </p:txBody>
      </p:sp>
      <p:sp>
        <p:nvSpPr>
          <p:cNvPr id="9" name="">
            <a:extLst xmlns:a="http://schemas.openxmlformats.org/drawingml/2006/main">
              <a:ext uri="{FF2B5EF4-FFF2-40B4-BE49-F238E27FC236}">
                <a16:creationId xmlns:a16="http://schemas.microsoft.com/office/drawing/2014/main" id="{4165032E-C058-4083-A774-B8CDF35CE8A8}"/>
              </a:ext>
            </a:extLst>
          </p:cNvPr>
          <p:cNvSpPr>
            <a:spLocks xmlns:a="http://schemas.openxmlformats.org/drawingml/2006/main" noGrp="1"/>
          </p:cNvSpPr>
          <p:nvPr/>
        </p:nvSpPr>
        <p:spPr>
          <a:xfrm xmlns:a="http://schemas.openxmlformats.org/drawingml/2006/main">
            <a:off x="685800" y="4781550"/>
            <a:ext cx="38671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a:solidFill>
                  <a:srgbClr val="45445A"/>
                </a:solidFill>
                <a:latin typeface="Arial"/>
                <a:ea typeface="Arial"/>
                <a:cs typeface="Arial"/>
              </a:defRPr>
            </a:pPr>
            <a:r>
              <a:rPr sz="2175">
                <a:solidFill>
                  <a:srgbClr val="45445A"/>
                </a:solidFill>
                <a:latin typeface="Arial"/>
                <a:ea typeface="Arial"/>
                <a:cs typeface="Arial"/>
              </a:rPr>
              <a:t>El marco indica presencia. Sin marco, la página permanece en secundaria.</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5c0c49d8c3be417e"/>
          <a:srcRect xmlns:a="http://schemas.openxmlformats.org/drawingml/2006/main" l="47400" t="20000" r="1600" b="56500"/>
          <a:stretch xmlns:a="http://schemas.openxmlformats.org/drawingml/2006/main"/>
        </p:blipFill>
        <p:spPr>
          <a:xfrm xmlns:a="http://schemas.openxmlformats.org/drawingml/2006/main">
            <a:off x="5287525" y="1981200"/>
            <a:ext cx="5865099" cy="37147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A1CBAE2F-5289-41A4-8F54-ED32D15C6AB1}"/>
              </a:ext>
            </a:extLst>
          </p:cNvPr>
          <p:cNvSpPr>
            <a:spLocks xmlns:a="http://schemas.openxmlformats.org/drawingml/2006/main" noGrp="1"/>
          </p:cNvSpPr>
          <p:nvPr/>
        </p:nvSpPr>
        <p:spPr>
          <a:xfrm xmlns:a="http://schemas.openxmlformats.org/drawingml/2006/main">
            <a:off x="5029200" y="5829300"/>
            <a:ext cx="638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a:solidFill>
                  <a:srgbClr val="67667B"/>
                </a:solidFill>
                <a:latin typeface="Arial"/>
                <a:ea typeface="Arial"/>
                <a:cs typeface="Arial"/>
              </a:defRPr>
            </a:pPr>
            <a:r>
              <a:rPr sz="1575">
                <a:solidFill>
                  <a:srgbClr val="67667B"/>
                </a:solidFill>
                <a:latin typeface="Arial"/>
                <a:ea typeface="Arial"/>
                <a:cs typeface="Arial"/>
              </a:rPr>
              <a:t>Tabla real: Chrome prueba, 4 páginas</a:t>
            </a:r>
          </a:p>
        </p:txBody>
      </p:sp>
    </p:spTree>
    <p:extLst>
      <p:ext uri="{BB962C8B-B14F-4D97-AF65-F5344CB8AC3E}">
        <p14:creationId xmlns:p14="http://schemas.microsoft.com/office/powerpoint/2010/main" val="118003542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9C8EE18-3413-48B0-80C8-AE85F059309D}"/>
              </a:ext>
            </a:extLst>
          </p:cNvPr>
          <p:cNvSpPr>
            <a:spLocks xmlns:a="http://schemas.openxmlformats.org/drawingml/2006/main" noGrp="1"/>
          </p:cNvSpPr>
          <p:nvPr/>
        </p:nvSpPr>
        <p:spPr>
          <a:xfrm xmlns:a="http://schemas.openxmlformats.org/drawingml/2006/main">
            <a:off x="533400" y="4000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242338"/>
                </a:solidFill>
                <a:latin typeface="Arial"/>
                <a:ea typeface="Arial"/>
                <a:cs typeface="Arial"/>
              </a:defRPr>
            </a:pPr>
            <a:r>
              <a:rPr sz="3450" b="1">
                <a:solidFill>
                  <a:srgbClr val="242338"/>
                </a:solidFill>
                <a:latin typeface="Arial"/>
                <a:ea typeface="Arial"/>
                <a:cs typeface="Arial"/>
              </a:rPr>
              <a:t>PAGE_HIT, PAGE_FAULT y FIFO</a:t>
            </a:r>
          </a:p>
        </p:txBody>
      </p:sp>
      <p:sp>
        <p:nvSpPr>
          <p:cNvPr id="2" name="">
            <a:extLst xmlns:a="http://schemas.openxmlformats.org/drawingml/2006/main">
              <a:ext uri="{FF2B5EF4-FFF2-40B4-BE49-F238E27FC236}">
                <a16:creationId xmlns:a16="http://schemas.microsoft.com/office/drawing/2014/main" id="{D336EC9C-2373-4CA7-BF36-5F3A4DB6CD8B}"/>
              </a:ext>
            </a:extLst>
          </p:cNvPr>
          <p:cNvSpPr>
            <a:spLocks xmlns:a="http://schemas.openxmlformats.org/drawingml/2006/main" noGrp="1"/>
          </p:cNvSpPr>
          <p:nvPr/>
        </p:nvSpPr>
        <p:spPr>
          <a:xfrm xmlns:a="http://schemas.openxmlformats.org/drawingml/2006/main">
            <a:off x="552450" y="11049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a:solidFill>
                  <a:srgbClr val="67667B"/>
                </a:solidFill>
                <a:latin typeface="Arial"/>
                <a:ea typeface="Arial"/>
                <a:cs typeface="Arial"/>
              </a:defRPr>
            </a:pPr>
            <a:r>
              <a:rPr sz="1875">
                <a:solidFill>
                  <a:srgbClr val="67667B"/>
                </a:solidFill>
                <a:latin typeface="Arial"/>
                <a:ea typeface="Arial"/>
                <a:cs typeface="Arial"/>
              </a:rPr>
              <a:t>Una solicitud genera una secuencia real de eventos.</a:t>
            </a:r>
          </a:p>
        </p:txBody>
      </p:sp>
      <p:sp>
        <p:nvSpPr>
          <p:cNvPr id="3" name="">
            <a:extLst xmlns:a="http://schemas.openxmlformats.org/drawingml/2006/main">
              <a:ext uri="{FF2B5EF4-FFF2-40B4-BE49-F238E27FC236}">
                <a16:creationId xmlns:a16="http://schemas.microsoft.com/office/drawing/2014/main" id="{A27283EF-5296-41B1-9E46-DB13826BE642}"/>
              </a:ext>
            </a:extLst>
          </p:cNvPr>
          <p:cNvSpPr>
            <a:spLocks xmlns:a="http://schemas.openxmlformats.org/drawingml/2006/main" noGrp="1"/>
          </p:cNvSpPr>
          <p:nvPr/>
        </p:nvSpPr>
        <p:spPr>
          <a:xfrm xmlns:a="http://schemas.openxmlformats.org/drawingml/2006/main">
            <a:off x="533400" y="6334125"/>
            <a:ext cx="11125200" cy="9525"/>
          </a:xfrm>
          <a:prstGeom xmlns:a="http://schemas.openxmlformats.org/drawingml/2006/main" prst="rect">
            <a:avLst/>
          </a:prstGeom>
          <a:solidFill xmlns:a="http://schemas.openxmlformats.org/drawingml/2006/main">
            <a:srgbClr val="DFDFE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FA8EFAA-D593-49CE-92D4-6ED900C321AD}"/>
              </a:ext>
            </a:extLst>
          </p:cNvPr>
          <p:cNvSpPr>
            <a:spLocks xmlns:a="http://schemas.openxmlformats.org/drawingml/2006/main" noGrp="1"/>
          </p:cNvSpPr>
          <p:nvPr/>
        </p:nvSpPr>
        <p:spPr>
          <a:xfrm xmlns:a="http://schemas.openxmlformats.org/drawingml/2006/main">
            <a:off x="533400" y="6486525"/>
            <a:ext cx="9906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a:solidFill>
                  <a:srgbClr val="67667B"/>
                </a:solidFill>
                <a:latin typeface="Arial"/>
                <a:ea typeface="Arial"/>
                <a:cs typeface="Arial"/>
              </a:defRPr>
            </a:pPr>
            <a:r>
              <a:rPr sz="1125">
                <a:solidFill>
                  <a:srgbClr val="67667B"/>
                </a:solidFill>
                <a:latin typeface="Arial"/>
                <a:ea typeface="Arial"/>
                <a:cs typeface="Arial"/>
              </a:rPr>
              <a:t>MemoryLab · Grupo 3 · Sistemas Operativos 1</a:t>
            </a:r>
          </a:p>
        </p:txBody>
      </p:sp>
      <p:sp>
        <p:nvSpPr>
          <p:cNvPr id="5" name="">
            <a:extLst xmlns:a="http://schemas.openxmlformats.org/drawingml/2006/main">
              <a:ext uri="{FF2B5EF4-FFF2-40B4-BE49-F238E27FC236}">
                <a16:creationId xmlns:a16="http://schemas.microsoft.com/office/drawing/2014/main" id="{D583CB50-FB5E-4AE0-9076-5E2768A76C86}"/>
              </a:ext>
            </a:extLst>
          </p:cNvPr>
          <p:cNvSpPr>
            <a:spLocks xmlns:a="http://schemas.openxmlformats.org/drawingml/2006/main" noGrp="1"/>
          </p:cNvSpPr>
          <p:nvPr/>
        </p:nvSpPr>
        <p:spPr>
          <a:xfrm xmlns:a="http://schemas.openxmlformats.org/drawingml/2006/main">
            <a:off x="11220450" y="64674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350" b="1">
                <a:solidFill>
                  <a:srgbClr val="655CF3"/>
                </a:solidFill>
                <a:latin typeface="Arial"/>
                <a:ea typeface="Arial"/>
                <a:cs typeface="Arial"/>
              </a:defRPr>
            </a:pPr>
            <a:r>
              <a:rPr sz="1350" b="1">
                <a:solidFill>
                  <a:srgbClr val="655CF3"/>
                </a:solidFill>
                <a:latin typeface="Arial"/>
                <a:ea typeface="Arial"/>
                <a:cs typeface="Arial"/>
              </a:rPr>
              <a:t>07</a:t>
            </a:r>
          </a:p>
        </p:txBody>
      </p:sp>
      <p:sp>
        <p:nvSpPr>
          <p:cNvPr id="6" name="">
            <a:extLst xmlns:a="http://schemas.openxmlformats.org/drawingml/2006/main">
              <a:ext uri="{FF2B5EF4-FFF2-40B4-BE49-F238E27FC236}">
                <a16:creationId xmlns:a16="http://schemas.microsoft.com/office/drawing/2014/main" id="{D3552068-872A-4775-BD47-02DD4E8B3288}"/>
              </a:ext>
            </a:extLst>
          </p:cNvPr>
          <p:cNvSpPr>
            <a:spLocks xmlns:a="http://schemas.openxmlformats.org/drawingml/2006/main" noGrp="1"/>
          </p:cNvSpPr>
          <p:nvPr/>
        </p:nvSpPr>
        <p:spPr>
          <a:xfrm xmlns:a="http://schemas.openxmlformats.org/drawingml/2006/main">
            <a:off x="704850" y="2038350"/>
            <a:ext cx="2600325" cy="942975"/>
          </a:xfrm>
          <a:prstGeom xmlns:a="http://schemas.openxmlformats.org/drawingml/2006/main" prst="rect">
            <a:avLst/>
          </a:prstGeom>
          <a:solidFill xmlns:a="http://schemas.openxmlformats.org/drawingml/2006/main">
            <a:srgbClr val="F1F0FF"/>
          </a:solidFill>
          <a:ln xmlns:a="http://schemas.openxmlformats.org/drawingml/2006/main" w="14288">
            <a:solidFill>
              <a:srgbClr val="DFDFEA"/>
            </a:solidFill>
          </a:ln>
        </p:spPr>
        <p:txBody>
          <a:bodyPr xmlns:a="http://schemas.openxmlformats.org/drawingml/2006/main" lIns="114300" tIns="133350" rIns="114300" bIns="95250" anchor="ctr">
            <a:noAutofit/>
          </a:bodyPr>
          <a:lstStyle xmlns:a="http://schemas.openxmlformats.org/drawingml/2006/main"/>
          <a:p xmlns:a="http://schemas.openxmlformats.org/drawingml/2006/main">
            <a:pPr algn="ctr">
              <a:defRPr sz="2025" b="1">
                <a:solidFill>
                  <a:srgbClr val="242338"/>
                </a:solidFill>
                <a:latin typeface="Arial"/>
                <a:ea typeface="Arial"/>
                <a:cs typeface="Arial"/>
              </a:defRPr>
            </a:pPr>
            <a:r>
              <a:rPr sz="2025" b="1">
                <a:solidFill>
                  <a:srgbClr val="242338"/>
                </a:solidFill>
                <a:latin typeface="Arial"/>
                <a:ea typeface="Arial"/>
                <a:cs typeface="Arial"/>
              </a:rPr>
              <a:t>CPU solicita</a:t>
            </a:r>
          </a:p>
          <a:p xmlns:a="http://schemas.openxmlformats.org/drawingml/2006/main">
            <a:pPr algn="ctr">
              <a:defRPr sz="2025" b="1">
                <a:solidFill>
                  <a:srgbClr val="242338"/>
                </a:solidFill>
                <a:latin typeface="Arial"/>
                <a:ea typeface="Arial"/>
                <a:cs typeface="Arial"/>
              </a:defRPr>
            </a:pPr>
            <a:r>
              <a:rPr sz="2025" b="1">
                <a:solidFill>
                  <a:srgbClr val="242338"/>
                </a:solidFill>
                <a:latin typeface="Arial"/>
                <a:ea typeface="Arial"/>
                <a:cs typeface="Arial"/>
              </a:rPr>
              <a:t>una página</a:t>
            </a:r>
          </a:p>
        </p:txBody>
      </p:sp>
      <p:sp>
        <p:nvSpPr>
          <p:cNvPr id="7" name="">
            <a:extLst xmlns:a="http://schemas.openxmlformats.org/drawingml/2006/main">
              <a:ext uri="{FF2B5EF4-FFF2-40B4-BE49-F238E27FC236}">
                <a16:creationId xmlns:a16="http://schemas.microsoft.com/office/drawing/2014/main" id="{7C18D035-FB2E-4385-BC01-3884B9293017}"/>
              </a:ext>
            </a:extLst>
          </p:cNvPr>
          <p:cNvSpPr>
            <a:spLocks xmlns:a="http://schemas.openxmlformats.org/drawingml/2006/main" noGrp="1"/>
          </p:cNvSpPr>
          <p:nvPr/>
        </p:nvSpPr>
        <p:spPr>
          <a:xfrm xmlns:a="http://schemas.openxmlformats.org/drawingml/2006/main">
            <a:off x="4010025" y="2038350"/>
            <a:ext cx="3067050" cy="942975"/>
          </a:xfrm>
          <a:prstGeom xmlns:a="http://schemas.openxmlformats.org/drawingml/2006/main" prst="rect">
            <a:avLst/>
          </a:prstGeom>
          <a:solidFill xmlns:a="http://schemas.openxmlformats.org/drawingml/2006/main">
            <a:srgbClr val="F1F0FF"/>
          </a:solidFill>
          <a:ln xmlns:a="http://schemas.openxmlformats.org/drawingml/2006/main" w="14288">
            <a:solidFill>
              <a:srgbClr val="DFDFEA"/>
            </a:solidFill>
          </a:ln>
        </p:spPr>
        <p:txBody>
          <a:bodyPr xmlns:a="http://schemas.openxmlformats.org/drawingml/2006/main" lIns="114300" tIns="133350" rIns="114300" bIns="95250" anchor="ctr">
            <a:noAutofit/>
          </a:bodyPr>
          <a:lstStyle xmlns:a="http://schemas.openxmlformats.org/drawingml/2006/main"/>
          <a:p xmlns:a="http://schemas.openxmlformats.org/drawingml/2006/main">
            <a:pPr algn="ctr">
              <a:defRPr sz="2025" b="1">
                <a:solidFill>
                  <a:srgbClr val="242338"/>
                </a:solidFill>
                <a:latin typeface="Arial"/>
                <a:ea typeface="Arial"/>
                <a:cs typeface="Arial"/>
              </a:defRPr>
            </a:pPr>
            <a:r>
              <a:rPr sz="2025" b="1">
                <a:solidFill>
                  <a:srgbClr val="242338"/>
                </a:solidFill>
                <a:latin typeface="Arial"/>
                <a:ea typeface="Arial"/>
                <a:cs typeface="Arial"/>
              </a:rPr>
              <a:t>Consultar tabla</a:t>
            </a:r>
          </a:p>
          <a:p xmlns:a="http://schemas.openxmlformats.org/drawingml/2006/main">
            <a:pPr algn="ctr">
              <a:defRPr sz="2025" b="1">
                <a:solidFill>
                  <a:srgbClr val="242338"/>
                </a:solidFill>
                <a:latin typeface="Arial"/>
                <a:ea typeface="Arial"/>
                <a:cs typeface="Arial"/>
              </a:defRPr>
            </a:pPr>
            <a:r>
              <a:rPr sz="2025" b="1">
                <a:solidFill>
                  <a:srgbClr val="242338"/>
                </a:solidFill>
                <a:latin typeface="Arial"/>
                <a:ea typeface="Arial"/>
                <a:cs typeface="Arial"/>
              </a:rPr>
              <a:t>de páginas</a:t>
            </a:r>
          </a:p>
        </p:txBody>
      </p:sp>
      <p:cxnSp>
        <p:nvCxnSpPr>
          <p:cNvPr id="21" name=""/>
          <p:cNvCxnSpPr>
            <a:stCxn xmlns:a="http://schemas.openxmlformats.org/drawingml/2006/main" id="6" idx="3"/>
            <a:endCxn xmlns:a="http://schemas.openxmlformats.org/drawingml/2006/main" id="7" idx="1"/>
          </p:cNvCxnSpPr>
          <p:nvPr/>
        </p:nvCxnSpPr>
        <p:spPr>
          <a:xfrm xmlns:a="http://schemas.openxmlformats.org/drawingml/2006/main">
            <a:off x="3305175" y="2509838"/>
            <a:ext cx="704850" cy="0"/>
          </a:xfrm>
          <a:prstGeom xmlns:a="http://schemas.openxmlformats.org/drawingml/2006/main" prst="straightConnector1">
            <a:avLst/>
          </a:prstGeom>
          <a:ln xmlns:a="http://schemas.openxmlformats.org/drawingml/2006/main" w="23813">
            <a:solidFill>
              <a:srgbClr val="655CF3"/>
            </a:solidFill>
            <a:prstDash val="solid"/>
            <a:tailEnd type="arrow" w="med" len="med"/>
          </a:ln>
        </p:spPr>
      </p:cxnSp>
      <p:sp>
        <p:nvSpPr>
          <p:cNvPr id="9" name="">
            <a:extLst xmlns:a="http://schemas.openxmlformats.org/drawingml/2006/main">
              <a:ext uri="{FF2B5EF4-FFF2-40B4-BE49-F238E27FC236}">
                <a16:creationId xmlns:a16="http://schemas.microsoft.com/office/drawing/2014/main" id="{A4978BF4-41AB-4744-86BA-69D523414537}"/>
              </a:ext>
            </a:extLst>
          </p:cNvPr>
          <p:cNvSpPr>
            <a:spLocks xmlns:a="http://schemas.openxmlformats.org/drawingml/2006/main" noGrp="1"/>
          </p:cNvSpPr>
          <p:nvPr/>
        </p:nvSpPr>
        <p:spPr>
          <a:xfrm xmlns:a="http://schemas.openxmlformats.org/drawingml/2006/main">
            <a:off x="723900" y="3505200"/>
            <a:ext cx="5524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23794C"/>
                </a:solidFill>
                <a:latin typeface="Arial"/>
                <a:ea typeface="Arial"/>
                <a:cs typeface="Arial"/>
              </a:defRPr>
            </a:pPr>
            <a:r>
              <a:rPr sz="2250" b="1">
                <a:solidFill>
                  <a:srgbClr val="23794C"/>
                </a:solidFill>
                <a:latin typeface="Arial"/>
                <a:ea typeface="Arial"/>
                <a:cs typeface="Arial"/>
              </a:rPr>
              <a:t>HIT: la página está en RAM</a:t>
            </a:r>
          </a:p>
        </p:txBody>
      </p:sp>
      <p:sp>
        <p:nvSpPr>
          <p:cNvPr id="10" name="">
            <a:extLst xmlns:a="http://schemas.openxmlformats.org/drawingml/2006/main">
              <a:ext uri="{FF2B5EF4-FFF2-40B4-BE49-F238E27FC236}">
                <a16:creationId xmlns:a16="http://schemas.microsoft.com/office/drawing/2014/main" id="{2483EC88-DFB8-4395-B0DF-68C0AB70B77A}"/>
              </a:ext>
            </a:extLst>
          </p:cNvPr>
          <p:cNvSpPr>
            <a:spLocks xmlns:a="http://schemas.openxmlformats.org/drawingml/2006/main" noGrp="1"/>
          </p:cNvSpPr>
          <p:nvPr/>
        </p:nvSpPr>
        <p:spPr>
          <a:xfrm xmlns:a="http://schemas.openxmlformats.org/drawingml/2006/main">
            <a:off x="723900" y="4114800"/>
            <a:ext cx="5600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a:solidFill>
                  <a:srgbClr val="45445A"/>
                </a:solidFill>
                <a:latin typeface="Arial"/>
                <a:ea typeface="Arial"/>
                <a:cs typeface="Arial"/>
              </a:defRPr>
            </a:pPr>
            <a:r>
              <a:rPr sz="2025">
                <a:solidFill>
                  <a:srgbClr val="45445A"/>
                </a:solidFill>
                <a:latin typeface="Arial"/>
                <a:ea typeface="Arial"/>
                <a:cs typeface="Arial"/>
              </a:rPr>
              <a:t>Acceso al marco actual.</a:t>
            </a:r>
          </a:p>
          <a:p xmlns:a="http://schemas.openxmlformats.org/drawingml/2006/main">
            <a:pPr>
              <a:defRPr sz="2025">
                <a:solidFill>
                  <a:srgbClr val="45445A"/>
                </a:solidFill>
                <a:latin typeface="Arial"/>
                <a:ea typeface="Arial"/>
                <a:cs typeface="Arial"/>
              </a:defRPr>
            </a:pPr>
            <a:r>
              <a:rPr sz="2025">
                <a:solidFill>
                  <a:srgbClr val="45445A"/>
                </a:solidFill>
                <a:latin typeface="Arial"/>
                <a:ea typeface="Arial"/>
                <a:cs typeface="Arial"/>
              </a:rPr>
              <a:t>No cambia la fecha de carga.</a:t>
            </a:r>
          </a:p>
        </p:txBody>
      </p:sp>
      <p:sp>
        <p:nvSpPr>
          <p:cNvPr id="11" name="">
            <a:extLst xmlns:a="http://schemas.openxmlformats.org/drawingml/2006/main">
              <a:ext uri="{FF2B5EF4-FFF2-40B4-BE49-F238E27FC236}">
                <a16:creationId xmlns:a16="http://schemas.microsoft.com/office/drawing/2014/main" id="{E6886622-8690-490A-B1FD-D46278EDD94C}"/>
              </a:ext>
            </a:extLst>
          </p:cNvPr>
          <p:cNvSpPr>
            <a:spLocks xmlns:a="http://schemas.openxmlformats.org/drawingml/2006/main" noGrp="1"/>
          </p:cNvSpPr>
          <p:nvPr/>
        </p:nvSpPr>
        <p:spPr>
          <a:xfrm xmlns:a="http://schemas.openxmlformats.org/drawingml/2006/main">
            <a:off x="723900" y="5219700"/>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B63D42"/>
                </a:solidFill>
                <a:latin typeface="Arial"/>
                <a:ea typeface="Arial"/>
                <a:cs typeface="Arial"/>
              </a:defRPr>
            </a:pPr>
            <a:r>
              <a:rPr sz="2250" b="1">
                <a:solidFill>
                  <a:srgbClr val="B63D42"/>
                </a:solidFill>
                <a:latin typeface="Arial"/>
                <a:ea typeface="Arial"/>
                <a:cs typeface="Arial"/>
              </a:rPr>
              <a:t>FAULT: la página está en secundaria</a:t>
            </a:r>
          </a:p>
        </p:txBody>
      </p:sp>
      <p:sp>
        <p:nvSpPr>
          <p:cNvPr id="12" name="">
            <a:extLst xmlns:a="http://schemas.openxmlformats.org/drawingml/2006/main">
              <a:ext uri="{FF2B5EF4-FFF2-40B4-BE49-F238E27FC236}">
                <a16:creationId xmlns:a16="http://schemas.microsoft.com/office/drawing/2014/main" id="{67E34BB2-5844-4AA4-BFB4-514559CFB06F}"/>
              </a:ext>
            </a:extLst>
          </p:cNvPr>
          <p:cNvSpPr>
            <a:spLocks xmlns:a="http://schemas.openxmlformats.org/drawingml/2006/main" noGrp="1"/>
          </p:cNvSpPr>
          <p:nvPr/>
        </p:nvSpPr>
        <p:spPr>
          <a:xfrm xmlns:a="http://schemas.openxmlformats.org/drawingml/2006/main">
            <a:off x="723900" y="56864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a:solidFill>
                  <a:srgbClr val="45445A"/>
                </a:solidFill>
                <a:latin typeface="Arial"/>
                <a:ea typeface="Arial"/>
                <a:cs typeface="Arial"/>
              </a:defRPr>
            </a:pPr>
            <a:r>
              <a:rPr sz="1875">
                <a:solidFill>
                  <a:srgbClr val="45445A"/>
                </a:solidFill>
                <a:latin typeface="Arial"/>
                <a:ea typeface="Arial"/>
                <a:cs typeface="Arial"/>
              </a:rPr>
              <a:t>Cargar en el primer marco libre. Si la RAM está llena, reemplazar la carga más antigua con FIFO.</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cfb4be91cf414b5b"/>
          <a:srcRect xmlns:a="http://schemas.openxmlformats.org/drawingml/2006/main" l="62000" t="82500" r="1500" b="11300"/>
          <a:stretch xmlns:a="http://schemas.openxmlformats.org/drawingml/2006/main"/>
        </p:blipFill>
        <p:spPr>
          <a:xfrm xmlns:a="http://schemas.openxmlformats.org/drawingml/2006/main">
            <a:off x="7372350" y="3471995"/>
            <a:ext cx="4124325" cy="1047485"/>
          </a:xfrm>
          <a:prstGeom xmlns:a="http://schemas.openxmlformats.org/drawingml/2006/main" prst="rect">
            <a:avLst/>
          </a:prstGeom>
        </p:spPr>
      </p:pic>
    </p:spTree>
    <p:extLst>
      <p:ext uri="{BB962C8B-B14F-4D97-AF65-F5344CB8AC3E}">
        <p14:creationId xmlns:p14="http://schemas.microsoft.com/office/powerpoint/2010/main" val="207595814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23BCA82-6138-4485-A8FA-B3B3C1F499B7}"/>
              </a:ext>
            </a:extLst>
          </p:cNvPr>
          <p:cNvSpPr>
            <a:spLocks xmlns:a="http://schemas.openxmlformats.org/drawingml/2006/main" noGrp="1"/>
          </p:cNvSpPr>
          <p:nvPr/>
        </p:nvSpPr>
        <p:spPr>
          <a:xfrm xmlns:a="http://schemas.openxmlformats.org/drawingml/2006/main">
            <a:off x="533400" y="4000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242338"/>
                </a:solidFill>
                <a:latin typeface="Arial"/>
                <a:ea typeface="Arial"/>
                <a:cs typeface="Arial"/>
              </a:defRPr>
            </a:pPr>
            <a:r>
              <a:rPr sz="3450" b="1">
                <a:solidFill>
                  <a:srgbClr val="242338"/>
                </a:solidFill>
                <a:latin typeface="Arial"/>
                <a:ea typeface="Arial"/>
                <a:cs typeface="Arial"/>
              </a:rPr>
              <a:t>Traducción de dirección lógica</a:t>
            </a:r>
          </a:p>
        </p:txBody>
      </p:sp>
      <p:sp>
        <p:nvSpPr>
          <p:cNvPr id="2" name="">
            <a:extLst xmlns:a="http://schemas.openxmlformats.org/drawingml/2006/main">
              <a:ext uri="{FF2B5EF4-FFF2-40B4-BE49-F238E27FC236}">
                <a16:creationId xmlns:a16="http://schemas.microsoft.com/office/drawing/2014/main" id="{5FE184A9-D26B-4797-B6AB-1A80EF4EFA33}"/>
              </a:ext>
            </a:extLst>
          </p:cNvPr>
          <p:cNvSpPr>
            <a:spLocks xmlns:a="http://schemas.openxmlformats.org/drawingml/2006/main" noGrp="1"/>
          </p:cNvSpPr>
          <p:nvPr/>
        </p:nvSpPr>
        <p:spPr>
          <a:xfrm xmlns:a="http://schemas.openxmlformats.org/drawingml/2006/main">
            <a:off x="552450" y="11049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a:solidFill>
                  <a:srgbClr val="67667B"/>
                </a:solidFill>
                <a:latin typeface="Arial"/>
                <a:ea typeface="Arial"/>
                <a:cs typeface="Arial"/>
              </a:defRPr>
            </a:pPr>
            <a:r>
              <a:rPr sz="1875">
                <a:solidFill>
                  <a:srgbClr val="67667B"/>
                </a:solidFill>
                <a:latin typeface="Arial"/>
                <a:ea typeface="Arial"/>
                <a:cs typeface="Arial"/>
              </a:rPr>
              <a:t>Ejemplo: página de 1024 bytes y dirección lógica 1124</a:t>
            </a:r>
          </a:p>
        </p:txBody>
      </p:sp>
      <p:sp>
        <p:nvSpPr>
          <p:cNvPr id="3" name="">
            <a:extLst xmlns:a="http://schemas.openxmlformats.org/drawingml/2006/main">
              <a:ext uri="{FF2B5EF4-FFF2-40B4-BE49-F238E27FC236}">
                <a16:creationId xmlns:a16="http://schemas.microsoft.com/office/drawing/2014/main" id="{82DE87B9-251E-4F79-8623-8D58E95FEF47}"/>
              </a:ext>
            </a:extLst>
          </p:cNvPr>
          <p:cNvSpPr>
            <a:spLocks xmlns:a="http://schemas.openxmlformats.org/drawingml/2006/main" noGrp="1"/>
          </p:cNvSpPr>
          <p:nvPr/>
        </p:nvSpPr>
        <p:spPr>
          <a:xfrm xmlns:a="http://schemas.openxmlformats.org/drawingml/2006/main">
            <a:off x="533400" y="6334125"/>
            <a:ext cx="11125200" cy="9525"/>
          </a:xfrm>
          <a:prstGeom xmlns:a="http://schemas.openxmlformats.org/drawingml/2006/main" prst="rect">
            <a:avLst/>
          </a:prstGeom>
          <a:solidFill xmlns:a="http://schemas.openxmlformats.org/drawingml/2006/main">
            <a:srgbClr val="DFDFE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928C66F-4FDA-49B5-B51A-FEAB12A51EF1}"/>
              </a:ext>
            </a:extLst>
          </p:cNvPr>
          <p:cNvSpPr>
            <a:spLocks xmlns:a="http://schemas.openxmlformats.org/drawingml/2006/main" noGrp="1"/>
          </p:cNvSpPr>
          <p:nvPr/>
        </p:nvSpPr>
        <p:spPr>
          <a:xfrm xmlns:a="http://schemas.openxmlformats.org/drawingml/2006/main">
            <a:off x="533400" y="6486525"/>
            <a:ext cx="9906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a:solidFill>
                  <a:srgbClr val="67667B"/>
                </a:solidFill>
                <a:latin typeface="Arial"/>
                <a:ea typeface="Arial"/>
                <a:cs typeface="Arial"/>
              </a:defRPr>
            </a:pPr>
            <a:r>
              <a:rPr sz="1125">
                <a:solidFill>
                  <a:srgbClr val="67667B"/>
                </a:solidFill>
                <a:latin typeface="Arial"/>
                <a:ea typeface="Arial"/>
                <a:cs typeface="Arial"/>
              </a:rPr>
              <a:t>MemoryLab · Grupo 3 · Sistemas Operativos 1</a:t>
            </a:r>
          </a:p>
        </p:txBody>
      </p:sp>
      <p:sp>
        <p:nvSpPr>
          <p:cNvPr id="5" name="">
            <a:extLst xmlns:a="http://schemas.openxmlformats.org/drawingml/2006/main">
              <a:ext uri="{FF2B5EF4-FFF2-40B4-BE49-F238E27FC236}">
                <a16:creationId xmlns:a16="http://schemas.microsoft.com/office/drawing/2014/main" id="{32615BFC-2F78-4F01-AB8B-47ABDFCFBE65}"/>
              </a:ext>
            </a:extLst>
          </p:cNvPr>
          <p:cNvSpPr>
            <a:spLocks xmlns:a="http://schemas.openxmlformats.org/drawingml/2006/main" noGrp="1"/>
          </p:cNvSpPr>
          <p:nvPr/>
        </p:nvSpPr>
        <p:spPr>
          <a:xfrm xmlns:a="http://schemas.openxmlformats.org/drawingml/2006/main">
            <a:off x="11220450" y="64674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350" b="1">
                <a:solidFill>
                  <a:srgbClr val="655CF3"/>
                </a:solidFill>
                <a:latin typeface="Arial"/>
                <a:ea typeface="Arial"/>
                <a:cs typeface="Arial"/>
              </a:defRPr>
            </a:pPr>
            <a:r>
              <a:rPr sz="1350" b="1">
                <a:solidFill>
                  <a:srgbClr val="655CF3"/>
                </a:solidFill>
                <a:latin typeface="Arial"/>
                <a:ea typeface="Arial"/>
                <a:cs typeface="Arial"/>
              </a:rPr>
              <a:t>08</a:t>
            </a:r>
          </a:p>
        </p:txBody>
      </p:sp>
      <p:graphicFrame>
        <p:nvGraphicFramePr>
          <p:cNvPr id="14" name=""/>
          <p:cNvGraphicFramePr/>
          <p:nvPr/>
        </p:nvGraphicFramePr>
        <p:xfrm>
          <a:off xmlns:a="http://schemas.openxmlformats.org/drawingml/2006/main" x="685800" y="1847850"/>
          <a:ext xmlns:a="http://schemas.openxmlformats.org/drawingml/2006/main" cx="10820400" cy="2743200"/>
        </p:xfrm>
        <a:graphic xmlns:a="http://schemas.openxmlformats.org/drawingml/2006/main">
          <a:graphicData uri="http://schemas.openxmlformats.org/drawingml/2006/table">
            <a:tbl>
              <a:tblPr firstRow="1" bandRow="0"/>
              <a:tblGrid>
                <a:gridCol w="7981950"/>
                <a:gridCol w="2838450"/>
              </a:tblGrid>
              <a:tr h="685800">
                <a:tc>
                  <a:txBody>
                    <a:bodyPr>
                      <a:noAutofit/>
                    </a:bodyPr>
                    <a:lstStyle/>
                    <a:p>
                      <a:r>
                        <a:rPr sz="2025" b="1">
                          <a:solidFill>
                            <a:srgbClr val="FFFFFF"/>
                          </a:solidFill>
                          <a:latin typeface="Arial"/>
                          <a:ea typeface="Arial"/>
                          <a:cs typeface="Arial"/>
                        </a:rPr>
                        <a:t>Componente</a:t>
                      </a:r>
                    </a:p>
                  </a:txBody>
                  <a:tcPr marL="152400" marR="133350" marT="114300" marB="95250">
                    <a:solidFill>
                      <a:srgbClr val="655CF3"/>
                    </a:solidFill>
                  </a:tcPr>
                </a:tc>
                <a:tc>
                  <a:txBody>
                    <a:bodyPr>
                      <a:noAutofit/>
                    </a:bodyPr>
                    <a:lstStyle/>
                    <a:p>
                      <a:r>
                        <a:rPr sz="2025" b="1">
                          <a:solidFill>
                            <a:srgbClr val="FFFFFF"/>
                          </a:solidFill>
                          <a:latin typeface="Arial"/>
                          <a:ea typeface="Arial"/>
                          <a:cs typeface="Arial"/>
                        </a:rPr>
                        <a:t>Valor</a:t>
                      </a:r>
                    </a:p>
                  </a:txBody>
                  <a:tcPr marL="152400" marR="133350" marT="114300" marB="95250">
                    <a:solidFill>
                      <a:srgbClr val="655CF3"/>
                    </a:solidFill>
                  </a:tcPr>
                </a:tc>
              </a:tr>
              <a:tr h="685800">
                <a:tc>
                  <a:txBody>
                    <a:bodyPr>
                      <a:noAutofit/>
                    </a:bodyPr>
                    <a:lstStyle/>
                    <a:p>
                      <a:r>
                        <a:rPr sz="2025" b="0">
                          <a:solidFill>
                            <a:srgbClr val="242338"/>
                          </a:solidFill>
                          <a:latin typeface="Arial"/>
                          <a:ea typeface="Arial"/>
                          <a:cs typeface="Arial"/>
                        </a:rPr>
                        <a:t>Página = 1124 ÷ 1024, parte entera</a:t>
                      </a:r>
                    </a:p>
                  </a:txBody>
                  <a:tcPr marL="152400" marR="133350" marT="114300" marB="95250">
                    <a:solidFill>
                      <a:srgbClr val="FFFFFF"/>
                    </a:solidFill>
                  </a:tcPr>
                </a:tc>
                <a:tc>
                  <a:txBody>
                    <a:bodyPr>
                      <a:noAutofit/>
                    </a:bodyPr>
                    <a:lstStyle/>
                    <a:p>
                      <a:r>
                        <a:rPr sz="2025" b="0">
                          <a:solidFill>
                            <a:srgbClr val="242338"/>
                          </a:solidFill>
                          <a:latin typeface="Arial"/>
                          <a:ea typeface="Arial"/>
                          <a:cs typeface="Arial"/>
                        </a:rPr>
                        <a:t>1</a:t>
                      </a:r>
                    </a:p>
                  </a:txBody>
                  <a:tcPr marL="152400" marR="133350" marT="114300" marB="95250">
                    <a:solidFill>
                      <a:srgbClr val="FFFFFF"/>
                    </a:solidFill>
                  </a:tcPr>
                </a:tc>
              </a:tr>
              <a:tr h="685800">
                <a:tc>
                  <a:txBody>
                    <a:bodyPr>
                      <a:noAutofit/>
                    </a:bodyPr>
                    <a:lstStyle/>
                    <a:p>
                      <a:r>
                        <a:rPr sz="2025" b="0">
                          <a:solidFill>
                            <a:srgbClr val="242338"/>
                          </a:solidFill>
                          <a:latin typeface="Arial"/>
                          <a:ea typeface="Arial"/>
                          <a:cs typeface="Arial"/>
                        </a:rPr>
                        <a:t>Desplazamiento = 1124 mod 1024</a:t>
                      </a:r>
                    </a:p>
                  </a:txBody>
                  <a:tcPr marL="152400" marR="133350" marT="114300" marB="95250">
                    <a:solidFill>
                      <a:srgbClr val="F8F8FC"/>
                    </a:solidFill>
                  </a:tcPr>
                </a:tc>
                <a:tc>
                  <a:txBody>
                    <a:bodyPr>
                      <a:noAutofit/>
                    </a:bodyPr>
                    <a:lstStyle/>
                    <a:p>
                      <a:r>
                        <a:rPr sz="2025" b="0">
                          <a:solidFill>
                            <a:srgbClr val="242338"/>
                          </a:solidFill>
                          <a:latin typeface="Arial"/>
                          <a:ea typeface="Arial"/>
                          <a:cs typeface="Arial"/>
                        </a:rPr>
                        <a:t>100 bytes</a:t>
                      </a:r>
                    </a:p>
                  </a:txBody>
                  <a:tcPr marL="152400" marR="133350" marT="114300" marB="95250">
                    <a:solidFill>
                      <a:srgbClr val="F8F8FC"/>
                    </a:solidFill>
                  </a:tcPr>
                </a:tc>
              </a:tr>
              <a:tr h="685800">
                <a:tc>
                  <a:txBody>
                    <a:bodyPr>
                      <a:noAutofit/>
                    </a:bodyPr>
                    <a:lstStyle/>
                    <a:p>
                      <a:r>
                        <a:rPr sz="2025" b="0">
                          <a:solidFill>
                            <a:srgbClr val="242338"/>
                          </a:solidFill>
                          <a:latin typeface="Arial"/>
                          <a:ea typeface="Arial"/>
                          <a:cs typeface="Arial"/>
                        </a:rPr>
                        <a:t>Marco de la página 1</a:t>
                      </a:r>
                    </a:p>
                  </a:txBody>
                  <a:tcPr marL="152400" marR="133350" marT="114300" marB="95250">
                    <a:solidFill>
                      <a:srgbClr val="FFFFFF"/>
                    </a:solidFill>
                  </a:tcPr>
                </a:tc>
                <a:tc>
                  <a:txBody>
                    <a:bodyPr>
                      <a:noAutofit/>
                    </a:bodyPr>
                    <a:lstStyle/>
                    <a:p>
                      <a:r>
                        <a:rPr sz="2025" b="0">
                          <a:solidFill>
                            <a:srgbClr val="242338"/>
                          </a:solidFill>
                          <a:latin typeface="Arial"/>
                          <a:ea typeface="Arial"/>
                          <a:cs typeface="Arial"/>
                        </a:rPr>
                        <a:t>5</a:t>
                      </a:r>
                    </a:p>
                  </a:txBody>
                  <a:tcPr marL="152400" marR="133350" marT="114300" marB="9525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43B33942-E6E4-481E-B07D-B58B1ACA1A6A}"/>
              </a:ext>
            </a:extLst>
          </p:cNvPr>
          <p:cNvSpPr>
            <a:spLocks xmlns:a="http://schemas.openxmlformats.org/drawingml/2006/main" noGrp="1"/>
          </p:cNvSpPr>
          <p:nvPr/>
        </p:nvSpPr>
        <p:spPr>
          <a:xfrm xmlns:a="http://schemas.openxmlformats.org/drawingml/2006/main">
            <a:off x="762000" y="5010150"/>
            <a:ext cx="1066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850" b="1">
                <a:solidFill>
                  <a:srgbClr val="655CF3"/>
                </a:solidFill>
                <a:latin typeface="Arial"/>
                <a:ea typeface="Arial"/>
                <a:cs typeface="Arial"/>
              </a:defRPr>
            </a:pPr>
            <a:r>
              <a:rPr sz="2850" b="1">
                <a:solidFill>
                  <a:srgbClr val="655CF3"/>
                </a:solidFill>
                <a:latin typeface="Arial"/>
                <a:ea typeface="Arial"/>
                <a:cs typeface="Arial"/>
              </a:rPr>
              <a:t>Dirección física = 5 × 1024 + 100 = 5220</a:t>
            </a:r>
          </a:p>
        </p:txBody>
      </p:sp>
      <p:sp>
        <p:nvSpPr>
          <p:cNvPr id="8" name="">
            <a:extLst xmlns:a="http://schemas.openxmlformats.org/drawingml/2006/main">
              <a:ext uri="{FF2B5EF4-FFF2-40B4-BE49-F238E27FC236}">
                <a16:creationId xmlns:a16="http://schemas.microsoft.com/office/drawing/2014/main" id="{C41EB184-D4B3-4877-A10A-19407D79B96C}"/>
              </a:ext>
            </a:extLst>
          </p:cNvPr>
          <p:cNvSpPr>
            <a:spLocks xmlns:a="http://schemas.openxmlformats.org/drawingml/2006/main" noGrp="1"/>
          </p:cNvSpPr>
          <p:nvPr/>
        </p:nvSpPr>
        <p:spPr>
          <a:xfrm xmlns:a="http://schemas.openxmlformats.org/drawingml/2006/main">
            <a:off x="781050" y="581977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a:solidFill>
                  <a:srgbClr val="45445A"/>
                </a:solidFill>
                <a:latin typeface="Arial"/>
                <a:ea typeface="Arial"/>
                <a:cs typeface="Arial"/>
              </a:defRPr>
            </a:pPr>
            <a:r>
              <a:rPr sz="1875">
                <a:solidFill>
                  <a:srgbClr val="45445A"/>
                </a:solidFill>
                <a:latin typeface="Arial"/>
                <a:ea typeface="Arial"/>
                <a:cs typeface="Arial"/>
              </a:rPr>
              <a:t>Se verifica el tamaño real del proceso antes de traducir.</a:t>
            </a:r>
          </a:p>
        </p:txBody>
      </p:sp>
    </p:spTree>
    <p:extLst>
      <p:ext uri="{BB962C8B-B14F-4D97-AF65-F5344CB8AC3E}">
        <p14:creationId xmlns:p14="http://schemas.microsoft.com/office/powerpoint/2010/main" val="136777647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36C33DA-2869-427E-B165-D2D2C30C0A13}"/>
              </a:ext>
            </a:extLst>
          </p:cNvPr>
          <p:cNvSpPr>
            <a:spLocks xmlns:a="http://schemas.openxmlformats.org/drawingml/2006/main" noGrp="1"/>
          </p:cNvSpPr>
          <p:nvPr/>
        </p:nvSpPr>
        <p:spPr>
          <a:xfrm xmlns:a="http://schemas.openxmlformats.org/drawingml/2006/main">
            <a:off x="533400" y="4000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242338"/>
                </a:solidFill>
                <a:latin typeface="Arial"/>
                <a:ea typeface="Arial"/>
                <a:cs typeface="Arial"/>
              </a:defRPr>
            </a:pPr>
            <a:r>
              <a:rPr sz="3450" b="1">
                <a:solidFill>
                  <a:srgbClr val="242338"/>
                </a:solidFill>
                <a:latin typeface="Arial"/>
                <a:ea typeface="Arial"/>
                <a:cs typeface="Arial"/>
              </a:rPr>
              <a:t>Segmentación: base y límite</a:t>
            </a:r>
          </a:p>
        </p:txBody>
      </p:sp>
      <p:sp>
        <p:nvSpPr>
          <p:cNvPr id="2" name="">
            <a:extLst xmlns:a="http://schemas.openxmlformats.org/drawingml/2006/main">
              <a:ext uri="{FF2B5EF4-FFF2-40B4-BE49-F238E27FC236}">
                <a16:creationId xmlns:a16="http://schemas.microsoft.com/office/drawing/2014/main" id="{FBD2D94C-261F-4679-AD96-33A0F47341DA}"/>
              </a:ext>
            </a:extLst>
          </p:cNvPr>
          <p:cNvSpPr>
            <a:spLocks xmlns:a="http://schemas.openxmlformats.org/drawingml/2006/main" noGrp="1"/>
          </p:cNvSpPr>
          <p:nvPr/>
        </p:nvSpPr>
        <p:spPr>
          <a:xfrm xmlns:a="http://schemas.openxmlformats.org/drawingml/2006/main">
            <a:off x="552450" y="11049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a:solidFill>
                  <a:srgbClr val="67667B"/>
                </a:solidFill>
                <a:latin typeface="Arial"/>
                <a:ea typeface="Arial"/>
                <a:cs typeface="Arial"/>
              </a:defRPr>
            </a:pPr>
            <a:r>
              <a:rPr sz="1875">
                <a:solidFill>
                  <a:srgbClr val="67667B"/>
                </a:solidFill>
                <a:latin typeface="Arial"/>
                <a:ea typeface="Arial"/>
                <a:cs typeface="Arial"/>
              </a:rPr>
              <a:t>Segmento Código: base 1000 · tamaño 1200 bytes</a:t>
            </a:r>
          </a:p>
        </p:txBody>
      </p:sp>
      <p:sp>
        <p:nvSpPr>
          <p:cNvPr id="3" name="">
            <a:extLst xmlns:a="http://schemas.openxmlformats.org/drawingml/2006/main">
              <a:ext uri="{FF2B5EF4-FFF2-40B4-BE49-F238E27FC236}">
                <a16:creationId xmlns:a16="http://schemas.microsoft.com/office/drawing/2014/main" id="{0A2E800D-78EA-4996-B341-9871F2986E34}"/>
              </a:ext>
            </a:extLst>
          </p:cNvPr>
          <p:cNvSpPr>
            <a:spLocks xmlns:a="http://schemas.openxmlformats.org/drawingml/2006/main" noGrp="1"/>
          </p:cNvSpPr>
          <p:nvPr/>
        </p:nvSpPr>
        <p:spPr>
          <a:xfrm xmlns:a="http://schemas.openxmlformats.org/drawingml/2006/main">
            <a:off x="533400" y="6334125"/>
            <a:ext cx="11125200" cy="9525"/>
          </a:xfrm>
          <a:prstGeom xmlns:a="http://schemas.openxmlformats.org/drawingml/2006/main" prst="rect">
            <a:avLst/>
          </a:prstGeom>
          <a:solidFill xmlns:a="http://schemas.openxmlformats.org/drawingml/2006/main">
            <a:srgbClr val="DFDFE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7E60B58-10C6-450D-A86A-C79E6A05DD0D}"/>
              </a:ext>
            </a:extLst>
          </p:cNvPr>
          <p:cNvSpPr>
            <a:spLocks xmlns:a="http://schemas.openxmlformats.org/drawingml/2006/main" noGrp="1"/>
          </p:cNvSpPr>
          <p:nvPr/>
        </p:nvSpPr>
        <p:spPr>
          <a:xfrm xmlns:a="http://schemas.openxmlformats.org/drawingml/2006/main">
            <a:off x="533400" y="6486525"/>
            <a:ext cx="9906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a:solidFill>
                  <a:srgbClr val="67667B"/>
                </a:solidFill>
                <a:latin typeface="Arial"/>
                <a:ea typeface="Arial"/>
                <a:cs typeface="Arial"/>
              </a:defRPr>
            </a:pPr>
            <a:r>
              <a:rPr sz="1125">
                <a:solidFill>
                  <a:srgbClr val="67667B"/>
                </a:solidFill>
                <a:latin typeface="Arial"/>
                <a:ea typeface="Arial"/>
                <a:cs typeface="Arial"/>
              </a:rPr>
              <a:t>MemoryLab · Grupo 3 · Sistemas Operativos 1</a:t>
            </a:r>
          </a:p>
        </p:txBody>
      </p:sp>
      <p:sp>
        <p:nvSpPr>
          <p:cNvPr id="5" name="">
            <a:extLst xmlns:a="http://schemas.openxmlformats.org/drawingml/2006/main">
              <a:ext uri="{FF2B5EF4-FFF2-40B4-BE49-F238E27FC236}">
                <a16:creationId xmlns:a16="http://schemas.microsoft.com/office/drawing/2014/main" id="{91121EA4-9063-4E37-A2DF-4AB742D4715D}"/>
              </a:ext>
            </a:extLst>
          </p:cNvPr>
          <p:cNvSpPr>
            <a:spLocks xmlns:a="http://schemas.openxmlformats.org/drawingml/2006/main" noGrp="1"/>
          </p:cNvSpPr>
          <p:nvPr/>
        </p:nvSpPr>
        <p:spPr>
          <a:xfrm xmlns:a="http://schemas.openxmlformats.org/drawingml/2006/main">
            <a:off x="11220450" y="64674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350" b="1">
                <a:solidFill>
                  <a:srgbClr val="655CF3"/>
                </a:solidFill>
                <a:latin typeface="Arial"/>
                <a:ea typeface="Arial"/>
                <a:cs typeface="Arial"/>
              </a:defRPr>
            </a:pPr>
            <a:r>
              <a:rPr sz="1350" b="1">
                <a:solidFill>
                  <a:srgbClr val="655CF3"/>
                </a:solidFill>
                <a:latin typeface="Arial"/>
                <a:ea typeface="Arial"/>
                <a:cs typeface="Arial"/>
              </a:rPr>
              <a:t>09</a:t>
            </a:r>
          </a:p>
        </p:txBody>
      </p:sp>
      <p:graphicFrame>
        <p:nvGraphicFramePr>
          <p:cNvPr id="13" name=""/>
          <p:cNvGraphicFramePr/>
          <p:nvPr/>
        </p:nvGraphicFramePr>
        <p:xfrm>
          <a:off xmlns:a="http://schemas.openxmlformats.org/drawingml/2006/main" x="685800" y="1809750"/>
          <a:ext xmlns:a="http://schemas.openxmlformats.org/drawingml/2006/main" cx="10820400" cy="1857375"/>
        </p:xfrm>
        <a:graphic xmlns:a="http://schemas.openxmlformats.org/drawingml/2006/main">
          <a:graphicData uri="http://schemas.openxmlformats.org/drawingml/2006/table">
            <a:tbl>
              <a:tblPr firstRow="1" bandRow="0"/>
              <a:tblGrid>
                <a:gridCol w="2571750"/>
                <a:gridCol w="2971800"/>
                <a:gridCol w="5276850"/>
              </a:tblGrid>
              <a:tr h="619125">
                <a:tc>
                  <a:txBody>
                    <a:bodyPr>
                      <a:noAutofit/>
                    </a:bodyPr>
                    <a:lstStyle/>
                    <a:p>
                      <a:r>
                        <a:rPr sz="1875" b="1">
                          <a:solidFill>
                            <a:srgbClr val="FFFFFF"/>
                          </a:solidFill>
                          <a:latin typeface="Arial"/>
                          <a:ea typeface="Arial"/>
                          <a:cs typeface="Arial"/>
                        </a:rPr>
                        <a:t>Desplazamiento</a:t>
                      </a:r>
                    </a:p>
                  </a:txBody>
                  <a:tcPr marL="152400" marR="133350" marT="114300" marB="95250">
                    <a:solidFill>
                      <a:srgbClr val="655CF3"/>
                    </a:solidFill>
                  </a:tcPr>
                </a:tc>
                <a:tc>
                  <a:txBody>
                    <a:bodyPr>
                      <a:noAutofit/>
                    </a:bodyPr>
                    <a:lstStyle/>
                    <a:p>
                      <a:r>
                        <a:rPr sz="1875" b="1">
                          <a:solidFill>
                            <a:srgbClr val="FFFFFF"/>
                          </a:solidFill>
                          <a:latin typeface="Arial"/>
                          <a:ea typeface="Arial"/>
                          <a:cs typeface="Arial"/>
                        </a:rPr>
                        <a:t>Comprobación</a:t>
                      </a:r>
                    </a:p>
                  </a:txBody>
                  <a:tcPr marL="152400" marR="133350" marT="114300" marB="95250">
                    <a:solidFill>
                      <a:srgbClr val="655CF3"/>
                    </a:solidFill>
                  </a:tcPr>
                </a:tc>
                <a:tc>
                  <a:txBody>
                    <a:bodyPr>
                      <a:noAutofit/>
                    </a:bodyPr>
                    <a:lstStyle/>
                    <a:p>
                      <a:r>
                        <a:rPr sz="1875" b="1">
                          <a:solidFill>
                            <a:srgbClr val="FFFFFF"/>
                          </a:solidFill>
                          <a:latin typeface="Arial"/>
                          <a:ea typeface="Arial"/>
                          <a:cs typeface="Arial"/>
                        </a:rPr>
                        <a:t>Resultado</a:t>
                      </a:r>
                    </a:p>
                  </a:txBody>
                  <a:tcPr marL="152400" marR="133350" marT="114300" marB="95250">
                    <a:solidFill>
                      <a:srgbClr val="655CF3"/>
                    </a:solidFill>
                  </a:tcPr>
                </a:tc>
              </a:tr>
              <a:tr h="619125">
                <a:tc>
                  <a:txBody>
                    <a:bodyPr>
                      <a:noAutofit/>
                    </a:bodyPr>
                    <a:lstStyle/>
                    <a:p>
                      <a:r>
                        <a:rPr sz="1875" b="0">
                          <a:solidFill>
                            <a:srgbClr val="242338"/>
                          </a:solidFill>
                          <a:latin typeface="Arial"/>
                          <a:ea typeface="Arial"/>
                          <a:cs typeface="Arial"/>
                        </a:rPr>
                        <a:t>100</a:t>
                      </a:r>
                    </a:p>
                  </a:txBody>
                  <a:tcPr marL="152400" marR="133350" marT="114300" marB="95250">
                    <a:solidFill>
                      <a:srgbClr val="FFFFFF"/>
                    </a:solidFill>
                  </a:tcPr>
                </a:tc>
                <a:tc>
                  <a:txBody>
                    <a:bodyPr>
                      <a:noAutofit/>
                    </a:bodyPr>
                    <a:lstStyle/>
                    <a:p>
                      <a:r>
                        <a:rPr sz="1875" b="0">
                          <a:solidFill>
                            <a:srgbClr val="242338"/>
                          </a:solidFill>
                          <a:latin typeface="Arial"/>
                          <a:ea typeface="Arial"/>
                          <a:cs typeface="Arial"/>
                        </a:rPr>
                        <a:t>100 &lt; 1200</a:t>
                      </a:r>
                    </a:p>
                  </a:txBody>
                  <a:tcPr marL="152400" marR="133350" marT="114300" marB="95250">
                    <a:solidFill>
                      <a:srgbClr val="FFFFFF"/>
                    </a:solidFill>
                  </a:tcPr>
                </a:tc>
                <a:tc>
                  <a:txBody>
                    <a:bodyPr>
                      <a:noAutofit/>
                    </a:bodyPr>
                    <a:lstStyle/>
                    <a:p>
                      <a:r>
                        <a:rPr sz="1875" b="0">
                          <a:solidFill>
                            <a:srgbClr val="242338"/>
                          </a:solidFill>
                          <a:latin typeface="Arial"/>
                          <a:ea typeface="Arial"/>
                          <a:cs typeface="Arial"/>
                        </a:rPr>
                        <a:t>Física = 1000 + 100 = 1100</a:t>
                      </a:r>
                    </a:p>
                  </a:txBody>
                  <a:tcPr marL="152400" marR="133350" marT="114300" marB="95250">
                    <a:solidFill>
                      <a:srgbClr val="FFFFFF"/>
                    </a:solidFill>
                  </a:tcPr>
                </a:tc>
              </a:tr>
              <a:tr h="619125">
                <a:tc>
                  <a:txBody>
                    <a:bodyPr>
                      <a:noAutofit/>
                    </a:bodyPr>
                    <a:lstStyle/>
                    <a:p>
                      <a:r>
                        <a:rPr sz="1875" b="0">
                          <a:solidFill>
                            <a:srgbClr val="242338"/>
                          </a:solidFill>
                          <a:latin typeface="Arial"/>
                          <a:ea typeface="Arial"/>
                          <a:cs typeface="Arial"/>
                        </a:rPr>
                        <a:t>1200</a:t>
                      </a:r>
                    </a:p>
                  </a:txBody>
                  <a:tcPr marL="152400" marR="133350" marT="114300" marB="95250">
                    <a:solidFill>
                      <a:srgbClr val="F8F8FC"/>
                    </a:solidFill>
                  </a:tcPr>
                </a:tc>
                <a:tc>
                  <a:txBody>
                    <a:bodyPr>
                      <a:noAutofit/>
                    </a:bodyPr>
                    <a:lstStyle/>
                    <a:p>
                      <a:r>
                        <a:rPr sz="1875" b="0">
                          <a:solidFill>
                            <a:srgbClr val="242338"/>
                          </a:solidFill>
                          <a:latin typeface="Arial"/>
                          <a:ea typeface="Arial"/>
                          <a:cs typeface="Arial"/>
                        </a:rPr>
                        <a:t>1200 ≥ 1200</a:t>
                      </a:r>
                    </a:p>
                  </a:txBody>
                  <a:tcPr marL="152400" marR="133350" marT="114300" marB="95250">
                    <a:solidFill>
                      <a:srgbClr val="F8F8FC"/>
                    </a:solidFill>
                  </a:tcPr>
                </a:tc>
                <a:tc>
                  <a:txBody>
                    <a:bodyPr>
                      <a:noAutofit/>
                    </a:bodyPr>
                    <a:lstStyle/>
                    <a:p>
                      <a:r>
                        <a:rPr sz="1875" b="0">
                          <a:solidFill>
                            <a:srgbClr val="242338"/>
                          </a:solidFill>
                          <a:latin typeface="Arial"/>
                          <a:ea typeface="Arial"/>
                          <a:cs typeface="Arial"/>
                        </a:rPr>
                        <a:t>SEGMENTATION_FAULT</a:t>
                      </a:r>
                    </a:p>
                  </a:txBody>
                  <a:tcPr marL="152400" marR="133350" marT="114300" marB="95250">
                    <a:solidFill>
                      <a:srgbClr val="F8F8FC"/>
                    </a:solidFill>
                  </a:tcPr>
                </a:tc>
              </a:tr>
            </a:tbl>
          </a:graphicData>
        </a:graphic>
      </p:graphicFrame>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578d058b9684a46"/>
          <a:srcRect xmlns:a="http://schemas.openxmlformats.org/drawingml/2006/main" l="22500" t="85000" r="2500" b="4600"/>
          <a:stretch xmlns:a="http://schemas.openxmlformats.org/drawingml/2006/main"/>
        </p:blipFill>
        <p:spPr>
          <a:xfrm xmlns:a="http://schemas.openxmlformats.org/drawingml/2006/main">
            <a:off x="695325" y="3981524"/>
            <a:ext cx="10810875" cy="2057251"/>
          </a:xfrm>
          <a:prstGeom xmlns:a="http://schemas.openxmlformats.org/drawingml/2006/main" prst="rect">
            <a:avLst/>
          </a:prstGeom>
        </p:spPr>
      </p:pic>
    </p:spTree>
    <p:extLst>
      <p:ext uri="{BB962C8B-B14F-4D97-AF65-F5344CB8AC3E}">
        <p14:creationId xmlns:p14="http://schemas.microsoft.com/office/powerpoint/2010/main" val="75619329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5316E0C-5B2D-42C9-AB13-F16F11CA7691}"/>
              </a:ext>
            </a:extLst>
          </p:cNvPr>
          <p:cNvSpPr>
            <a:spLocks xmlns:a="http://schemas.openxmlformats.org/drawingml/2006/main" noGrp="1"/>
          </p:cNvSpPr>
          <p:nvPr/>
        </p:nvSpPr>
        <p:spPr>
          <a:xfrm xmlns:a="http://schemas.openxmlformats.org/drawingml/2006/main">
            <a:off x="533400" y="4000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242338"/>
                </a:solidFill>
                <a:latin typeface="Arial"/>
                <a:ea typeface="Arial"/>
                <a:cs typeface="Arial"/>
              </a:defRPr>
            </a:pPr>
            <a:r>
              <a:rPr sz="3450" b="1">
                <a:solidFill>
                  <a:srgbClr val="242338"/>
                </a:solidFill>
                <a:latin typeface="Arial"/>
                <a:ea typeface="Arial"/>
                <a:cs typeface="Arial"/>
              </a:rPr>
              <a:t>Comparación con la misma RAM</a:t>
            </a:r>
          </a:p>
        </p:txBody>
      </p:sp>
      <p:sp>
        <p:nvSpPr>
          <p:cNvPr id="2" name="">
            <a:extLst xmlns:a="http://schemas.openxmlformats.org/drawingml/2006/main">
              <a:ext uri="{FF2B5EF4-FFF2-40B4-BE49-F238E27FC236}">
                <a16:creationId xmlns:a16="http://schemas.microsoft.com/office/drawing/2014/main" id="{BF8CB4E7-0582-4CF4-A1E2-C5F7AD8D5158}"/>
              </a:ext>
            </a:extLst>
          </p:cNvPr>
          <p:cNvSpPr>
            <a:spLocks xmlns:a="http://schemas.openxmlformats.org/drawingml/2006/main" noGrp="1"/>
          </p:cNvSpPr>
          <p:nvPr/>
        </p:nvSpPr>
        <p:spPr>
          <a:xfrm xmlns:a="http://schemas.openxmlformats.org/drawingml/2006/main">
            <a:off x="552450" y="11049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a:solidFill>
                  <a:srgbClr val="67667B"/>
                </a:solidFill>
                <a:latin typeface="Arial"/>
                <a:ea typeface="Arial"/>
                <a:cs typeface="Arial"/>
              </a:defRPr>
            </a:pPr>
            <a:r>
              <a:rPr sz="1875">
                <a:solidFill>
                  <a:srgbClr val="67667B"/>
                </a:solidFill>
                <a:latin typeface="Arial"/>
                <a:ea typeface="Arial"/>
                <a:cs typeface="Arial"/>
              </a:rPr>
              <a:t>Solicitud de 7168 bytes · RAM de 16 KB · 9 KB libres</a:t>
            </a:r>
          </a:p>
        </p:txBody>
      </p:sp>
      <p:sp>
        <p:nvSpPr>
          <p:cNvPr id="3" name="">
            <a:extLst xmlns:a="http://schemas.openxmlformats.org/drawingml/2006/main">
              <a:ext uri="{FF2B5EF4-FFF2-40B4-BE49-F238E27FC236}">
                <a16:creationId xmlns:a16="http://schemas.microsoft.com/office/drawing/2014/main" id="{23F388C3-6D01-4315-826E-88C896DBEC99}"/>
              </a:ext>
            </a:extLst>
          </p:cNvPr>
          <p:cNvSpPr>
            <a:spLocks xmlns:a="http://schemas.openxmlformats.org/drawingml/2006/main" noGrp="1"/>
          </p:cNvSpPr>
          <p:nvPr/>
        </p:nvSpPr>
        <p:spPr>
          <a:xfrm xmlns:a="http://schemas.openxmlformats.org/drawingml/2006/main">
            <a:off x="533400" y="6334125"/>
            <a:ext cx="11125200" cy="9525"/>
          </a:xfrm>
          <a:prstGeom xmlns:a="http://schemas.openxmlformats.org/drawingml/2006/main" prst="rect">
            <a:avLst/>
          </a:prstGeom>
          <a:solidFill xmlns:a="http://schemas.openxmlformats.org/drawingml/2006/main">
            <a:srgbClr val="DFDFE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396FA68-EA4C-4A82-B4EA-AEF1C287BE85}"/>
              </a:ext>
            </a:extLst>
          </p:cNvPr>
          <p:cNvSpPr>
            <a:spLocks xmlns:a="http://schemas.openxmlformats.org/drawingml/2006/main" noGrp="1"/>
          </p:cNvSpPr>
          <p:nvPr/>
        </p:nvSpPr>
        <p:spPr>
          <a:xfrm xmlns:a="http://schemas.openxmlformats.org/drawingml/2006/main">
            <a:off x="533400" y="6486525"/>
            <a:ext cx="9906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a:solidFill>
                  <a:srgbClr val="67667B"/>
                </a:solidFill>
                <a:latin typeface="Arial"/>
                <a:ea typeface="Arial"/>
                <a:cs typeface="Arial"/>
              </a:defRPr>
            </a:pPr>
            <a:r>
              <a:rPr sz="1125">
                <a:solidFill>
                  <a:srgbClr val="67667B"/>
                </a:solidFill>
                <a:latin typeface="Arial"/>
                <a:ea typeface="Arial"/>
                <a:cs typeface="Arial"/>
              </a:rPr>
              <a:t>MemoryLab · Grupo 3 · Sistemas Operativos 1</a:t>
            </a:r>
          </a:p>
        </p:txBody>
      </p:sp>
      <p:sp>
        <p:nvSpPr>
          <p:cNvPr id="5" name="">
            <a:extLst xmlns:a="http://schemas.openxmlformats.org/drawingml/2006/main">
              <a:ext uri="{FF2B5EF4-FFF2-40B4-BE49-F238E27FC236}">
                <a16:creationId xmlns:a16="http://schemas.microsoft.com/office/drawing/2014/main" id="{6EF68257-82C8-48E3-9DE0-B6CE5CD21A73}"/>
              </a:ext>
            </a:extLst>
          </p:cNvPr>
          <p:cNvSpPr>
            <a:spLocks xmlns:a="http://schemas.openxmlformats.org/drawingml/2006/main" noGrp="1"/>
          </p:cNvSpPr>
          <p:nvPr/>
        </p:nvSpPr>
        <p:spPr>
          <a:xfrm xmlns:a="http://schemas.openxmlformats.org/drawingml/2006/main">
            <a:off x="11220450" y="64674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350" b="1">
                <a:solidFill>
                  <a:srgbClr val="655CF3"/>
                </a:solidFill>
                <a:latin typeface="Arial"/>
                <a:ea typeface="Arial"/>
                <a:cs typeface="Arial"/>
              </a:defRPr>
            </a:pPr>
            <a:r>
              <a:rPr sz="1350" b="1">
                <a:solidFill>
                  <a:srgbClr val="655CF3"/>
                </a:solidFill>
                <a:latin typeface="Arial"/>
                <a:ea typeface="Arial"/>
                <a:cs typeface="Arial"/>
              </a:rPr>
              <a:t>10</a:t>
            </a:r>
          </a:p>
        </p:txBody>
      </p:sp>
      <p:sp>
        <p:nvSpPr>
          <p:cNvPr id="6" name="">
            <a:extLst xmlns:a="http://schemas.openxmlformats.org/drawingml/2006/main">
              <a:ext uri="{FF2B5EF4-FFF2-40B4-BE49-F238E27FC236}">
                <a16:creationId xmlns:a16="http://schemas.microsoft.com/office/drawing/2014/main" id="{136795F8-30B4-4F7E-BA1E-D0B62D561D00}"/>
              </a:ext>
            </a:extLst>
          </p:cNvPr>
          <p:cNvSpPr>
            <a:spLocks xmlns:a="http://schemas.openxmlformats.org/drawingml/2006/main" noGrp="1"/>
          </p:cNvSpPr>
          <p:nvPr/>
        </p:nvSpPr>
        <p:spPr>
          <a:xfrm xmlns:a="http://schemas.openxmlformats.org/drawingml/2006/main">
            <a:off x="695325" y="1752600"/>
            <a:ext cx="10810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a:solidFill>
                  <a:srgbClr val="45445A"/>
                </a:solidFill>
                <a:latin typeface="Arial"/>
                <a:ea typeface="Arial"/>
                <a:cs typeface="Arial"/>
              </a:defRPr>
            </a:pPr>
            <a:r>
              <a:rPr sz="2025">
                <a:solidFill>
                  <a:srgbClr val="45445A"/>
                </a:solidFill>
                <a:latin typeface="Arial"/>
                <a:ea typeface="Arial"/>
                <a:cs typeface="Arial"/>
              </a:rPr>
              <a:t>Huecos disponibles: 3 KB y 6 KB. El mayor bloque libre mide 6 KB.</a:t>
            </a:r>
          </a:p>
        </p:txBody>
      </p:sp>
      <p:graphicFrame>
        <p:nvGraphicFramePr>
          <p:cNvPr id="16" name=""/>
          <p:cNvGraphicFramePr/>
          <p:nvPr/>
        </p:nvGraphicFramePr>
        <p:xfrm>
          <a:off xmlns:a="http://schemas.openxmlformats.org/drawingml/2006/main" x="685800" y="2428875"/>
          <a:ext xmlns:a="http://schemas.openxmlformats.org/drawingml/2006/main" cx="10820400" cy="2552700"/>
        </p:xfrm>
        <a:graphic xmlns:a="http://schemas.openxmlformats.org/drawingml/2006/main">
          <a:graphicData uri="http://schemas.openxmlformats.org/drawingml/2006/table">
            <a:tbl>
              <a:tblPr firstRow="1" bandRow="0"/>
              <a:tblGrid>
                <a:gridCol w="2552700"/>
                <a:gridCol w="3038475"/>
                <a:gridCol w="2581275"/>
                <a:gridCol w="2647950"/>
              </a:tblGrid>
              <a:tr h="638175">
                <a:tc>
                  <a:txBody>
                    <a:bodyPr>
                      <a:noAutofit/>
                    </a:bodyPr>
                    <a:lstStyle/>
                    <a:p>
                      <a:r>
                        <a:rPr sz="1875" b="1">
                          <a:solidFill>
                            <a:srgbClr val="FFFFFF"/>
                          </a:solidFill>
                          <a:latin typeface="Arial"/>
                          <a:ea typeface="Arial"/>
                          <a:cs typeface="Arial"/>
                        </a:rPr>
                        <a:t>Técnica</a:t>
                      </a:r>
                    </a:p>
                  </a:txBody>
                  <a:tcPr marL="152400" marR="133350" marT="114300" marB="95250">
                    <a:solidFill>
                      <a:srgbClr val="655CF3"/>
                    </a:solidFill>
                  </a:tcPr>
                </a:tc>
                <a:tc>
                  <a:txBody>
                    <a:bodyPr>
                      <a:noAutofit/>
                    </a:bodyPr>
                    <a:lstStyle/>
                    <a:p>
                      <a:r>
                        <a:rPr sz="1875" b="1">
                          <a:solidFill>
                            <a:srgbClr val="FFFFFF"/>
                          </a:solidFill>
                          <a:latin typeface="Arial"/>
                          <a:ea typeface="Arial"/>
                          <a:cs typeface="Arial"/>
                        </a:rPr>
                        <a:t>¿Acepta?</a:t>
                      </a:r>
                    </a:p>
                  </a:txBody>
                  <a:tcPr marL="152400" marR="133350" marT="114300" marB="95250">
                    <a:solidFill>
                      <a:srgbClr val="655CF3"/>
                    </a:solidFill>
                  </a:tcPr>
                </a:tc>
                <a:tc>
                  <a:txBody>
                    <a:bodyPr>
                      <a:noAutofit/>
                    </a:bodyPr>
                    <a:lstStyle/>
                    <a:p>
                      <a:r>
                        <a:rPr sz="1875" b="1">
                          <a:solidFill>
                            <a:srgbClr val="FFFFFF"/>
                          </a:solidFill>
                          <a:latin typeface="Arial"/>
                          <a:ea typeface="Arial"/>
                          <a:cs typeface="Arial"/>
                        </a:rPr>
                        <a:t>Reserva nueva</a:t>
                      </a:r>
                    </a:p>
                  </a:txBody>
                  <a:tcPr marL="152400" marR="133350" marT="114300" marB="95250">
                    <a:solidFill>
                      <a:srgbClr val="655CF3"/>
                    </a:solidFill>
                  </a:tcPr>
                </a:tc>
                <a:tc>
                  <a:txBody>
                    <a:bodyPr>
                      <a:noAutofit/>
                    </a:bodyPr>
                    <a:lstStyle/>
                    <a:p>
                      <a:r>
                        <a:rPr sz="1875" b="1">
                          <a:solidFill>
                            <a:srgbClr val="FFFFFF"/>
                          </a:solidFill>
                          <a:latin typeface="Arial"/>
                          <a:ea typeface="Arial"/>
                          <a:cs typeface="Arial"/>
                        </a:rPr>
                        <a:t>RAM libre final</a:t>
                      </a:r>
                    </a:p>
                  </a:txBody>
                  <a:tcPr marL="152400" marR="133350" marT="114300" marB="95250">
                    <a:solidFill>
                      <a:srgbClr val="655CF3"/>
                    </a:solidFill>
                  </a:tcPr>
                </a:tc>
              </a:tr>
              <a:tr h="638175">
                <a:tc>
                  <a:txBody>
                    <a:bodyPr>
                      <a:noAutofit/>
                    </a:bodyPr>
                    <a:lstStyle/>
                    <a:p>
                      <a:r>
                        <a:rPr sz="1875" b="0">
                          <a:solidFill>
                            <a:srgbClr val="242338"/>
                          </a:solidFill>
                          <a:latin typeface="Arial"/>
                          <a:ea typeface="Arial"/>
                          <a:cs typeface="Arial"/>
                        </a:rPr>
                        <a:t>Contigua</a:t>
                      </a:r>
                    </a:p>
                  </a:txBody>
                  <a:tcPr marL="152400" marR="133350" marT="114300" marB="95250">
                    <a:solidFill>
                      <a:srgbClr val="FFFFFF"/>
                    </a:solidFill>
                  </a:tcPr>
                </a:tc>
                <a:tc>
                  <a:txBody>
                    <a:bodyPr>
                      <a:noAutofit/>
                    </a:bodyPr>
                    <a:lstStyle/>
                    <a:p>
                      <a:r>
                        <a:rPr sz="1875" b="0">
                          <a:solidFill>
                            <a:srgbClr val="242338"/>
                          </a:solidFill>
                          <a:latin typeface="Arial"/>
                          <a:ea typeface="Arial"/>
                          <a:cs typeface="Arial"/>
                        </a:rPr>
                        <a:t>No</a:t>
                      </a:r>
                    </a:p>
                  </a:txBody>
                  <a:tcPr marL="152400" marR="133350" marT="114300" marB="95250">
                    <a:solidFill>
                      <a:srgbClr val="FFFFFF"/>
                    </a:solidFill>
                  </a:tcPr>
                </a:tc>
                <a:tc>
                  <a:txBody>
                    <a:bodyPr>
                      <a:noAutofit/>
                    </a:bodyPr>
                    <a:lstStyle/>
                    <a:p>
                      <a:r>
                        <a:rPr sz="1875" b="0">
                          <a:solidFill>
                            <a:srgbClr val="242338"/>
                          </a:solidFill>
                          <a:latin typeface="Arial"/>
                          <a:ea typeface="Arial"/>
                          <a:cs typeface="Arial"/>
                        </a:rPr>
                        <a:t>0 bytes</a:t>
                      </a:r>
                    </a:p>
                  </a:txBody>
                  <a:tcPr marL="152400" marR="133350" marT="114300" marB="95250">
                    <a:solidFill>
                      <a:srgbClr val="FFFFFF"/>
                    </a:solidFill>
                  </a:tcPr>
                </a:tc>
                <a:tc>
                  <a:txBody>
                    <a:bodyPr>
                      <a:noAutofit/>
                    </a:bodyPr>
                    <a:lstStyle/>
                    <a:p>
                      <a:r>
                        <a:rPr sz="1875" b="0">
                          <a:solidFill>
                            <a:srgbClr val="242338"/>
                          </a:solidFill>
                          <a:latin typeface="Arial"/>
                          <a:ea typeface="Arial"/>
                          <a:cs typeface="Arial"/>
                        </a:rPr>
                        <a:t>9216 bytes</a:t>
                      </a:r>
                    </a:p>
                  </a:txBody>
                  <a:tcPr marL="152400" marR="133350" marT="114300" marB="95250">
                    <a:solidFill>
                      <a:srgbClr val="FFFFFF"/>
                    </a:solidFill>
                  </a:tcPr>
                </a:tc>
              </a:tr>
              <a:tr h="638175">
                <a:tc>
                  <a:txBody>
                    <a:bodyPr>
                      <a:noAutofit/>
                    </a:bodyPr>
                    <a:lstStyle/>
                    <a:p>
                      <a:r>
                        <a:rPr sz="1875" b="0">
                          <a:solidFill>
                            <a:srgbClr val="242338"/>
                          </a:solidFill>
                          <a:latin typeface="Arial"/>
                          <a:ea typeface="Arial"/>
                          <a:cs typeface="Arial"/>
                        </a:rPr>
                        <a:t>Paginación</a:t>
                      </a:r>
                    </a:p>
                  </a:txBody>
                  <a:tcPr marL="152400" marR="133350" marT="114300" marB="95250">
                    <a:solidFill>
                      <a:srgbClr val="F8F8FC"/>
                    </a:solidFill>
                  </a:tcPr>
                </a:tc>
                <a:tc>
                  <a:txBody>
                    <a:bodyPr>
                      <a:noAutofit/>
                    </a:bodyPr>
                    <a:lstStyle/>
                    <a:p>
                      <a:r>
                        <a:rPr sz="1875" b="0">
                          <a:solidFill>
                            <a:srgbClr val="242338"/>
                          </a:solidFill>
                          <a:latin typeface="Arial"/>
                          <a:ea typeface="Arial"/>
                          <a:cs typeface="Arial"/>
                        </a:rPr>
                        <a:t>Sí: 7 páginas</a:t>
                      </a:r>
                    </a:p>
                  </a:txBody>
                  <a:tcPr marL="152400" marR="133350" marT="114300" marB="95250">
                    <a:solidFill>
                      <a:srgbClr val="F8F8FC"/>
                    </a:solidFill>
                  </a:tcPr>
                </a:tc>
                <a:tc>
                  <a:txBody>
                    <a:bodyPr>
                      <a:noAutofit/>
                    </a:bodyPr>
                    <a:lstStyle/>
                    <a:p>
                      <a:r>
                        <a:rPr sz="1875" b="0">
                          <a:solidFill>
                            <a:srgbClr val="242338"/>
                          </a:solidFill>
                          <a:latin typeface="Arial"/>
                          <a:ea typeface="Arial"/>
                          <a:cs typeface="Arial"/>
                        </a:rPr>
                        <a:t>7168 bytes</a:t>
                      </a:r>
                    </a:p>
                  </a:txBody>
                  <a:tcPr marL="152400" marR="133350" marT="114300" marB="95250">
                    <a:solidFill>
                      <a:srgbClr val="F8F8FC"/>
                    </a:solidFill>
                  </a:tcPr>
                </a:tc>
                <a:tc>
                  <a:txBody>
                    <a:bodyPr>
                      <a:noAutofit/>
                    </a:bodyPr>
                    <a:lstStyle/>
                    <a:p>
                      <a:r>
                        <a:rPr sz="1875" b="0">
                          <a:solidFill>
                            <a:srgbClr val="242338"/>
                          </a:solidFill>
                          <a:latin typeface="Arial"/>
                          <a:ea typeface="Arial"/>
                          <a:cs typeface="Arial"/>
                        </a:rPr>
                        <a:t>2048 bytes</a:t>
                      </a:r>
                    </a:p>
                  </a:txBody>
                  <a:tcPr marL="152400" marR="133350" marT="114300" marB="95250">
                    <a:solidFill>
                      <a:srgbClr val="F8F8FC"/>
                    </a:solidFill>
                  </a:tcPr>
                </a:tc>
              </a:tr>
              <a:tr h="638175">
                <a:tc>
                  <a:txBody>
                    <a:bodyPr>
                      <a:noAutofit/>
                    </a:bodyPr>
                    <a:lstStyle/>
                    <a:p>
                      <a:r>
                        <a:rPr sz="1875" b="0">
                          <a:solidFill>
                            <a:srgbClr val="242338"/>
                          </a:solidFill>
                          <a:latin typeface="Arial"/>
                          <a:ea typeface="Arial"/>
                          <a:cs typeface="Arial"/>
                        </a:rPr>
                        <a:t>Segmentación</a:t>
                      </a:r>
                    </a:p>
                  </a:txBody>
                  <a:tcPr marL="152400" marR="133350" marT="114300" marB="95250">
                    <a:solidFill>
                      <a:srgbClr val="FFFFFF"/>
                    </a:solidFill>
                  </a:tcPr>
                </a:tc>
                <a:tc>
                  <a:txBody>
                    <a:bodyPr>
                      <a:noAutofit/>
                    </a:bodyPr>
                    <a:lstStyle/>
                    <a:p>
                      <a:r>
                        <a:rPr sz="1875" b="0">
                          <a:solidFill>
                            <a:srgbClr val="242338"/>
                          </a:solidFill>
                          <a:latin typeface="Arial"/>
                          <a:ea typeface="Arial"/>
                          <a:cs typeface="Arial"/>
                        </a:rPr>
                        <a:t>Sí: 2 segmentos</a:t>
                      </a:r>
                    </a:p>
                  </a:txBody>
                  <a:tcPr marL="152400" marR="133350" marT="114300" marB="95250">
                    <a:solidFill>
                      <a:srgbClr val="FFFFFF"/>
                    </a:solidFill>
                  </a:tcPr>
                </a:tc>
                <a:tc>
                  <a:txBody>
                    <a:bodyPr>
                      <a:noAutofit/>
                    </a:bodyPr>
                    <a:lstStyle/>
                    <a:p>
                      <a:r>
                        <a:rPr sz="1875" b="0">
                          <a:solidFill>
                            <a:srgbClr val="242338"/>
                          </a:solidFill>
                          <a:latin typeface="Arial"/>
                          <a:ea typeface="Arial"/>
                          <a:cs typeface="Arial"/>
                        </a:rPr>
                        <a:t>7168 bytes</a:t>
                      </a:r>
                    </a:p>
                  </a:txBody>
                  <a:tcPr marL="152400" marR="133350" marT="114300" marB="95250">
                    <a:solidFill>
                      <a:srgbClr val="FFFFFF"/>
                    </a:solidFill>
                  </a:tcPr>
                </a:tc>
                <a:tc>
                  <a:txBody>
                    <a:bodyPr>
                      <a:noAutofit/>
                    </a:bodyPr>
                    <a:lstStyle/>
                    <a:p>
                      <a:r>
                        <a:rPr sz="1875" b="0">
                          <a:solidFill>
                            <a:srgbClr val="242338"/>
                          </a:solidFill>
                          <a:latin typeface="Arial"/>
                          <a:ea typeface="Arial"/>
                          <a:cs typeface="Arial"/>
                        </a:rPr>
                        <a:t>2048 bytes</a:t>
                      </a:r>
                    </a:p>
                  </a:txBody>
                  <a:tcPr marL="152400" marR="133350" marT="114300" marB="95250">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CBC0065A-8092-4C13-98F6-497E7AF15676}"/>
              </a:ext>
            </a:extLst>
          </p:cNvPr>
          <p:cNvSpPr>
            <a:spLocks xmlns:a="http://schemas.openxmlformats.org/drawingml/2006/main" noGrp="1"/>
          </p:cNvSpPr>
          <p:nvPr/>
        </p:nvSpPr>
        <p:spPr>
          <a:xfrm xmlns:a="http://schemas.openxmlformats.org/drawingml/2006/main">
            <a:off x="742950" y="5219700"/>
            <a:ext cx="10458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242338"/>
                </a:solidFill>
                <a:latin typeface="Arial"/>
                <a:ea typeface="Arial"/>
                <a:cs typeface="Arial"/>
              </a:defRPr>
            </a:pPr>
            <a:r>
              <a:rPr sz="2175" b="1">
                <a:solidFill>
                  <a:srgbClr val="242338"/>
                </a:solidFill>
                <a:latin typeface="Arial"/>
                <a:ea typeface="Arial"/>
                <a:cs typeface="Arial"/>
              </a:rPr>
              <a:t>Contigua exige un bloque de 7 KB.</a:t>
            </a:r>
          </a:p>
        </p:txBody>
      </p:sp>
      <p:sp>
        <p:nvSpPr>
          <p:cNvPr id="9" name="">
            <a:extLst xmlns:a="http://schemas.openxmlformats.org/drawingml/2006/main">
              <a:ext uri="{FF2B5EF4-FFF2-40B4-BE49-F238E27FC236}">
                <a16:creationId xmlns:a16="http://schemas.microsoft.com/office/drawing/2014/main" id="{C4F27564-0634-4404-A178-383BD1D7BB6C}"/>
              </a:ext>
            </a:extLst>
          </p:cNvPr>
          <p:cNvSpPr>
            <a:spLocks xmlns:a="http://schemas.openxmlformats.org/drawingml/2006/main" noGrp="1"/>
          </p:cNvSpPr>
          <p:nvPr/>
        </p:nvSpPr>
        <p:spPr>
          <a:xfrm xmlns:a="http://schemas.openxmlformats.org/drawingml/2006/main">
            <a:off x="742950" y="5676900"/>
            <a:ext cx="106394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a:solidFill>
                  <a:srgbClr val="45445A"/>
                </a:solidFill>
                <a:latin typeface="Arial"/>
                <a:ea typeface="Arial"/>
                <a:cs typeface="Arial"/>
              </a:defRPr>
            </a:pPr>
            <a:r>
              <a:rPr sz="1875">
                <a:solidFill>
                  <a:srgbClr val="45445A"/>
                </a:solidFill>
                <a:latin typeface="Arial"/>
                <a:ea typeface="Arial"/>
                <a:cs typeface="Arial"/>
              </a:rPr>
              <a:t>Páginas de 1 KB y segmentos Código de 4 KB + Datos de 3 KB aprovechan los huecos separados.</a:t>
            </a:r>
          </a:p>
        </p:txBody>
      </p:sp>
    </p:spTree>
    <p:extLst>
      <p:ext uri="{BB962C8B-B14F-4D97-AF65-F5344CB8AC3E}">
        <p14:creationId xmlns:p14="http://schemas.microsoft.com/office/powerpoint/2010/main" val="15349937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158209E-07C0-4C88-91C8-C851ED801904}"/>
              </a:ext>
            </a:extLst>
          </p:cNvPr>
          <p:cNvSpPr>
            <a:spLocks xmlns:a="http://schemas.openxmlformats.org/drawingml/2006/main" noGrp="1"/>
          </p:cNvSpPr>
          <p:nvPr/>
        </p:nvSpPr>
        <p:spPr>
          <a:xfrm xmlns:a="http://schemas.openxmlformats.org/drawingml/2006/main">
            <a:off x="533400" y="4000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242338"/>
                </a:solidFill>
                <a:latin typeface="Arial"/>
                <a:ea typeface="Arial"/>
                <a:cs typeface="Arial"/>
              </a:defRPr>
            </a:pPr>
            <a:r>
              <a:rPr sz="3450" b="1">
                <a:solidFill>
                  <a:srgbClr val="242338"/>
                </a:solidFill>
                <a:latin typeface="Arial"/>
                <a:ea typeface="Arial"/>
                <a:cs typeface="Arial"/>
              </a:rPr>
              <a:t>Roles y verificación del proyecto</a:t>
            </a:r>
          </a:p>
        </p:txBody>
      </p:sp>
      <p:sp>
        <p:nvSpPr>
          <p:cNvPr id="2" name="">
            <a:extLst xmlns:a="http://schemas.openxmlformats.org/drawingml/2006/main">
              <a:ext uri="{FF2B5EF4-FFF2-40B4-BE49-F238E27FC236}">
                <a16:creationId xmlns:a16="http://schemas.microsoft.com/office/drawing/2014/main" id="{5265EBFD-1E5D-473E-B5BA-D325BF2B2F86}"/>
              </a:ext>
            </a:extLst>
          </p:cNvPr>
          <p:cNvSpPr>
            <a:spLocks xmlns:a="http://schemas.openxmlformats.org/drawingml/2006/main" noGrp="1"/>
          </p:cNvSpPr>
          <p:nvPr/>
        </p:nvSpPr>
        <p:spPr>
          <a:xfrm xmlns:a="http://schemas.openxmlformats.org/drawingml/2006/main">
            <a:off x="552450" y="11049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a:solidFill>
                  <a:srgbClr val="67667B"/>
                </a:solidFill>
                <a:latin typeface="Arial"/>
                <a:ea typeface="Arial"/>
                <a:cs typeface="Arial"/>
              </a:defRPr>
            </a:pPr>
            <a:r>
              <a:rPr sz="1875">
                <a:solidFill>
                  <a:srgbClr val="67667B"/>
                </a:solidFill>
                <a:latin typeface="Arial"/>
                <a:ea typeface="Arial"/>
                <a:cs typeface="Arial"/>
              </a:rPr>
              <a:t>Permisos vigentes y pruebas sobre los límites del modelo.</a:t>
            </a:r>
          </a:p>
        </p:txBody>
      </p:sp>
      <p:sp>
        <p:nvSpPr>
          <p:cNvPr id="3" name="">
            <a:extLst xmlns:a="http://schemas.openxmlformats.org/drawingml/2006/main">
              <a:ext uri="{FF2B5EF4-FFF2-40B4-BE49-F238E27FC236}">
                <a16:creationId xmlns:a16="http://schemas.microsoft.com/office/drawing/2014/main" id="{F24BDE23-3938-4224-B05D-D6D3C5CE0570}"/>
              </a:ext>
            </a:extLst>
          </p:cNvPr>
          <p:cNvSpPr>
            <a:spLocks xmlns:a="http://schemas.openxmlformats.org/drawingml/2006/main" noGrp="1"/>
          </p:cNvSpPr>
          <p:nvPr/>
        </p:nvSpPr>
        <p:spPr>
          <a:xfrm xmlns:a="http://schemas.openxmlformats.org/drawingml/2006/main">
            <a:off x="533400" y="6334125"/>
            <a:ext cx="11125200" cy="9525"/>
          </a:xfrm>
          <a:prstGeom xmlns:a="http://schemas.openxmlformats.org/drawingml/2006/main" prst="rect">
            <a:avLst/>
          </a:prstGeom>
          <a:solidFill xmlns:a="http://schemas.openxmlformats.org/drawingml/2006/main">
            <a:srgbClr val="DFDFE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3367328-D742-4849-853C-89C3C2F848A2}"/>
              </a:ext>
            </a:extLst>
          </p:cNvPr>
          <p:cNvSpPr>
            <a:spLocks xmlns:a="http://schemas.openxmlformats.org/drawingml/2006/main" noGrp="1"/>
          </p:cNvSpPr>
          <p:nvPr/>
        </p:nvSpPr>
        <p:spPr>
          <a:xfrm xmlns:a="http://schemas.openxmlformats.org/drawingml/2006/main">
            <a:off x="533400" y="6486525"/>
            <a:ext cx="9906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a:solidFill>
                  <a:srgbClr val="67667B"/>
                </a:solidFill>
                <a:latin typeface="Arial"/>
                <a:ea typeface="Arial"/>
                <a:cs typeface="Arial"/>
              </a:defRPr>
            </a:pPr>
            <a:r>
              <a:rPr sz="1125">
                <a:solidFill>
                  <a:srgbClr val="67667B"/>
                </a:solidFill>
                <a:latin typeface="Arial"/>
                <a:ea typeface="Arial"/>
                <a:cs typeface="Arial"/>
              </a:rPr>
              <a:t>MemoryLab · Grupo 3 · Sistemas Operativos 1</a:t>
            </a:r>
          </a:p>
        </p:txBody>
      </p:sp>
      <p:sp>
        <p:nvSpPr>
          <p:cNvPr id="5" name="">
            <a:extLst xmlns:a="http://schemas.openxmlformats.org/drawingml/2006/main">
              <a:ext uri="{FF2B5EF4-FFF2-40B4-BE49-F238E27FC236}">
                <a16:creationId xmlns:a16="http://schemas.microsoft.com/office/drawing/2014/main" id="{13C1767E-28F5-4554-833C-77A4842EA7E0}"/>
              </a:ext>
            </a:extLst>
          </p:cNvPr>
          <p:cNvSpPr>
            <a:spLocks xmlns:a="http://schemas.openxmlformats.org/drawingml/2006/main" noGrp="1"/>
          </p:cNvSpPr>
          <p:nvPr/>
        </p:nvSpPr>
        <p:spPr>
          <a:xfrm xmlns:a="http://schemas.openxmlformats.org/drawingml/2006/main">
            <a:off x="11220450" y="64674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350" b="1">
                <a:solidFill>
                  <a:srgbClr val="655CF3"/>
                </a:solidFill>
                <a:latin typeface="Arial"/>
                <a:ea typeface="Arial"/>
                <a:cs typeface="Arial"/>
              </a:defRPr>
            </a:pPr>
            <a:r>
              <a:rPr sz="1350" b="1">
                <a:solidFill>
                  <a:srgbClr val="655CF3"/>
                </a:solidFill>
                <a:latin typeface="Arial"/>
                <a:ea typeface="Arial"/>
                <a:cs typeface="Arial"/>
              </a:rPr>
              <a:t>11</a:t>
            </a:r>
          </a:p>
        </p:txBody>
      </p:sp>
      <p:graphicFrame>
        <p:nvGraphicFramePr>
          <p:cNvPr id="16" name=""/>
          <p:cNvGraphicFramePr/>
          <p:nvPr/>
        </p:nvGraphicFramePr>
        <p:xfrm>
          <a:off xmlns:a="http://schemas.openxmlformats.org/drawingml/2006/main" x="685800" y="1857375"/>
          <a:ext xmlns:a="http://schemas.openxmlformats.org/drawingml/2006/main" cx="6791325" cy="3124200"/>
        </p:xfrm>
        <a:graphic xmlns:a="http://schemas.openxmlformats.org/drawingml/2006/main">
          <a:graphicData uri="http://schemas.openxmlformats.org/drawingml/2006/table">
            <a:tbl>
              <a:tblPr firstRow="1" bandRow="0"/>
              <a:tblGrid>
                <a:gridCol w="2343150"/>
                <a:gridCol w="4448175"/>
              </a:tblGrid>
              <a:tr h="781050">
                <a:tc>
                  <a:txBody>
                    <a:bodyPr>
                      <a:noAutofit/>
                    </a:bodyPr>
                    <a:lstStyle/>
                    <a:p>
                      <a:r>
                        <a:rPr sz="1875" b="1">
                          <a:solidFill>
                            <a:srgbClr val="FFFFFF"/>
                          </a:solidFill>
                          <a:latin typeface="Arial"/>
                          <a:ea typeface="Arial"/>
                          <a:cs typeface="Arial"/>
                        </a:rPr>
                        <a:t>Rol</a:t>
                      </a:r>
                    </a:p>
                  </a:txBody>
                  <a:tcPr marL="152400" marR="133350" marT="114300" marB="95250">
                    <a:solidFill>
                      <a:srgbClr val="655CF3"/>
                    </a:solidFill>
                  </a:tcPr>
                </a:tc>
                <a:tc>
                  <a:txBody>
                    <a:bodyPr>
                      <a:noAutofit/>
                    </a:bodyPr>
                    <a:lstStyle/>
                    <a:p>
                      <a:r>
                        <a:rPr sz="1875" b="1">
                          <a:solidFill>
                            <a:srgbClr val="FFFFFF"/>
                          </a:solidFill>
                          <a:latin typeface="Arial"/>
                          <a:ea typeface="Arial"/>
                          <a:cs typeface="Arial"/>
                        </a:rPr>
                        <a:t>Alcance</a:t>
                      </a:r>
                    </a:p>
                  </a:txBody>
                  <a:tcPr marL="152400" marR="133350" marT="114300" marB="95250">
                    <a:solidFill>
                      <a:srgbClr val="655CF3"/>
                    </a:solidFill>
                  </a:tcPr>
                </a:tc>
              </a:tr>
              <a:tr h="781050">
                <a:tc>
                  <a:txBody>
                    <a:bodyPr>
                      <a:noAutofit/>
                    </a:bodyPr>
                    <a:lstStyle/>
                    <a:p>
                      <a:r>
                        <a:rPr sz="1875" b="0">
                          <a:solidFill>
                            <a:srgbClr val="242338"/>
                          </a:solidFill>
                          <a:latin typeface="Arial"/>
                          <a:ea typeface="Arial"/>
                          <a:cs typeface="Arial"/>
                        </a:rPr>
                        <a:t>Administrador</a:t>
                      </a:r>
                    </a:p>
                  </a:txBody>
                  <a:tcPr marL="152400" marR="133350" marT="114300" marB="95250">
                    <a:solidFill>
                      <a:srgbClr val="FFFFFF"/>
                    </a:solidFill>
                  </a:tcPr>
                </a:tc>
                <a:tc>
                  <a:txBody>
                    <a:bodyPr>
                      <a:noAutofit/>
                    </a:bodyPr>
                    <a:lstStyle/>
                    <a:p>
                      <a:r>
                        <a:rPr sz="1875" b="0">
                          <a:solidFill>
                            <a:srgbClr val="242338"/>
                          </a:solidFill>
                          <a:latin typeface="Arial"/>
                          <a:ea typeface="Arial"/>
                          <a:cs typeface="Arial"/>
                        </a:rPr>
                        <a:t>Configuración, usuarios, historial y reinicio</a:t>
                      </a:r>
                    </a:p>
                  </a:txBody>
                  <a:tcPr marL="152400" marR="133350" marT="114300" marB="95250">
                    <a:solidFill>
                      <a:srgbClr val="FFFFFF"/>
                    </a:solidFill>
                  </a:tcPr>
                </a:tc>
              </a:tr>
              <a:tr h="781050">
                <a:tc>
                  <a:txBody>
                    <a:bodyPr>
                      <a:noAutofit/>
                    </a:bodyPr>
                    <a:lstStyle/>
                    <a:p>
                      <a:r>
                        <a:rPr sz="1875" b="0">
                          <a:solidFill>
                            <a:srgbClr val="242338"/>
                          </a:solidFill>
                          <a:latin typeface="Arial"/>
                          <a:ea typeface="Arial"/>
                          <a:cs typeface="Arial"/>
                        </a:rPr>
                        <a:t>Operador</a:t>
                      </a:r>
                    </a:p>
                  </a:txBody>
                  <a:tcPr marL="152400" marR="133350" marT="114300" marB="95250">
                    <a:solidFill>
                      <a:srgbClr val="F8F8FC"/>
                    </a:solidFill>
                  </a:tcPr>
                </a:tc>
                <a:tc>
                  <a:txBody>
                    <a:bodyPr>
                      <a:noAutofit/>
                    </a:bodyPr>
                    <a:lstStyle/>
                    <a:p>
                      <a:r>
                        <a:rPr sz="1875" b="0">
                          <a:solidFill>
                            <a:srgbClr val="242338"/>
                          </a:solidFill>
                          <a:latin typeface="Arial"/>
                          <a:ea typeface="Arial"/>
                          <a:cs typeface="Arial"/>
                        </a:rPr>
                        <a:t>Creación de procesos y ejecución</a:t>
                      </a:r>
                    </a:p>
                  </a:txBody>
                  <a:tcPr marL="152400" marR="133350" marT="114300" marB="95250">
                    <a:solidFill>
                      <a:srgbClr val="F8F8FC"/>
                    </a:solidFill>
                  </a:tcPr>
                </a:tc>
              </a:tr>
              <a:tr h="781050">
                <a:tc>
                  <a:txBody>
                    <a:bodyPr>
                      <a:noAutofit/>
                    </a:bodyPr>
                    <a:lstStyle/>
                    <a:p>
                      <a:r>
                        <a:rPr sz="1875" b="0">
                          <a:solidFill>
                            <a:srgbClr val="242338"/>
                          </a:solidFill>
                          <a:latin typeface="Arial"/>
                          <a:ea typeface="Arial"/>
                          <a:cs typeface="Arial"/>
                        </a:rPr>
                        <a:t>Observador</a:t>
                      </a:r>
                    </a:p>
                  </a:txBody>
                  <a:tcPr marL="152400" marR="133350" marT="114300" marB="95250">
                    <a:solidFill>
                      <a:srgbClr val="FFFFFF"/>
                    </a:solidFill>
                  </a:tcPr>
                </a:tc>
                <a:tc>
                  <a:txBody>
                    <a:bodyPr>
                      <a:noAutofit/>
                    </a:bodyPr>
                    <a:lstStyle/>
                    <a:p>
                      <a:r>
                        <a:rPr sz="1875" b="0">
                          <a:solidFill>
                            <a:srgbClr val="242338"/>
                          </a:solidFill>
                          <a:latin typeface="Arial"/>
                          <a:ea typeface="Arial"/>
                          <a:cs typeface="Arial"/>
                        </a:rPr>
                        <a:t>Consulta de memoria y resultados</a:t>
                      </a:r>
                    </a:p>
                  </a:txBody>
                  <a:tcPr marL="152400" marR="133350" marT="114300" marB="9525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810B5927-A5CD-48C6-8943-67E97E984F2A}"/>
              </a:ext>
            </a:extLst>
          </p:cNvPr>
          <p:cNvSpPr>
            <a:spLocks xmlns:a="http://schemas.openxmlformats.org/drawingml/2006/main" noGrp="1"/>
          </p:cNvSpPr>
          <p:nvPr/>
        </p:nvSpPr>
        <p:spPr>
          <a:xfrm xmlns:a="http://schemas.openxmlformats.org/drawingml/2006/main">
            <a:off x="8029575" y="1714500"/>
            <a:ext cx="3238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6000" b="1">
                <a:solidFill>
                  <a:srgbClr val="655CF3"/>
                </a:solidFill>
                <a:latin typeface="Arial"/>
                <a:ea typeface="Arial"/>
                <a:cs typeface="Arial"/>
              </a:defRPr>
            </a:pPr>
            <a:r>
              <a:rPr sz="6000" b="1">
                <a:solidFill>
                  <a:srgbClr val="655CF3"/>
                </a:solidFill>
                <a:latin typeface="Arial"/>
                <a:ea typeface="Arial"/>
                <a:cs typeface="Arial"/>
              </a:rPr>
              <a:t>655</a:t>
            </a:r>
          </a:p>
        </p:txBody>
      </p:sp>
      <p:sp>
        <p:nvSpPr>
          <p:cNvPr id="8" name="">
            <a:extLst xmlns:a="http://schemas.openxmlformats.org/drawingml/2006/main">
              <a:ext uri="{FF2B5EF4-FFF2-40B4-BE49-F238E27FC236}">
                <a16:creationId xmlns:a16="http://schemas.microsoft.com/office/drawing/2014/main" id="{16D7D1EE-ACA1-4C04-8DFD-E43D34FACE06}"/>
              </a:ext>
            </a:extLst>
          </p:cNvPr>
          <p:cNvSpPr>
            <a:spLocks xmlns:a="http://schemas.openxmlformats.org/drawingml/2006/main" noGrp="1"/>
          </p:cNvSpPr>
          <p:nvPr/>
        </p:nvSpPr>
        <p:spPr>
          <a:xfrm xmlns:a="http://schemas.openxmlformats.org/drawingml/2006/main">
            <a:off x="8077200" y="284797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242338"/>
                </a:solidFill>
                <a:latin typeface="Arial"/>
                <a:ea typeface="Arial"/>
                <a:cs typeface="Arial"/>
              </a:defRPr>
            </a:pPr>
            <a:r>
              <a:rPr sz="2100" b="1">
                <a:solidFill>
                  <a:srgbClr val="242338"/>
                </a:solidFill>
                <a:latin typeface="Arial"/>
                <a:ea typeface="Arial"/>
                <a:cs typeface="Arial"/>
              </a:rPr>
              <a:t>pruebas pasadas</a:t>
            </a:r>
          </a:p>
        </p:txBody>
      </p:sp>
      <p:sp>
        <p:nvSpPr>
          <p:cNvPr id="9" name="">
            <a:extLst xmlns:a="http://schemas.openxmlformats.org/drawingml/2006/main">
              <a:ext uri="{FF2B5EF4-FFF2-40B4-BE49-F238E27FC236}">
                <a16:creationId xmlns:a16="http://schemas.microsoft.com/office/drawing/2014/main" id="{EA91F7FE-8F14-44FE-9EEF-5E8653131559}"/>
              </a:ext>
            </a:extLst>
          </p:cNvPr>
          <p:cNvSpPr>
            <a:spLocks xmlns:a="http://schemas.openxmlformats.org/drawingml/2006/main" noGrp="1"/>
          </p:cNvSpPr>
          <p:nvPr/>
        </p:nvSpPr>
        <p:spPr>
          <a:xfrm xmlns:a="http://schemas.openxmlformats.org/drawingml/2006/main">
            <a:off x="8077200" y="3581400"/>
            <a:ext cx="3238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a:solidFill>
                  <a:srgbClr val="45445A"/>
                </a:solidFill>
                <a:latin typeface="Arial"/>
                <a:ea typeface="Arial"/>
                <a:cs typeface="Arial"/>
              </a:defRPr>
            </a:pPr>
            <a:r>
              <a:rPr sz="2100">
                <a:solidFill>
                  <a:srgbClr val="45445A"/>
                </a:solidFill>
                <a:latin typeface="Arial"/>
                <a:ea typeface="Arial"/>
                <a:cs typeface="Arial"/>
              </a:rPr>
              <a:t>1 omitida</a:t>
            </a:r>
          </a:p>
          <a:p xmlns:a="http://schemas.openxmlformats.org/drawingml/2006/main">
            <a:pPr>
              <a:defRPr sz="2100">
                <a:solidFill>
                  <a:srgbClr val="45445A"/>
                </a:solidFill>
                <a:latin typeface="Arial"/>
                <a:ea typeface="Arial"/>
                <a:cs typeface="Arial"/>
              </a:defRPr>
            </a:pPr>
            <a:r>
              <a:rPr sz="2100">
                <a:solidFill>
                  <a:srgbClr val="45445A"/>
                </a:solidFill>
                <a:latin typeface="Arial"/>
                <a:ea typeface="Arial"/>
                <a:cs typeface="Arial"/>
              </a:rPr>
              <a:t>4575 aserciones</a:t>
            </a:r>
          </a:p>
          <a:p xmlns:a="http://schemas.openxmlformats.org/drawingml/2006/main">
            <a:pPr>
              <a:defRPr sz="2100">
                <a:solidFill>
                  <a:srgbClr val="45445A"/>
                </a:solidFill>
                <a:latin typeface="Arial"/>
                <a:ea typeface="Arial"/>
                <a:cs typeface="Arial"/>
              </a:defRPr>
            </a:pPr>
            <a:r>
              <a:rPr sz="2100">
                <a:solidFill>
                  <a:srgbClr val="45445A"/>
                </a:solidFill>
                <a:latin typeface="Arial"/>
                <a:ea typeface="Arial"/>
                <a:cs typeface="Arial"/>
              </a:rPr>
              <a:t>96.78 segundos</a:t>
            </a:r>
          </a:p>
        </p:txBody>
      </p:sp>
      <p:sp>
        <p:nvSpPr>
          <p:cNvPr id="10" name="">
            <a:extLst xmlns:a="http://schemas.openxmlformats.org/drawingml/2006/main">
              <a:ext uri="{FF2B5EF4-FFF2-40B4-BE49-F238E27FC236}">
                <a16:creationId xmlns:a16="http://schemas.microsoft.com/office/drawing/2014/main" id="{4B8B5CD8-C38F-4995-8B95-E4C2E0F3B5D5}"/>
              </a:ext>
            </a:extLst>
          </p:cNvPr>
          <p:cNvSpPr>
            <a:spLocks xmlns:a="http://schemas.openxmlformats.org/drawingml/2006/main" noGrp="1"/>
          </p:cNvSpPr>
          <p:nvPr/>
        </p:nvSpPr>
        <p:spPr>
          <a:xfrm xmlns:a="http://schemas.openxmlformats.org/drawingml/2006/main">
            <a:off x="742950" y="5353050"/>
            <a:ext cx="107061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a:solidFill>
                  <a:srgbClr val="45445A"/>
                </a:solidFill>
                <a:latin typeface="Arial"/>
                <a:ea typeface="Arial"/>
                <a:cs typeface="Arial"/>
              </a:defRPr>
            </a:pPr>
            <a:r>
              <a:rPr sz="2025">
                <a:solidFill>
                  <a:srgbClr val="45445A"/>
                </a:solidFill>
                <a:latin typeface="Arial"/>
                <a:ea typeface="Arial"/>
                <a:cs typeface="Arial"/>
              </a:rPr>
              <a:t>Cobertura de límites, permisos, aislamiento, FIFO, reinicio y reversión atómica.</a:t>
            </a:r>
          </a:p>
        </p:txBody>
      </p:sp>
    </p:spTree>
    <p:extLst>
      <p:ext uri="{BB962C8B-B14F-4D97-AF65-F5344CB8AC3E}">
        <p14:creationId xmlns:p14="http://schemas.microsoft.com/office/powerpoint/2010/main" val="3292449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C5BBC93-63CB-49D2-9B3C-342404A95B35}"/>
              </a:ext>
            </a:extLst>
          </p:cNvPr>
          <p:cNvSpPr>
            <a:spLocks xmlns:a="http://schemas.openxmlformats.org/drawingml/2006/main" noGrp="1"/>
          </p:cNvSpPr>
          <p:nvPr/>
        </p:nvSpPr>
        <p:spPr>
          <a:xfrm xmlns:a="http://schemas.openxmlformats.org/drawingml/2006/main">
            <a:off x="533400" y="4000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242338"/>
                </a:solidFill>
                <a:latin typeface="Arial"/>
                <a:ea typeface="Arial"/>
                <a:cs typeface="Arial"/>
              </a:defRPr>
            </a:pPr>
            <a:r>
              <a:rPr sz="3450" b="1">
                <a:solidFill>
                  <a:srgbClr val="242338"/>
                </a:solidFill>
                <a:latin typeface="Arial"/>
                <a:ea typeface="Arial"/>
                <a:cs typeface="Arial"/>
              </a:rPr>
              <a:t>Conclusiones y demostración</a:t>
            </a:r>
          </a:p>
        </p:txBody>
      </p:sp>
      <p:sp>
        <p:nvSpPr>
          <p:cNvPr id="2" name="">
            <a:extLst xmlns:a="http://schemas.openxmlformats.org/drawingml/2006/main">
              <a:ext uri="{FF2B5EF4-FFF2-40B4-BE49-F238E27FC236}">
                <a16:creationId xmlns:a16="http://schemas.microsoft.com/office/drawing/2014/main" id="{CBA46871-3C53-443B-A4C0-DC3D21AFCE82}"/>
              </a:ext>
            </a:extLst>
          </p:cNvPr>
          <p:cNvSpPr>
            <a:spLocks xmlns:a="http://schemas.openxmlformats.org/drawingml/2006/main" noGrp="1"/>
          </p:cNvSpPr>
          <p:nvPr/>
        </p:nvSpPr>
        <p:spPr>
          <a:xfrm xmlns:a="http://schemas.openxmlformats.org/drawingml/2006/main">
            <a:off x="552450" y="11049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a:solidFill>
                  <a:srgbClr val="67667B"/>
                </a:solidFill>
                <a:latin typeface="Arial"/>
                <a:ea typeface="Arial"/>
                <a:cs typeface="Arial"/>
              </a:defRPr>
            </a:pPr>
            <a:r>
              <a:rPr sz="1875">
                <a:solidFill>
                  <a:srgbClr val="67667B"/>
                </a:solidFill>
                <a:latin typeface="Arial"/>
                <a:ea typeface="Arial"/>
                <a:cs typeface="Arial"/>
              </a:rPr>
              <a:t>Explicar el resultado mediante estado, límites y eventos.</a:t>
            </a:r>
          </a:p>
        </p:txBody>
      </p:sp>
      <p:sp>
        <p:nvSpPr>
          <p:cNvPr id="3" name="">
            <a:extLst xmlns:a="http://schemas.openxmlformats.org/drawingml/2006/main">
              <a:ext uri="{FF2B5EF4-FFF2-40B4-BE49-F238E27FC236}">
                <a16:creationId xmlns:a16="http://schemas.microsoft.com/office/drawing/2014/main" id="{D5D4825A-2EC0-4C2F-BECB-853EDF61F32D}"/>
              </a:ext>
            </a:extLst>
          </p:cNvPr>
          <p:cNvSpPr>
            <a:spLocks xmlns:a="http://schemas.openxmlformats.org/drawingml/2006/main" noGrp="1"/>
          </p:cNvSpPr>
          <p:nvPr/>
        </p:nvSpPr>
        <p:spPr>
          <a:xfrm xmlns:a="http://schemas.openxmlformats.org/drawingml/2006/main">
            <a:off x="533400" y="6334125"/>
            <a:ext cx="11125200" cy="9525"/>
          </a:xfrm>
          <a:prstGeom xmlns:a="http://schemas.openxmlformats.org/drawingml/2006/main" prst="rect">
            <a:avLst/>
          </a:prstGeom>
          <a:solidFill xmlns:a="http://schemas.openxmlformats.org/drawingml/2006/main">
            <a:srgbClr val="DFDFE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4C6161F-832E-4670-B18B-3590A6BACE8E}"/>
              </a:ext>
            </a:extLst>
          </p:cNvPr>
          <p:cNvSpPr>
            <a:spLocks xmlns:a="http://schemas.openxmlformats.org/drawingml/2006/main" noGrp="1"/>
          </p:cNvSpPr>
          <p:nvPr/>
        </p:nvSpPr>
        <p:spPr>
          <a:xfrm xmlns:a="http://schemas.openxmlformats.org/drawingml/2006/main">
            <a:off x="533400" y="6486525"/>
            <a:ext cx="9906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a:solidFill>
                  <a:srgbClr val="67667B"/>
                </a:solidFill>
                <a:latin typeface="Arial"/>
                <a:ea typeface="Arial"/>
                <a:cs typeface="Arial"/>
              </a:defRPr>
            </a:pPr>
            <a:r>
              <a:rPr sz="1125">
                <a:solidFill>
                  <a:srgbClr val="67667B"/>
                </a:solidFill>
                <a:latin typeface="Arial"/>
                <a:ea typeface="Arial"/>
                <a:cs typeface="Arial"/>
              </a:rPr>
              <a:t>MemoryLab · Grupo 3 · Sistemas Operativos 1</a:t>
            </a:r>
          </a:p>
        </p:txBody>
      </p:sp>
      <p:sp>
        <p:nvSpPr>
          <p:cNvPr id="5" name="">
            <a:extLst xmlns:a="http://schemas.openxmlformats.org/drawingml/2006/main">
              <a:ext uri="{FF2B5EF4-FFF2-40B4-BE49-F238E27FC236}">
                <a16:creationId xmlns:a16="http://schemas.microsoft.com/office/drawing/2014/main" id="{C055F9F8-E707-44EF-ABF8-396DC16B006B}"/>
              </a:ext>
            </a:extLst>
          </p:cNvPr>
          <p:cNvSpPr>
            <a:spLocks xmlns:a="http://schemas.openxmlformats.org/drawingml/2006/main" noGrp="1"/>
          </p:cNvSpPr>
          <p:nvPr/>
        </p:nvSpPr>
        <p:spPr>
          <a:xfrm xmlns:a="http://schemas.openxmlformats.org/drawingml/2006/main">
            <a:off x="11220450" y="64674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350" b="1">
                <a:solidFill>
                  <a:srgbClr val="655CF3"/>
                </a:solidFill>
                <a:latin typeface="Arial"/>
                <a:ea typeface="Arial"/>
                <a:cs typeface="Arial"/>
              </a:defRPr>
            </a:pPr>
            <a:r>
              <a:rPr sz="1350" b="1">
                <a:solidFill>
                  <a:srgbClr val="655CF3"/>
                </a:solidFill>
                <a:latin typeface="Arial"/>
                <a:ea typeface="Arial"/>
                <a:cs typeface="Arial"/>
              </a:rPr>
              <a:t>12</a:t>
            </a:r>
          </a:p>
        </p:txBody>
      </p:sp>
      <p:sp>
        <p:nvSpPr>
          <p:cNvPr id="6" name="">
            <a:extLst xmlns:a="http://schemas.openxmlformats.org/drawingml/2006/main">
              <a:ext uri="{FF2B5EF4-FFF2-40B4-BE49-F238E27FC236}">
                <a16:creationId xmlns:a16="http://schemas.microsoft.com/office/drawing/2014/main" id="{F656C5B7-6B1A-4180-B1CA-12ADFA0A7E58}"/>
              </a:ext>
            </a:extLst>
          </p:cNvPr>
          <p:cNvSpPr>
            <a:spLocks xmlns:a="http://schemas.openxmlformats.org/drawingml/2006/main" noGrp="1"/>
          </p:cNvSpPr>
          <p:nvPr/>
        </p:nvSpPr>
        <p:spPr>
          <a:xfrm xmlns:a="http://schemas.openxmlformats.org/drawingml/2006/main">
            <a:off x="685800" y="1962150"/>
            <a:ext cx="47339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242338"/>
                </a:solidFill>
                <a:latin typeface="Arial"/>
                <a:ea typeface="Arial"/>
                <a:cs typeface="Arial"/>
              </a:defRPr>
            </a:pPr>
            <a:r>
              <a:rPr sz="2325" b="1">
                <a:solidFill>
                  <a:srgbClr val="242338"/>
                </a:solidFill>
                <a:latin typeface="Arial"/>
                <a:ea typeface="Arial"/>
                <a:cs typeface="Arial"/>
              </a:rPr>
              <a:t>Aprendizajes</a:t>
            </a:r>
          </a:p>
        </p:txBody>
      </p:sp>
      <p:sp>
        <p:nvSpPr>
          <p:cNvPr id="7" name="">
            <a:extLst xmlns:a="http://schemas.openxmlformats.org/drawingml/2006/main">
              <a:ext uri="{FF2B5EF4-FFF2-40B4-BE49-F238E27FC236}">
                <a16:creationId xmlns:a16="http://schemas.microsoft.com/office/drawing/2014/main" id="{80DACC58-18DD-48A3-81B3-98EA5867FCCA}"/>
              </a:ext>
            </a:extLst>
          </p:cNvPr>
          <p:cNvSpPr>
            <a:spLocks xmlns:a="http://schemas.openxmlformats.org/drawingml/2006/main" noGrp="1"/>
          </p:cNvSpPr>
          <p:nvPr/>
        </p:nvSpPr>
        <p:spPr>
          <a:xfrm xmlns:a="http://schemas.openxmlformats.org/drawingml/2006/main">
            <a:off x="685800" y="2543175"/>
            <a:ext cx="47625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a:solidFill>
                  <a:srgbClr val="45445A"/>
                </a:solidFill>
                <a:latin typeface="Arial"/>
                <a:ea typeface="Arial"/>
                <a:cs typeface="Arial"/>
              </a:defRPr>
            </a:pPr>
            <a:r>
              <a:rPr sz="2025">
                <a:solidFill>
                  <a:srgbClr val="45445A"/>
                </a:solidFill>
                <a:latin typeface="Arial"/>
                <a:ea typeface="Arial"/>
                <a:cs typeface="Arial"/>
              </a:rPr>
              <a:t>La tabla conecta páginas y marcos.</a:t>
            </a:r>
          </a:p>
          <a:p xmlns:a="http://schemas.openxmlformats.org/drawingml/2006/main">
            <a:pPr>
              <a:defRPr sz="2025">
                <a:solidFill>
                  <a:srgbClr val="45445A"/>
                </a:solidFill>
                <a:latin typeface="Arial"/>
                <a:ea typeface="Arial"/>
                <a:cs typeface="Arial"/>
              </a:defRPr>
            </a:pPr>
            <a:r>
              <a:rPr sz="2025">
                <a:solidFill>
                  <a:srgbClr val="45445A"/>
                </a:solidFill>
                <a:latin typeface="Arial"/>
                <a:ea typeface="Arial"/>
                <a:cs typeface="Arial"/>
              </a:rPr>
              <a:t>El límite protege cada segmento.</a:t>
            </a:r>
          </a:p>
          <a:p xmlns:a="http://schemas.openxmlformats.org/drawingml/2006/main">
            <a:pPr>
              <a:defRPr sz="2025">
                <a:solidFill>
                  <a:srgbClr val="45445A"/>
                </a:solidFill>
                <a:latin typeface="Arial"/>
                <a:ea typeface="Arial"/>
                <a:cs typeface="Arial"/>
              </a:defRPr>
            </a:pPr>
            <a:r>
              <a:rPr sz="2025">
                <a:solidFill>
                  <a:srgbClr val="45445A"/>
                </a:solidFill>
                <a:latin typeface="Arial"/>
                <a:ea typeface="Arial"/>
                <a:cs typeface="Arial"/>
              </a:rPr>
              <a:t>La fragmentación determina qué cabe.</a:t>
            </a:r>
          </a:p>
        </p:txBody>
      </p:sp>
      <p:sp>
        <p:nvSpPr>
          <p:cNvPr id="8" name="">
            <a:extLst xmlns:a="http://schemas.openxmlformats.org/drawingml/2006/main">
              <a:ext uri="{FF2B5EF4-FFF2-40B4-BE49-F238E27FC236}">
                <a16:creationId xmlns:a16="http://schemas.microsoft.com/office/drawing/2014/main" id="{09373A90-20BF-4109-93EE-D069DB918B49}"/>
              </a:ext>
            </a:extLst>
          </p:cNvPr>
          <p:cNvSpPr>
            <a:spLocks xmlns:a="http://schemas.openxmlformats.org/drawingml/2006/main" noGrp="1"/>
          </p:cNvSpPr>
          <p:nvPr/>
        </p:nvSpPr>
        <p:spPr>
          <a:xfrm xmlns:a="http://schemas.openxmlformats.org/drawingml/2006/main">
            <a:off x="685800" y="4257675"/>
            <a:ext cx="47720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242338"/>
                </a:solidFill>
                <a:latin typeface="Arial"/>
                <a:ea typeface="Arial"/>
                <a:cs typeface="Arial"/>
              </a:defRPr>
            </a:pPr>
            <a:r>
              <a:rPr sz="2325" b="1">
                <a:solidFill>
                  <a:srgbClr val="242338"/>
                </a:solidFill>
                <a:latin typeface="Arial"/>
                <a:ea typeface="Arial"/>
                <a:cs typeface="Arial"/>
              </a:rPr>
              <a:t>IA y evidencia</a:t>
            </a:r>
          </a:p>
        </p:txBody>
      </p:sp>
      <p:sp>
        <p:nvSpPr>
          <p:cNvPr id="9" name="">
            <a:extLst xmlns:a="http://schemas.openxmlformats.org/drawingml/2006/main">
              <a:ext uri="{FF2B5EF4-FFF2-40B4-BE49-F238E27FC236}">
                <a16:creationId xmlns:a16="http://schemas.microsoft.com/office/drawing/2014/main" id="{4020C9D7-FDCF-4732-B0AC-294D05078F1F}"/>
              </a:ext>
            </a:extLst>
          </p:cNvPr>
          <p:cNvSpPr>
            <a:spLocks xmlns:a="http://schemas.openxmlformats.org/drawingml/2006/main" noGrp="1"/>
          </p:cNvSpPr>
          <p:nvPr/>
        </p:nvSpPr>
        <p:spPr>
          <a:xfrm xmlns:a="http://schemas.openxmlformats.org/drawingml/2006/main">
            <a:off x="685800" y="4829175"/>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a:solidFill>
                  <a:srgbClr val="45445A"/>
                </a:solidFill>
                <a:latin typeface="Arial"/>
                <a:ea typeface="Arial"/>
                <a:cs typeface="Arial"/>
              </a:defRPr>
            </a:pPr>
            <a:r>
              <a:rPr sz="1950">
                <a:solidFill>
                  <a:srgbClr val="45445A"/>
                </a:solidFill>
                <a:latin typeface="Arial"/>
                <a:ea typeface="Arial"/>
                <a:cs typeface="Arial"/>
              </a:rPr>
              <a:t>Codex/ChatGPT apoyó análisis, desarrollo y correcciones. Los prompts y resultados quedan documentados.</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4af7d0db640e42b4"/>
          <a:stretch xmlns:a="http://schemas.openxmlformats.org/drawingml/2006/main"/>
        </p:blipFill>
        <p:spPr>
          <a:xfrm xmlns:a="http://schemas.openxmlformats.org/drawingml/2006/main">
            <a:off x="6018223" y="1809750"/>
            <a:ext cx="5327630" cy="4333875"/>
          </a:xfrm>
          <a:prstGeom xmlns:a="http://schemas.openxmlformats.org/drawingml/2006/main" prst="rect">
            <a:avLst/>
          </a:prstGeom>
        </p:spPr>
      </p:pic>
    </p:spTree>
    <p:extLst>
      <p:ext uri="{BB962C8B-B14F-4D97-AF65-F5344CB8AC3E}">
        <p14:creationId xmlns:p14="http://schemas.microsoft.com/office/powerpoint/2010/main" val="7321180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2026-10-08T22:18:03.1950000Z</dcterms:created>
  <dcterms:modified xsi:type="dcterms:W3CDTF">2026-10-08T22:18:03.1950000Z</dcterms:modified>
</coreProperties>
</file>