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6e1849b00a468e" /><Relationship Type="http://schemas.openxmlformats.org/officeDocument/2006/relationships/extended-properties" Target="/docProps/app.xml" Id="R0cfe30e41f414672" /><Relationship Type="http://schemas.openxmlformats.org/officeDocument/2006/relationships/officeDocument" Target="/ppt/presentation.xml" Id="R3bcb0e2426c8426b" /></Relationships>
</file>

<file path=ppt/presentation.xml><?xml version="1.0" encoding="utf-8"?>
<p:presentation xmlns:p="http://schemas.openxmlformats.org/presentationml/2006/main">
  <p:sldMasterIdLst>
    <p:sldMasterId xmlns:r="http://schemas.openxmlformats.org/officeDocument/2006/relationships" id="2147483648" r:id="Reb989706af744a67"/>
  </p:sldMasterIdLst>
  <p:notesMasterIdLst>
    <p:notesMasterId xmlns:r="http://schemas.openxmlformats.org/officeDocument/2006/relationships" r:id="R75f59b5af25d45b7"/>
  </p:notesMasterIdLst>
  <p:sldIdLst>
    <p:sldId xmlns:r="http://schemas.openxmlformats.org/officeDocument/2006/relationships" id="256" r:id="R788b021319ba4fd4"/>
    <p:sldId xmlns:r="http://schemas.openxmlformats.org/officeDocument/2006/relationships" id="257" r:id="Rc1242dd5c4b1412e"/>
    <p:sldId xmlns:r="http://schemas.openxmlformats.org/officeDocument/2006/relationships" id="258" r:id="R63d24fb6ed5f4548"/>
    <p:sldId xmlns:r="http://schemas.openxmlformats.org/officeDocument/2006/relationships" id="259" r:id="R4ce83cd9587f49da"/>
    <p:sldId xmlns:r="http://schemas.openxmlformats.org/officeDocument/2006/relationships" id="260" r:id="R36a68c19101e46a0"/>
    <p:sldId xmlns:r="http://schemas.openxmlformats.org/officeDocument/2006/relationships" id="261" r:id="Re193f80950e54817"/>
    <p:sldId xmlns:r="http://schemas.openxmlformats.org/officeDocument/2006/relationships" id="262" r:id="R4d3a336378854ef9"/>
    <p:sldId xmlns:r="http://schemas.openxmlformats.org/officeDocument/2006/relationships" id="263" r:id="Rabe3a4b5415f438f"/>
    <p:sldId xmlns:r="http://schemas.openxmlformats.org/officeDocument/2006/relationships" id="264" r:id="Rba2592e20c314dd3"/>
    <p:sldId xmlns:r="http://schemas.openxmlformats.org/officeDocument/2006/relationships" id="265" r:id="R5aa04682002e4bee"/>
    <p:sldId xmlns:r="http://schemas.openxmlformats.org/officeDocument/2006/relationships" id="266" r:id="R628824d43b9a433d"/>
    <p:sldId xmlns:r="http://schemas.openxmlformats.org/officeDocument/2006/relationships" id="267" r:id="Rf02b2913e9db43f5"/>
    <p:sldId xmlns:r="http://schemas.openxmlformats.org/officeDocument/2006/relationships" id="268" r:id="Raf6c4f9283704031"/>
    <p:sldId xmlns:r="http://schemas.openxmlformats.org/officeDocument/2006/relationships" id="269" r:id="R1e6d92567fa44372"/>
    <p:sldId xmlns:r="http://schemas.openxmlformats.org/officeDocument/2006/relationships" id="270" r:id="R4a27fe28cf784217"/>
    <p:sldId xmlns:r="http://schemas.openxmlformats.org/officeDocument/2006/relationships" id="271" r:id="R72f34d6c996646b4"/>
    <p:sldId xmlns:r="http://schemas.openxmlformats.org/officeDocument/2006/relationships" id="272" r:id="R8eb41d7467c64ff8"/>
    <p:sldId xmlns:r="http://schemas.openxmlformats.org/officeDocument/2006/relationships" id="273" r:id="R24efc69ddb554404"/>
    <p:sldId xmlns:r="http://schemas.openxmlformats.org/officeDocument/2006/relationships" id="274" r:id="R5f4223ccc4f749a4"/>
    <p:sldId xmlns:r="http://schemas.openxmlformats.org/officeDocument/2006/relationships" id="275" r:id="R7860012d77124a27"/>
    <p:sldId xmlns:r="http://schemas.openxmlformats.org/officeDocument/2006/relationships" id="276" r:id="Rdb9b4468bd2d43ed"/>
    <p:sldId xmlns:r="http://schemas.openxmlformats.org/officeDocument/2006/relationships" id="277" r:id="Rc4e839fcc5d042fd"/>
    <p:sldId xmlns:r="http://schemas.openxmlformats.org/officeDocument/2006/relationships" id="278" r:id="Rb22fa01762c749ef"/>
    <p:sldId xmlns:r="http://schemas.openxmlformats.org/officeDocument/2006/relationships" id="279" r:id="Rb44670c7b32f4d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35558354484f0a" /><Relationship Type="http://schemas.openxmlformats.org/officeDocument/2006/relationships/slideMaster" Target="/ppt/slideMasters/slideMaster1.xml" Id="Reb989706af744a67" /><Relationship Type="http://schemas.openxmlformats.org/officeDocument/2006/relationships/notesMaster" Target="/ppt/notesMasters/notesMaster1.xml" Id="R75f59b5af25d45b7" /><Relationship Type="http://schemas.openxmlformats.org/officeDocument/2006/relationships/presProps" Target="/ppt/presProps.xml" Id="Rdc030505b42b4173" /><Relationship Type="http://schemas.openxmlformats.org/officeDocument/2006/relationships/tableStyles" Target="/ppt/tableStyles.xml" Id="R67d72f552cc34d4f" /><Relationship Type="http://schemas.openxmlformats.org/officeDocument/2006/relationships/slide" Target="/ppt/slides/slide1.xml" Id="R788b021319ba4fd4" /><Relationship Type="http://schemas.openxmlformats.org/officeDocument/2006/relationships/slide" Target="/ppt/slides/slide2.xml" Id="Rc1242dd5c4b1412e" /><Relationship Type="http://schemas.openxmlformats.org/officeDocument/2006/relationships/slide" Target="/ppt/slides/slide3.xml" Id="R63d24fb6ed5f4548" /><Relationship Type="http://schemas.openxmlformats.org/officeDocument/2006/relationships/slide" Target="/ppt/slides/slide4.xml" Id="R4ce83cd9587f49da" /><Relationship Type="http://schemas.openxmlformats.org/officeDocument/2006/relationships/slide" Target="/ppt/slides/slide5.xml" Id="R36a68c19101e46a0" /><Relationship Type="http://schemas.openxmlformats.org/officeDocument/2006/relationships/slide" Target="/ppt/slides/slide6.xml" Id="Re193f80950e54817" /><Relationship Type="http://schemas.openxmlformats.org/officeDocument/2006/relationships/slide" Target="/ppt/slides/slide7.xml" Id="R4d3a336378854ef9" /><Relationship Type="http://schemas.openxmlformats.org/officeDocument/2006/relationships/slide" Target="/ppt/slides/slide8.xml" Id="Rabe3a4b5415f438f" /><Relationship Type="http://schemas.openxmlformats.org/officeDocument/2006/relationships/slide" Target="/ppt/slides/slide9.xml" Id="Rba2592e20c314dd3" /><Relationship Type="http://schemas.openxmlformats.org/officeDocument/2006/relationships/slide" Target="/ppt/slides/slide10.xml" Id="R5aa04682002e4bee" /><Relationship Type="http://schemas.openxmlformats.org/officeDocument/2006/relationships/slide" Target="/ppt/slides/slide11.xml" Id="R628824d43b9a433d" /><Relationship Type="http://schemas.openxmlformats.org/officeDocument/2006/relationships/slide" Target="/ppt/slides/slide12.xml" Id="Rf02b2913e9db43f5" /><Relationship Type="http://schemas.openxmlformats.org/officeDocument/2006/relationships/slide" Target="/ppt/slides/slide13.xml" Id="Raf6c4f9283704031" /><Relationship Type="http://schemas.openxmlformats.org/officeDocument/2006/relationships/slide" Target="/ppt/slides/slide14.xml" Id="R1e6d92567fa44372" /><Relationship Type="http://schemas.openxmlformats.org/officeDocument/2006/relationships/slide" Target="/ppt/slides/slide15.xml" Id="R4a27fe28cf784217" /><Relationship Type="http://schemas.openxmlformats.org/officeDocument/2006/relationships/slide" Target="/ppt/slides/slide16.xml" Id="R72f34d6c996646b4" /><Relationship Type="http://schemas.openxmlformats.org/officeDocument/2006/relationships/slide" Target="/ppt/slides/slide17.xml" Id="R8eb41d7467c64ff8" /><Relationship Type="http://schemas.openxmlformats.org/officeDocument/2006/relationships/slide" Target="/ppt/slides/slide18.xml" Id="R24efc69ddb554404" /><Relationship Type="http://schemas.openxmlformats.org/officeDocument/2006/relationships/slide" Target="/ppt/slides/slide19.xml" Id="R5f4223ccc4f749a4" /><Relationship Type="http://schemas.openxmlformats.org/officeDocument/2006/relationships/slide" Target="/ppt/slides/slide20.xml" Id="R7860012d77124a27" /><Relationship Type="http://schemas.openxmlformats.org/officeDocument/2006/relationships/slide" Target="/ppt/slides/slide21.xml" Id="Rdb9b4468bd2d43ed" /><Relationship Type="http://schemas.openxmlformats.org/officeDocument/2006/relationships/slide" Target="/ppt/slides/slide22.xml" Id="Rc4e839fcc5d042fd" /><Relationship Type="http://schemas.openxmlformats.org/officeDocument/2006/relationships/slide" Target="/ppt/slides/slide23.xml" Id="Rb22fa01762c749ef" /><Relationship Type="http://schemas.openxmlformats.org/officeDocument/2006/relationships/slide" Target="/ppt/slides/slide24.xml" Id="Rb44670c7b32f4d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1a8272c8614c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d8680f7ab34c90" /><Relationship Type="http://schemas.openxmlformats.org/officeDocument/2006/relationships/notesMaster" Target="/ppt/notesMasters/notesMaster1.xml" Id="Rbbf8db0c46e64b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5a904617e44f1f" /><Relationship Type="http://schemas.openxmlformats.org/officeDocument/2006/relationships/notesMaster" Target="/ppt/notesMasters/notesMaster1.xml" Id="R0e117dd5fcc64b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e0c79acfb54a89" /><Relationship Type="http://schemas.openxmlformats.org/officeDocument/2006/relationships/notesMaster" Target="/ppt/notesMasters/notesMaster1.xml" Id="R5b570f929ef34e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c37653261b45f8" /><Relationship Type="http://schemas.openxmlformats.org/officeDocument/2006/relationships/notesMaster" Target="/ppt/notesMasters/notesMaster1.xml" Id="Rb3c0aa07b0a04e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6052769c604f8d" /><Relationship Type="http://schemas.openxmlformats.org/officeDocument/2006/relationships/notesMaster" Target="/ppt/notesMasters/notesMaster1.xml" Id="R3d148dc7b56848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399c26358b4996" /><Relationship Type="http://schemas.openxmlformats.org/officeDocument/2006/relationships/notesMaster" Target="/ppt/notesMasters/notesMaster1.xml" Id="Ra68776c1c6bd41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8645a502dd444b" /><Relationship Type="http://schemas.openxmlformats.org/officeDocument/2006/relationships/notesMaster" Target="/ppt/notesMasters/notesMaster1.xml" Id="R5b1e8b7e312645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27a90f3ec04c1e" /><Relationship Type="http://schemas.openxmlformats.org/officeDocument/2006/relationships/notesMaster" Target="/ppt/notesMasters/notesMaster1.xml" Id="R01a9ae02067d4f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a961e27d6b43f4" /><Relationship Type="http://schemas.openxmlformats.org/officeDocument/2006/relationships/notesMaster" Target="/ppt/notesMasters/notesMaster1.xml" Id="Rb80557a647a14c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38444dbdae43fe" /><Relationship Type="http://schemas.openxmlformats.org/officeDocument/2006/relationships/notesMaster" Target="/ppt/notesMasters/notesMaster1.xml" Id="R25532fda513346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f913edff044a19" /><Relationship Type="http://schemas.openxmlformats.org/officeDocument/2006/relationships/notesMaster" Target="/ppt/notesMasters/notesMaster1.xml" Id="R001c7bee9fbf43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472a246fb5428c" /><Relationship Type="http://schemas.openxmlformats.org/officeDocument/2006/relationships/notesMaster" Target="/ppt/notesMasters/notesMaster1.xml" Id="R3681d92475554d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910e86a54b405c" /><Relationship Type="http://schemas.openxmlformats.org/officeDocument/2006/relationships/notesMaster" Target="/ppt/notesMasters/notesMaster1.xml" Id="R5efd18cd672c45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1c4d331e124623" /><Relationship Type="http://schemas.openxmlformats.org/officeDocument/2006/relationships/notesMaster" Target="/ppt/notesMasters/notesMaster1.xml" Id="R50f6c2f299e346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c2848bc2534613" /><Relationship Type="http://schemas.openxmlformats.org/officeDocument/2006/relationships/notesMaster" Target="/ppt/notesMasters/notesMaster1.xml" Id="Rc3dca0d00c7648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c2e74fecaa4f66" /><Relationship Type="http://schemas.openxmlformats.org/officeDocument/2006/relationships/notesMaster" Target="/ppt/notesMasters/notesMaster1.xml" Id="R71af536ec7ec44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478c1e3cc3415e" /><Relationship Type="http://schemas.openxmlformats.org/officeDocument/2006/relationships/notesMaster" Target="/ppt/notesMasters/notesMaster1.xml" Id="R7226d32887d44f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d6f484c50f493d" /><Relationship Type="http://schemas.openxmlformats.org/officeDocument/2006/relationships/notesMaster" Target="/ppt/notesMasters/notesMaster1.xml" Id="Rffac6550b3c142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bb274f617f4ffd" /><Relationship Type="http://schemas.openxmlformats.org/officeDocument/2006/relationships/notesMaster" Target="/ppt/notesMasters/notesMaster1.xml" Id="R51e44d91287743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a7305ff3a04dcd" /><Relationship Type="http://schemas.openxmlformats.org/officeDocument/2006/relationships/notesMaster" Target="/ppt/notesMasters/notesMaster1.xml" Id="Ra5cc1907878e46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c88c52b03244f9" /><Relationship Type="http://schemas.openxmlformats.org/officeDocument/2006/relationships/notesMaster" Target="/ppt/notesMasters/notesMaster1.xml" Id="R9380f1e626a34a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35b4aa26cb4249" /><Relationship Type="http://schemas.openxmlformats.org/officeDocument/2006/relationships/notesMaster" Target="/ppt/notesMasters/notesMaster1.xml" Id="Rc6f000e41c664b2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ea4d09702874d9a" /><Relationship Type="http://schemas.openxmlformats.org/officeDocument/2006/relationships/notesMaster" Target="/ppt/notesMasters/notesMaster1.xml" Id="R254f1d9d14e143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42392f2a02c4a81" /><Relationship Type="http://schemas.openxmlformats.org/officeDocument/2006/relationships/notesMaster" Target="/ppt/notesMasters/notesMaster1.xml" Id="R72be432db067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00:00 a 03:00</a:t>
            </a:r>
          </a:p>
          <a:p xmlns:a="http://schemas.openxmlformats.org/drawingml/2006/main">
            <a:r>
              <a:t>GUION: Enmer, tramo 0 a 3 minutos.</a:t>
            </a:r>
          </a:p>
          <a:p xmlns:a="http://schemas.openxmlformats.org/drawingml/2006/main">
            <a:r>
              <a:t/>
            </a:r>
          </a:p>
          <a:p xmlns:a="http://schemas.openxmlformats.org/drawingml/2006/main">
            <a:r>
              <a:t>HACER Y COMPROBAR</a:t>
            </a:r>
          </a:p>
          <a:p xmlns:a="http://schemas.openxmlformats.org/drawingml/2006/main">
            <a:r>
              <a:t>HACER. Mostrar diapositivas 1, 2 y 3. En la 2, cada integrante puede saludar y decir su nombre; la presentación de todos debe durar aproximadamente 40 segundos en total. Mantener los carnés visibles, sin leerlos lentamente uno por uno.</a:t>
            </a:r>
          </a:p>
          <a:p xmlns:a="http://schemas.openxmlformats.org/drawingml/2006/main">
            <a:r>
              <a:t/>
            </a:r>
          </a:p>
          <a:p xmlns:a="http://schemas.openxmlformats.org/drawingml/2006/main">
            <a:r>
              <a:t>PAUSA. Permitir el saludo de los compañeros y señalar los tres objetivos de la lámina. No iniciar sesión ni crear cuentas frente al público: la sesión se preparó antes.</a:t>
            </a:r>
          </a:p>
          <a:p xmlns:a="http://schemas.openxmlformats.org/drawingml/2006/main">
            <a:r>
              <a:t/>
            </a:r>
          </a:p>
          <a:p xmlns:a="http://schemas.openxmlformats.org/drawingml/2006/main">
            <a:r>
              <a:t>COMPROBAR. La diapositiva 2 identifica a los cinco integrantes y la 3 permite reconocer el alcance académico.</a:t>
            </a:r>
          </a:p>
          <a:p xmlns:a="http://schemas.openxmlformats.org/drawingml/2006/main">
            <a:r>
              <a:t/>
            </a:r>
          </a:p>
          <a:p xmlns:a="http://schemas.openxmlformats.org/drawingml/2006/main">
            <a:r>
              <a:t>DECIR EN VOZ ALTA</a:t>
            </a:r>
          </a:p>
          <a:p xmlns:a="http://schemas.openxmlformats.org/drawingml/2006/main">
            <a:r>
              <a:t>Buenos días, licenciado y compañeros. Somos el Grupo 3 de Sistemas Operativos 1, de la carrera de Ingeniería en Sistemas de la Universidad Mariano Gálvez. Mi nombre es Enmer Antonio Buch Xinic. Hoy presentamos MemoryLab, un simulador interactivo de administración de memoria.</a:t>
            </a:r>
          </a:p>
          <a:p xmlns:a="http://schemas.openxmlformats.org/drawingml/2006/main">
            <a:r>
              <a:t/>
            </a:r>
          </a:p>
          <a:p xmlns:a="http://schemas.openxmlformats.org/drawingml/2006/main">
            <a:r>
              <a:t>CAMBIO DE PANTALLA</a:t>
            </a:r>
          </a:p>
          <a:p xmlns:a="http://schemas.openxmlformats.org/drawingml/2006/main">
            <a:r>
              <a:t>Diapositiva 2 para presentar al equipo.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public/images/UMG-SOURCE.md</a:t>
            </a:r>
          </a:p>
          <a:p xmlns:a="http://schemas.openxmlformats.org/drawingml/2006/main">
            <a:r>
              <a:t>https://umg.edu.gt/img/Umg.png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00:00 a 03:00</a:t>
            </a:r>
          </a:p>
          <a:p xmlns:a="http://schemas.openxmlformats.org/drawingml/2006/main">
            <a:r>
              <a:t>GUION: Enmer, tramo 0 a 3 minutos.</a:t>
            </a:r>
          </a:p>
          <a:p xmlns:a="http://schemas.openxmlformats.org/drawingml/2006/main">
            <a:r>
              <a:t/>
            </a:r>
          </a:p>
          <a:p xmlns:a="http://schemas.openxmlformats.org/drawingml/2006/main">
            <a:r>
              <a:t>HACER Y COMPROBAR</a:t>
            </a:r>
          </a:p>
          <a:p xmlns:a="http://schemas.openxmlformats.org/drawingml/2006/main">
            <a:r>
              <a:t>HACER. Mostrar diapositivas 1, 2 y 3. En la 2, cada integrante puede saludar y decir su nombre; la presentación de todos debe durar aproximadamente 40 segundos en total. Mantener los carnés visibles, sin leerlos lentamente uno por uno.</a:t>
            </a:r>
          </a:p>
          <a:p xmlns:a="http://schemas.openxmlformats.org/drawingml/2006/main">
            <a:r>
              <a:t/>
            </a:r>
          </a:p>
          <a:p xmlns:a="http://schemas.openxmlformats.org/drawingml/2006/main">
            <a:r>
              <a:t>PAUSA. Permitir el saludo de los compañeros y señalar los tres objetivos de la lámina. No iniciar sesión ni crear cuentas frente al público: la sesión se preparó antes.</a:t>
            </a:r>
          </a:p>
          <a:p xmlns:a="http://schemas.openxmlformats.org/drawingml/2006/main">
            <a:r>
              <a:t/>
            </a:r>
          </a:p>
          <a:p xmlns:a="http://schemas.openxmlformats.org/drawingml/2006/main">
            <a:r>
              <a:t>COMPROBAR. La diapositiva 2 identifica a los cinco integrantes y la 3 permite reconocer el alcance académico.</a:t>
            </a:r>
          </a:p>
          <a:p xmlns:a="http://schemas.openxmlformats.org/drawingml/2006/main">
            <a:r>
              <a:t/>
            </a:r>
          </a:p>
          <a:p xmlns:a="http://schemas.openxmlformats.org/drawingml/2006/main">
            <a:r>
              <a:t>DECIR EN VOZ ALTA</a:t>
            </a:r>
          </a:p>
          <a:p xmlns:a="http://schemas.openxmlformats.org/drawingml/2006/main">
            <a:r>
              <a:t>Nuestro equipo también está formado por Lester Emilio Pedro Juan, Deivid Alberto Guerra Carpio, Rebeca Alizon Najarro Duarte y Carlos Lopez Urizar. Todos participaremos en la explicación y en las demostraciones. En esta diapositiva pueden ver nuestros nombres y carnés.</a:t>
            </a:r>
          </a:p>
          <a:p xmlns:a="http://schemas.openxmlformats.org/drawingml/2006/main">
            <a:r>
              <a:t/>
            </a:r>
          </a:p>
          <a:p xmlns:a="http://schemas.openxmlformats.org/drawingml/2006/main">
            <a:r>
              <a:t>CAMBIO DE PANTALLA</a:t>
            </a:r>
          </a:p>
          <a:p xmlns:a="http://schemas.openxmlformats.org/drawingml/2006/main">
            <a:r>
              <a:t>Diapositiva 3 para explicar el objetivo.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00:00 a 03:00</a:t>
            </a:r>
          </a:p>
          <a:p xmlns:a="http://schemas.openxmlformats.org/drawingml/2006/main">
            <a:r>
              <a:t>GUION: Enmer, tramo 0 a 3 minutos.</a:t>
            </a:r>
          </a:p>
          <a:p xmlns:a="http://schemas.openxmlformats.org/drawingml/2006/main">
            <a:r>
              <a:t/>
            </a:r>
          </a:p>
          <a:p xmlns:a="http://schemas.openxmlformats.org/drawingml/2006/main">
            <a:r>
              <a:t>HACER Y COMPROBAR</a:t>
            </a:r>
          </a:p>
          <a:p xmlns:a="http://schemas.openxmlformats.org/drawingml/2006/main">
            <a:r>
              <a:t>HACER. Mostrar diapositivas 1, 2 y 3. En la 2, cada integrante puede saludar y decir su nombre; la presentación de todos debe durar aproximadamente 40 segundos en total. Mantener los carnés visibles, sin leerlos lentamente uno por uno.</a:t>
            </a:r>
          </a:p>
          <a:p xmlns:a="http://schemas.openxmlformats.org/drawingml/2006/main">
            <a:r>
              <a:t/>
            </a:r>
          </a:p>
          <a:p xmlns:a="http://schemas.openxmlformats.org/drawingml/2006/main">
            <a:r>
              <a:t>PAUSA. Permitir el saludo de los compañeros y señalar los tres objetivos de la lámina. No iniciar sesión ni crear cuentas frente al público: la sesión se preparó antes.</a:t>
            </a:r>
          </a:p>
          <a:p xmlns:a="http://schemas.openxmlformats.org/drawingml/2006/main">
            <a:r>
              <a:t/>
            </a:r>
          </a:p>
          <a:p xmlns:a="http://schemas.openxmlformats.org/drawingml/2006/main">
            <a:r>
              <a:t>COMPROBAR. La diapositiva 2 identifica a los cinco integrantes y la 3 permite reconocer el alcance académico.</a:t>
            </a:r>
          </a:p>
          <a:p xmlns:a="http://schemas.openxmlformats.org/drawingml/2006/main">
            <a:r>
              <a:t/>
            </a:r>
          </a:p>
          <a:p xmlns:a="http://schemas.openxmlformats.org/drawingml/2006/main">
            <a:r>
              <a:t>DECIR EN VOZ ALTA</a:t>
            </a:r>
          </a:p>
          <a:p xmlns:a="http://schemas.openxmlformats.org/drawingml/2006/main">
            <a:r>
              <a:t>Durante esta hora vamos a seguir lo que sucede cuando un proceso necesita consultar una parte de su memoria. Primero veremos cómo una tabla relaciona páginas con espacios de RAM. Después provocaremos un fallo de página y llenaremos la memoria para observar qué hace el algoritmo FIFO. Luego localizaremos un byte mediante una dirección lógica y mostraremos cómo un segmento protege sus límites.</a:t>
            </a:r>
          </a:p>
          <a:p xmlns:a="http://schemas.openxmlformats.org/drawingml/2006/main">
            <a:r>
              <a:t/>
            </a:r>
          </a:p>
          <a:p xmlns:a="http://schemas.openxmlformats.org/drawingml/2006/main">
            <a:r>
              <a:t>Para terminar, compararemos la asignación contigua, la paginación y la segmentación. Nos interesa comprobar por qué una solicitud puede fallar aunque la suma de los espacios libres parezca suficiente.</a:t>
            </a:r>
          </a:p>
          <a:p xmlns:a="http://schemas.openxmlformats.org/drawingml/2006/main">
            <a:r>
              <a:t/>
            </a:r>
          </a:p>
          <a:p xmlns:a="http://schemas.openxmlformats.org/drawingml/2006/main">
            <a:r>
              <a:t>La memoria de los diagramas es simulada. Cuando indiquemos cuatro kilobytes de RAM, estaremos configurando el modelo educativo; no estaremos reduciendo ni reservando la RAM física de esta computadora. Elegimos cantidades pequeñas para poder revisar cada operación sin perder de vista las tablas.</a:t>
            </a:r>
          </a:p>
          <a:p xmlns:a="http://schemas.openxmlformats.org/drawingml/2006/main">
            <a:r>
              <a:t/>
            </a:r>
          </a:p>
          <a:p xmlns:a="http://schemas.openxmlformats.org/drawingml/2006/main">
            <a:r>
              <a:t>Al terminar esperamos poder responder tres preguntas: dónde está una página, qué hacemos si no está en RAM y qué direcciones tiene permitido utilizar un proceso.</a:t>
            </a:r>
          </a:p>
          <a:p xmlns:a="http://schemas.openxmlformats.org/drawingml/2006/main">
            <a:r>
              <a:t/>
            </a:r>
          </a:p>
          <a:p xmlns:a="http://schemas.openxmlformats.org/drawingml/2006/main">
            <a:r>
              <a:t>CAMBIO DE PANTALLA</a:t>
            </a:r>
          </a:p>
          <a:p xmlns:a="http://schemas.openxmlformats.org/drawingml/2006/main">
            <a:r>
              <a:t>Diapositiva 4. Empezar el tramo 03:00 a 06:00.</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03:00 a 06:00</a:t>
            </a:r>
          </a:p>
          <a:p xmlns:a="http://schemas.openxmlformats.org/drawingml/2006/main">
            <a:r>
              <a:t>GUION: Enmer, tramo 3 a 6 minutos.</a:t>
            </a:r>
          </a:p>
          <a:p xmlns:a="http://schemas.openxmlformats.org/drawingml/2006/main">
            <a:r>
              <a:t/>
            </a:r>
          </a:p>
          <a:p xmlns:a="http://schemas.openxmlformats.org/drawingml/2006/main">
            <a:r>
              <a:t>HACER Y COMPROBAR</a:t>
            </a:r>
          </a:p>
          <a:p xmlns:a="http://schemas.openxmlformats.org/drawingml/2006/main">
            <a:r>
              <a:t>HACER. Mostrar la diapositiva 4 y usar una hoja si hace falta. Escribir proceso → página → tabla → marco de RAM. Debajo escribir 1 KB = 1024 bytes y 4 KB ÷ 1 KB = 4 marcos.</a:t>
            </a:r>
          </a:p>
          <a:p xmlns:a="http://schemas.openxmlformats.org/drawingml/2006/main">
            <a:r>
              <a:t/>
            </a:r>
          </a:p>
          <a:p xmlns:a="http://schemas.openxmlformats.org/drawingml/2006/main">
            <a:r>
              <a:t>PAUSA. Preguntar: “Si tenemos cuatro casillas y seis piezas, ¿pueden estar todas dentro al mismo tiempo?”. Esperar una respuesta y confirmar: “No; necesitamos decidir cuáles mantener en RAM”.</a:t>
            </a:r>
          </a:p>
          <a:p xmlns:a="http://schemas.openxmlformats.org/drawingml/2006/main">
            <a:r>
              <a:t/>
            </a:r>
          </a:p>
          <a:p xmlns:a="http://schemas.openxmlformats.org/drawingml/2006/main">
            <a:r>
              <a:t>DECIR EN VOZ ALTA</a:t>
            </a:r>
          </a:p>
          <a:p xmlns:a="http://schemas.openxmlformats.org/drawingml/2006/main">
            <a:r>
              <a:t>Antes de abrir la aplicación voy a aclarar las palabras que utilizaremos. Un proceso es un programa en ejecución. Para trabajar necesita instrucciones y datos, y estos ocupan posiciones de memoria. Una dirección identifica una de esas posiciones.</a:t>
            </a:r>
          </a:p>
          <a:p xmlns:a="http://schemas.openxmlformats.org/drawingml/2006/main">
            <a:r>
              <a:t/>
            </a:r>
          </a:p>
          <a:p xmlns:a="http://schemas.openxmlformats.org/drawingml/2006/main">
            <a:r>
              <a:t>La RAM es la memoria principal donde el procesador puede trabajar con lo que necesita. El almacenamiento secundario nos permite mantener páginas que en este momento no están alojadas en RAM. En el dibujo lo llamaremos disco, pero sigue siendo parte del modelo simulado.</a:t>
            </a:r>
          </a:p>
          <a:p xmlns:a="http://schemas.openxmlformats.org/drawingml/2006/main">
            <a:r>
              <a:t/>
            </a:r>
          </a:p>
          <a:p xmlns:a="http://schemas.openxmlformats.org/drawingml/2006/main">
            <a:r>
              <a:t>En paginación dividimos la memoria del proceso en partes del mismo tamaño llamadas páginas. También dividimos la RAM en espacios del mismo tamaño llamados marcos. La página pertenece al proceso; el marco es el lugar de la RAM que puede recibirla. Tener el mismo tamaño no significa que sean el mismo concepto.</a:t>
            </a:r>
          </a:p>
          <a:p xmlns:a="http://schemas.openxmlformats.org/drawingml/2006/main">
            <a:r>
              <a:t/>
            </a:r>
          </a:p>
          <a:p xmlns:a="http://schemas.openxmlformats.org/drawingml/2006/main">
            <a:r>
              <a:t>Pensemos en piezas numeradas y casillas disponibles. La pieza número tres puede colocarse en la casilla número dos. Para recordar esa relación necesitamos una tabla. En la simulación veremos precisamente una página tres ubicada en un marco dos.</a:t>
            </a:r>
          </a:p>
          <a:p xmlns:a="http://schemas.openxmlformats.org/drawingml/2006/main">
            <a:r>
              <a:t/>
            </a:r>
          </a:p>
          <a:p xmlns:a="http://schemas.openxmlformats.org/drawingml/2006/main">
            <a:r>
              <a:t>Los números comienzan en cero. Cuatro marcos se identifican como cero, uno, dos y tres. También una página de mil veinticuatro bytes tiene posiciones desde cero hasta mil veintitrés.</a:t>
            </a:r>
          </a:p>
          <a:p xmlns:a="http://schemas.openxmlformats.org/drawingml/2006/main">
            <a:r>
              <a:t/>
            </a:r>
          </a:p>
          <a:p xmlns:a="http://schemas.openxmlformats.org/drawingml/2006/main">
            <a:r>
              <a:t>En esta aplicación un kilobyte equivale a mil veinticuatro bytes. Si configuramos cuatro kilobytes de RAM y páginas de un kilobyte, obtenemos cuatro marcos. Si el proceso necesita seis kilobytes, tendrá seis páginas. Solo cuatro podrán estar en RAM al mismo tiempo en nuestro ejemplo, y las otras permanecerán fuera de ella.</a:t>
            </a:r>
          </a:p>
          <a:p xmlns:a="http://schemas.openxmlformats.org/drawingml/2006/main">
            <a:r>
              <a:t/>
            </a:r>
          </a:p>
          <a:p xmlns:a="http://schemas.openxmlformats.org/drawingml/2006/main">
            <a:r>
              <a:t>Esto nos permitirá observar el traslado y el reemplazo de páginas con números que podemos comprobar a simple vista.</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06:00 a 09:00</a:t>
            </a:r>
          </a:p>
          <a:p xmlns:a="http://schemas.openxmlformats.org/drawingml/2006/main">
            <a:r>
              <a:t>GUION: Enmer, tramo 6 a 9 minutos.</a:t>
            </a:r>
          </a:p>
          <a:p xmlns:a="http://schemas.openxmlformats.org/drawingml/2006/main">
            <a:r>
              <a:t/>
            </a:r>
          </a:p>
          <a:p xmlns:a="http://schemas.openxmlformats.org/drawingml/2006/main">
            <a:r>
              <a:t>HACER Y COMPROBAR</a:t>
            </a:r>
          </a:p>
          <a:p xmlns:a="http://schemas.openxmlformats.org/drawingml/2006/main">
            <a:r>
              <a:t>HACER. Mostrar la diapositiva 5; después pasar al navegador y abrir Inicio. Señalar el menú de Configuración de memoria, Procesos, Paginación y Segmentación.</a:t>
            </a:r>
          </a:p>
          <a:p xmlns:a="http://schemas.openxmlformats.org/drawingml/2006/main">
            <a:r>
              <a:t/>
            </a:r>
          </a:p>
          <a:p xmlns:a="http://schemas.openxmlformats.org/drawingml/2006/main">
            <a:r>
              <a:t>HACER. Abrir Configuración de memoria. En Escenario, seleccionar Crear un escenario nuevo. Dejar el formulario listo para el siguiente tramo.</a:t>
            </a:r>
          </a:p>
          <a:p xmlns:a="http://schemas.openxmlformats.org/drawingml/2006/main">
            <a:r>
              <a:t/>
            </a:r>
          </a:p>
          <a:p xmlns:a="http://schemas.openxmlformats.org/drawingml/2006/main">
            <a:r>
              <a:t>COMPROBAR. Los campos de nombre y capacidades están habilitados. Si no lo están, revisar la cuenta antes de continuar.</a:t>
            </a:r>
          </a:p>
          <a:p xmlns:a="http://schemas.openxmlformats.org/drawingml/2006/main">
            <a:r>
              <a:t/>
            </a:r>
          </a:p>
          <a:p xmlns:a="http://schemas.openxmlformats.org/drawingml/2006/main">
            <a:r>
              <a:t>DECIR EN VOZ ALTA</a:t>
            </a:r>
          </a:p>
          <a:p xmlns:a="http://schemas.openxmlformats.org/drawingml/2006/main">
            <a:r>
              <a:t>MemoryLab es una aplicación web. La pantalla está construida con Blade, Bootstrap y la plantilla Sneat. Livewire comunica las acciones de la pantalla con Laravel. Los servicios del servidor comprueban las reglas y la base de datos conserva los escenarios, procesos y resultados.</a:t>
            </a:r>
          </a:p>
          <a:p xmlns:a="http://schemas.openxmlformats.org/drawingml/2006/main">
            <a:r>
              <a:t/>
            </a:r>
          </a:p>
          <a:p xmlns:a="http://schemas.openxmlformats.org/drawingml/2006/main">
            <a:r>
              <a:t>Lo importante de esta organización es que el mapa y la tabla representan el mismo estado. Cuando carguemos una página, la asignación se guarda; la animación nos ayuda a explicar lo ocurrido. El resultado no depende de cambiar un color en el navegador.</a:t>
            </a:r>
          </a:p>
          <a:p xmlns:a="http://schemas.openxmlformats.org/drawingml/2006/main">
            <a:r>
              <a:t/>
            </a:r>
          </a:p>
          <a:p xmlns:a="http://schemas.openxmlformats.org/drawingml/2006/main">
            <a:r>
              <a:t>La aplicación maneja tres roles. Administrador puede preparar la configuración, Operador puede ejecutar actividades permitidas y Observador puede consultar resultados. Hoy usaremos una cuenta administradora para mostrar el recorrido completo con una sola computadora.</a:t>
            </a:r>
          </a:p>
          <a:p xmlns:a="http://schemas.openxmlformats.org/drawingml/2006/main">
            <a:r>
              <a:t/>
            </a:r>
          </a:p>
          <a:p xmlns:a="http://schemas.openxmlformats.org/drawingml/2006/main">
            <a:r>
              <a:t>En el panel veremos indicadores de RAM total, utilizada y disponible. Si no hay un escenario seleccionado, pueden aparecer guiones. Eso significa que todavía no se está mostrando un conjunto concreto de datos. No debemos interpretar un guion como una cantidad de memoria.</a:t>
            </a:r>
          </a:p>
          <a:p xmlns:a="http://schemas.openxmlformats.org/drawingml/2006/main">
            <a:r>
              <a:t/>
            </a:r>
          </a:p>
          <a:p xmlns:a="http://schemas.openxmlformats.org/drawingml/2006/main">
            <a:r>
              <a:t>Un escenario reúne su propia configuración y sus procesos. Por eso vamos a crear uno nuevo para esta exposición. Así sabemos que comenzamos con cero páginas cargadas y que los contadores pertenecen a lo que hagamos aquí.</a:t>
            </a:r>
          </a:p>
          <a:p xmlns:a="http://schemas.openxmlformats.org/drawingml/2006/main">
            <a:r>
              <a:t/>
            </a:r>
          </a:p>
          <a:p xmlns:a="http://schemas.openxmlformats.org/drawingml/2006/main">
            <a:r>
              <a:t>Al cambiar de pantalla comprobaremos el nombre y el número del escenario. También elegiremos el proceso cuando corresponda. Esto evita consultar una tabla de otro ejemplo y atribuirle resultados que no le pertenecen.</a:t>
            </a:r>
          </a:p>
          <a:p xmlns:a="http://schemas.openxmlformats.org/drawingml/2006/main">
            <a:r>
              <a:t/>
            </a:r>
          </a:p>
          <a:p xmlns:a="http://schemas.openxmlformats.org/drawingml/2006/main">
            <a:r>
              <a:t>Ahora vamos a preparar la memoria de cuatro marcos que acabamos de calcular.</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routes/web.php</a:t>
            </a:r>
          </a:p>
          <a:p xmlns:a="http://schemas.openxmlformats.org/drawingml/2006/main">
            <a:r>
              <a:t>app/Services</a:t>
            </a:r>
          </a:p>
          <a:p xmlns:a="http://schemas.openxmlformats.org/drawingml/2006/main">
            <a:r>
              <a:t>database/seeders/RolesAndPermissionsSeeder.php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09:00 a 12:00</a:t>
            </a:r>
          </a:p>
          <a:p xmlns:a="http://schemas.openxmlformats.org/drawingml/2006/main">
            <a:r>
              <a:t>GUION: Enmer, tramo 9 a 12 minutos.</a:t>
            </a:r>
          </a:p>
          <a:p xmlns:a="http://schemas.openxmlformats.org/drawingml/2006/main">
            <a:r>
              <a:t/>
            </a:r>
          </a:p>
          <a:p xmlns:a="http://schemas.openxmlformats.org/drawingml/2006/main">
            <a:r>
              <a:t>HACER Y COMPROBAR</a:t>
            </a:r>
          </a:p>
          <a:p xmlns:a="http://schemas.openxmlformats.org/drawingml/2006/main">
            <a:r>
              <a:t>HACER. Mostrar la diapositiva 6. Pasar a Configuración de memoria y llenar:</a:t>
            </a:r>
          </a:p>
          <a:p xmlns:a="http://schemas.openxmlformats.org/drawingml/2006/main">
            <a:r>
              <a:t/>
            </a:r>
          </a:p>
          <a:p xmlns:a="http://schemas.openxmlformats.org/drawingml/2006/main">
            <a:r>
              <a:t>HACER. Comprobar Número de marcos: 4 y pulsar Guardar configuración una vez. Anotar el #ID. Mostrar la diapositiva 7 y abrir Procesos. Comprobar ese escenario y, en Crear proceso, ingresar Nombre: Chrome, Tamaño (KB): 6. Comprobar Páginas requeridas: 6 y pulsar Crear proceso una vez.</a:t>
            </a:r>
          </a:p>
          <a:p xmlns:a="http://schemas.openxmlformats.org/drawingml/2006/main">
            <a:r>
              <a:t/>
            </a:r>
          </a:p>
          <a:p xmlns:a="http://schemas.openxmlformats.org/drawingml/2006/main">
            <a:r>
              <a:t>HACER. Abrir Paginación, comprobar Seleccionar escenario y elegir Chrome en Seleccionar proceso. Dejar visible la tabla.</a:t>
            </a:r>
          </a:p>
          <a:p xmlns:a="http://schemas.openxmlformats.org/drawingml/2006/main">
            <a:r>
              <a:t/>
            </a:r>
          </a:p>
          <a:p xmlns:a="http://schemas.openxmlformats.org/drawingml/2006/main">
            <a:r>
              <a:t>COMPROBAR. Seis páginas en DISCO, ninguna con marco. RAM utilizada 0 KB; secundaria utilizada 6 KB. Entregar el control a Lester a las 12:00.</a:t>
            </a:r>
          </a:p>
          <a:p xmlns:a="http://schemas.openxmlformats.org/drawingml/2006/main">
            <a:r>
              <a:t/>
            </a:r>
          </a:p>
          <a:p xmlns:a="http://schemas.openxmlformats.org/drawingml/2006/main">
            <a:r>
              <a:t>DECIR EN VOZ ALTA</a:t>
            </a:r>
          </a:p>
          <a:p xmlns:a="http://schemas.openxmlformats.org/drawingml/2006/main">
            <a:r>
              <a:t>Estamos creando un escenario llamado Exposición G3 Paginación 01. Le damos cuatro kilobytes de RAM y un kilobyte por página. El número de marcos se calcula automáticamente y debe indicar cuatro. El almacenamiento secundario tendrá capacidad para dieciséis kilobytes.</a:t>
            </a:r>
          </a:p>
          <a:p xmlns:a="http://schemas.openxmlformats.org/drawingml/2006/main">
            <a:r>
              <a:t/>
            </a:r>
          </a:p>
          <a:p xmlns:a="http://schemas.openxmlformats.org/drawingml/2006/main">
            <a:r>
              <a:t>CAMBIO DE PANTALLA</a:t>
            </a:r>
          </a:p>
          <a:p xmlns:a="http://schemas.openxmlformats.org/drawingml/2006/main">
            <a:r>
              <a:t>Guardar configuración, anotar el #ID y pasar a la diapositiva 7.</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resources/views/livewire/memory-configuration.blade.php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Enmer Antonio Buch Xinic</a:t>
            </a:r>
          </a:p>
          <a:p xmlns:a="http://schemas.openxmlformats.org/drawingml/2006/main">
            <a:r>
              <a:t>TIEMPO: 09:00 a 12:00</a:t>
            </a:r>
          </a:p>
          <a:p xmlns:a="http://schemas.openxmlformats.org/drawingml/2006/main">
            <a:r>
              <a:t>GUION: Enmer, tramo 9 a 12 minutos.</a:t>
            </a:r>
          </a:p>
          <a:p xmlns:a="http://schemas.openxmlformats.org/drawingml/2006/main">
            <a:r>
              <a:t/>
            </a:r>
          </a:p>
          <a:p xmlns:a="http://schemas.openxmlformats.org/drawingml/2006/main">
            <a:r>
              <a:t>HACER Y COMPROBAR</a:t>
            </a:r>
          </a:p>
          <a:p xmlns:a="http://schemas.openxmlformats.org/drawingml/2006/main">
            <a:r>
              <a:t>HACER. Mostrar la diapositiva 6. Pasar a Configuración de memoria y llenar:</a:t>
            </a:r>
          </a:p>
          <a:p xmlns:a="http://schemas.openxmlformats.org/drawingml/2006/main">
            <a:r>
              <a:t/>
            </a:r>
          </a:p>
          <a:p xmlns:a="http://schemas.openxmlformats.org/drawingml/2006/main">
            <a:r>
              <a:t>HACER. Comprobar Número de marcos: 4 y pulsar Guardar configuración una vez. Anotar el #ID. Mostrar la diapositiva 7 y abrir Procesos. Comprobar ese escenario y, en Crear proceso, ingresar Nombre: Chrome, Tamaño (KB): 6. Comprobar Páginas requeridas: 6 y pulsar Crear proceso una vez.</a:t>
            </a:r>
          </a:p>
          <a:p xmlns:a="http://schemas.openxmlformats.org/drawingml/2006/main">
            <a:r>
              <a:t/>
            </a:r>
          </a:p>
          <a:p xmlns:a="http://schemas.openxmlformats.org/drawingml/2006/main">
            <a:r>
              <a:t>HACER. Abrir Paginación, comprobar Seleccionar escenario y elegir Chrome en Seleccionar proceso. Dejar visible la tabla.</a:t>
            </a:r>
          </a:p>
          <a:p xmlns:a="http://schemas.openxmlformats.org/drawingml/2006/main">
            <a:r>
              <a:t/>
            </a:r>
          </a:p>
          <a:p xmlns:a="http://schemas.openxmlformats.org/drawingml/2006/main">
            <a:r>
              <a:t>COMPROBAR. Seis páginas en DISCO, ninguna con marco. RAM utilizada 0 KB; secundaria utilizada 6 KB. Entregar el control a Lester a las 12:00.</a:t>
            </a:r>
          </a:p>
          <a:p xmlns:a="http://schemas.openxmlformats.org/drawingml/2006/main">
            <a:r>
              <a:t/>
            </a:r>
          </a:p>
          <a:p xmlns:a="http://schemas.openxmlformats.org/drawingml/2006/main">
            <a:r>
              <a:t>DECIR EN VOZ ALTA</a:t>
            </a:r>
          </a:p>
          <a:p xmlns:a="http://schemas.openxmlformats.org/drawingml/2006/main">
            <a:r>
              <a:t>Guardamos y anotamos el identificador. En la pantalla Procesos elegimos ese mismo escenario. Ahora creamos Chrome con un tamaño de seis kilobytes. Chrome es el nombre de nuestro proceso de ejemplo; escribirlo aquí no abre otra aplicación real en la computadora.</a:t>
            </a:r>
          </a:p>
          <a:p xmlns:a="http://schemas.openxmlformats.org/drawingml/2006/main">
            <a:r>
              <a:t/>
            </a:r>
          </a:p>
          <a:p xmlns:a="http://schemas.openxmlformats.org/drawingml/2006/main">
            <a:r>
              <a:t>Como seis dividido entre uno es seis, aparecen seis páginas requeridas. Sus números serán P0, P1, P2, P3, P4 y P5. Crear el proceso todavía no carga ninguna de ellas en RAM. En este modelo empiezan sin marco, en almacenamiento secundario.</a:t>
            </a:r>
          </a:p>
          <a:p xmlns:a="http://schemas.openxmlformats.org/drawingml/2006/main">
            <a:r>
              <a:t/>
            </a:r>
          </a:p>
          <a:p xmlns:a="http://schemas.openxmlformats.org/drawingml/2006/main">
            <a:r>
              <a:t>Por eso, al revisar la memoria tendremos cuatro marcos libres y seis kilobytes utilizados en secundaria. No hay contradicción en que el proceso sea mayor que nuestra RAM: no exigiremos mantener sus seis páginas residentes al mismo tiempo.</a:t>
            </a:r>
          </a:p>
          <a:p xmlns:a="http://schemas.openxmlformats.org/drawingml/2006/main">
            <a:r>
              <a:t/>
            </a:r>
          </a:p>
          <a:p xmlns:a="http://schemas.openxmlformats.org/drawingml/2006/main">
            <a:r>
              <a:t>Hemos preparado las condiciones iniciales. Lester va a mostrar cómo consultamos la tabla y cómo cambia cuando la CPU solicita una página que todavía está fuera de RAM.</a:t>
            </a:r>
          </a:p>
          <a:p xmlns:a="http://schemas.openxmlformats.org/drawingml/2006/main">
            <a:r>
              <a:t/>
            </a:r>
          </a:p>
          <a:p xmlns:a="http://schemas.openxmlformats.org/drawingml/2006/main">
            <a:r>
              <a:t>CAMBIO DE PANTALLA</a:t>
            </a:r>
          </a:p>
          <a:p xmlns:a="http://schemas.openxmlformats.org/drawingml/2006/main">
            <a:r>
              <a:t>Crear Chrome, abrir Paginación y seleccionar el proceso. Lester continúa con la diapositiva 8.</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resources/views/livewire/process-manager.blade.php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Lester Emilio Pedro Juan</a:t>
            </a:r>
          </a:p>
          <a:p xmlns:a="http://schemas.openxmlformats.org/drawingml/2006/main">
            <a:r>
              <a:t>TIEMPO: 12:00 a 15:00</a:t>
            </a:r>
          </a:p>
          <a:p xmlns:a="http://schemas.openxmlformats.org/drawingml/2006/main">
            <a:r>
              <a:t>GUION: Lester, tramo 12 a 15 minutos.</a:t>
            </a:r>
          </a:p>
          <a:p xmlns:a="http://schemas.openxmlformats.org/drawingml/2006/main">
            <a:r>
              <a:t/>
            </a:r>
          </a:p>
          <a:p xmlns:a="http://schemas.openxmlformats.org/drawingml/2006/main">
            <a:r>
              <a:t>HACER Y COMPROBAR</a:t>
            </a:r>
          </a:p>
          <a:p xmlns:a="http://schemas.openxmlformats.org/drawingml/2006/main">
            <a:r>
              <a:t>HACER. Mostrar la diapositiva 8 y regresar a Paginación. Señalar las columnas Página, Marco, Presente y Estado; después señalar los cuatro marcos del mapa.</a:t>
            </a:r>
          </a:p>
          <a:p xmlns:a="http://schemas.openxmlformats.org/drawingml/2006/main">
            <a:r>
              <a:t/>
            </a:r>
          </a:p>
          <a:p xmlns:a="http://schemas.openxmlformats.org/drawingml/2006/main">
            <a:r>
              <a:t>PAUSA. Señalar P0 y preguntar: “¿Ya tiene marco?”. Esperar y confirmar: “Todavía no; vamos a solicitarla”.</a:t>
            </a:r>
          </a:p>
          <a:p xmlns:a="http://schemas.openxmlformats.org/drawingml/2006/main">
            <a:r>
              <a:t/>
            </a:r>
          </a:p>
          <a:p xmlns:a="http://schemas.openxmlformats.org/drawingml/2006/main">
            <a:r>
              <a:t>HACER. Bajar a Solicitud de CPU y seleccionar Modo de simulación: Paso a paso y Página 0 · DISCO. No pulsar todavía otra página.</a:t>
            </a:r>
          </a:p>
          <a:p xmlns:a="http://schemas.openxmlformats.org/drawingml/2006/main">
            <a:r>
              <a:t/>
            </a:r>
          </a:p>
          <a:p xmlns:a="http://schemas.openxmlformats.org/drawingml/2006/main">
            <a:r>
              <a:t>DECIR EN VOZ ALTA</a:t>
            </a:r>
          </a:p>
          <a:p xmlns:a="http://schemas.openxmlformats.org/drawingml/2006/main">
            <a:r>
              <a:t>Mi nombre es Lester Emilio Pedro Juan. Vamos a utilizar la tabla de páginas para conectar el proceso con la memoria RAM. La lámina muestra el estado inicial que comprobaremos en la aplicación: seis páginas en disco y cuatro marcos disponibles.</a:t>
            </a:r>
          </a:p>
          <a:p xmlns:a="http://schemas.openxmlformats.org/drawingml/2006/main">
            <a:r>
              <a:t/>
            </a:r>
          </a:p>
          <a:p xmlns:a="http://schemas.openxmlformats.org/drawingml/2006/main">
            <a:r>
              <a:t>La primera columna identifica la página dentro de Chrome. La columna Marco indica su ubicación actual en RAM, si tiene una. Presente nos dice si está cargada y Estado muestra RAM o DISCO.</a:t>
            </a:r>
          </a:p>
          <a:p xmlns:a="http://schemas.openxmlformats.org/drawingml/2006/main">
            <a:r>
              <a:t/>
            </a:r>
          </a:p>
          <a:p xmlns:a="http://schemas.openxmlformats.org/drawingml/2006/main">
            <a:r>
              <a:t>En este momento todas las páginas tienen un guion en Marco, dicen No en Presente y aparecen en DISCO. El guion no es el número cero. Significa que no hay un marco asignado. El marco cero sí existe y lo veremos cuando se cargue la primera página.</a:t>
            </a:r>
          </a:p>
          <a:p xmlns:a="http://schemas.openxmlformats.org/drawingml/2006/main">
            <a:r>
              <a:t/>
            </a:r>
          </a:p>
          <a:p xmlns:a="http://schemas.openxmlformats.org/drawingml/2006/main">
            <a:r>
              <a:t>En el mapa aparecen cuatro espacios libres: marco cero, uno, dos y tres. Este mapa representa la RAM del escenario completo. Nuestra tabla corresponde al proceso Chrome que hemos seleccionado. Si hubiera otros procesos, sus páginas también podrían aparecer ocupando marcos en ese mapa.</a:t>
            </a:r>
          </a:p>
          <a:p xmlns:a="http://schemas.openxmlformats.org/drawingml/2006/main">
            <a:r>
              <a:t/>
            </a:r>
          </a:p>
          <a:p xmlns:a="http://schemas.openxmlformats.org/drawingml/2006/main">
            <a:r>
              <a:t>Es importante aclarar que estas páginas no son sitios de Internet ni pestañas de Chrome. Son divisiones del espacio de memoria del proceso. El número de páginas depende del tamaño del proceso y del tamaño que configuramos para cada página.</a:t>
            </a:r>
          </a:p>
          <a:p xmlns:a="http://schemas.openxmlformats.org/drawingml/2006/main">
            <a:r>
              <a:t/>
            </a:r>
          </a:p>
          <a:p xmlns:a="http://schemas.openxmlformats.org/drawingml/2006/main">
            <a:r>
              <a:t>Cuando la CPU solicite una página, consultaremos esta tabla. Si está presente, podremos utilizar su marco. Si está ausente, necesitaremos cargarla antes de completar el acceso.</a:t>
            </a:r>
          </a:p>
          <a:p xmlns:a="http://schemas.openxmlformats.org/drawingml/2006/main">
            <a:r>
              <a:t/>
            </a:r>
          </a:p>
          <a:p xmlns:a="http://schemas.openxmlformats.org/drawingml/2006/main">
            <a:r>
              <a:t>La tabla nos permite cambiar la ubicación de una página sin cambiar el número con el que el proceso la identifica. Por eso no basta con conocer el número de página: también necesitamos la relación actual con su marco.</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resources/views/livewire/paging-simulator.blade.php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Lester Emilio Pedro Juan</a:t>
            </a:r>
          </a:p>
          <a:p xmlns:a="http://schemas.openxmlformats.org/drawingml/2006/main">
            <a:r>
              <a:t>TIEMPO: 15:00 a 18:00</a:t>
            </a:r>
          </a:p>
          <a:p xmlns:a="http://schemas.openxmlformats.org/drawingml/2006/main">
            <a:r>
              <a:t>GUION: Lester, tramo 15 a 18 minutos.</a:t>
            </a:r>
          </a:p>
          <a:p xmlns:a="http://schemas.openxmlformats.org/drawingml/2006/main">
            <a:r>
              <a:t/>
            </a:r>
          </a:p>
          <a:p xmlns:a="http://schemas.openxmlformats.org/drawingml/2006/main">
            <a:r>
              <a:t>HACER Y COMPROBAR</a:t>
            </a:r>
          </a:p>
          <a:p xmlns:a="http://schemas.openxmlformats.org/drawingml/2006/main">
            <a:r>
              <a:t>HACER. Mostrar la diapositiva 9 y volver a la aplicación. Pulsar Acceder a página. Se abre el paso 1. Pulsar Siguiente una vez después de explicar cada estado hasta llegar al 8; son siete clics en Siguiente. Dejar entre tres y cinco segundos para observar cada paso.</a:t>
            </a:r>
          </a:p>
          <a:p xmlns:a="http://schemas.openxmlformats.org/drawingml/2006/main">
            <a:r>
              <a:t/>
            </a:r>
          </a:p>
          <a:p xmlns:a="http://schemas.openxmlformats.org/drawingml/2006/main">
            <a:r>
              <a:t>COMPROBAR. Resultado PAGE_FAULT, marco 0, acceso completado. RAM utilizada 1 KB, marcos libres 3, secundaria utilizada 5 KB, Faults acumulados 1.</a:t>
            </a:r>
          </a:p>
          <a:p xmlns:a="http://schemas.openxmlformats.org/drawingml/2006/main">
            <a:r>
              <a:t/>
            </a:r>
          </a:p>
          <a:p xmlns:a="http://schemas.openxmlformats.org/drawingml/2006/main">
            <a:r>
              <a:t>HACER. Al llegar al paso 8, cambiar Modo de simulación a Automático. No cambiar de modo en mitad del recorrido.</a:t>
            </a:r>
          </a:p>
          <a:p xmlns:a="http://schemas.openxmlformats.org/drawingml/2006/main">
            <a:r>
              <a:t/>
            </a:r>
          </a:p>
          <a:p xmlns:a="http://schemas.openxmlformats.org/drawingml/2006/main">
            <a:r>
              <a:t>DECIR EN VOZ ALTA</a:t>
            </a:r>
          </a:p>
          <a:p xmlns:a="http://schemas.openxmlformats.org/drawingml/2006/main">
            <a:r>
              <a:t>Vamos a seguir una solicitud completa. La CPU necesita un dato de la página cero de Chrome. Por ahora la página no está en RAM y no le hemos asignado un marco.</a:t>
            </a:r>
          </a:p>
          <a:p xmlns:a="http://schemas.openxmlformats.org/drawingml/2006/main">
            <a:r>
              <a:t/>
            </a:r>
          </a:p>
          <a:p xmlns:a="http://schemas.openxmlformats.org/drawingml/2006/main">
            <a:r>
              <a:t>En el paso uno se identifica la solicitud: qué proceso y qué página queremos consultar. En el paso dos se revisa la tabla de páginas. Allí encontramos que P0 no está presente.</a:t>
            </a:r>
          </a:p>
          <a:p xmlns:a="http://schemas.openxmlformats.org/drawingml/2006/main">
            <a:r>
              <a:t/>
            </a:r>
          </a:p>
          <a:p xmlns:a="http://schemas.openxmlformats.org/drawingml/2006/main">
            <a:r>
              <a:t>En el paso tres comprobamos que la página sigue en almacenamiento secundario. En el paso cuatro identificamos el Page Fault o fallo de página. El término fallo no significa que hayamos escrito mal la contraseña ni que se haya arruinado el programa. Significa que la página que necesitamos todavía debe traerse a RAM.</a:t>
            </a:r>
          </a:p>
          <a:p xmlns:a="http://schemas.openxmlformats.org/drawingml/2006/main">
            <a:r>
              <a:t/>
            </a:r>
          </a:p>
          <a:p xmlns:a="http://schemas.openxmlformats.org/drawingml/2006/main">
            <a:r>
              <a:t>En el paso cinco buscamos un marco disponible. Tenemos cuatro libres, así que elegimos el primero: el marco cero. Aquí todavía no necesitamos reemplazar ninguna página.</a:t>
            </a:r>
          </a:p>
          <a:p xmlns:a="http://schemas.openxmlformats.org/drawingml/2006/main">
            <a:r>
              <a:t/>
            </a:r>
          </a:p>
          <a:p xmlns:a="http://schemas.openxmlformats.org/drawingml/2006/main">
            <a:r>
              <a:t>Ahora avanzamos al paso seis. En este punto la aplicación confirma la carga: P0 obtiene el marco cero. Podemos comprobar el cambio en el mapa y en la tabla.</a:t>
            </a:r>
          </a:p>
          <a:p xmlns:a="http://schemas.openxmlformats.org/drawingml/2006/main">
            <a:r>
              <a:t/>
            </a:r>
          </a:p>
          <a:p xmlns:a="http://schemas.openxmlformats.org/drawingml/2006/main">
            <a:r>
              <a:t>El paso siete explica la actualización de esa tabla: marco cero, presente Sí y estado RAM. En el paso ocho se completa el acceso solicitado. La página ya está donde la CPU necesita encontrarla.</a:t>
            </a:r>
          </a:p>
          <a:p xmlns:a="http://schemas.openxmlformats.org/drawingml/2006/main">
            <a:r>
              <a:t/>
            </a:r>
          </a:p>
          <a:p xmlns:a="http://schemas.openxmlformats.org/drawingml/2006/main">
            <a:r>
              <a:t>Los últimos pasos explican el resultado que ya se confirmó. No están creando copias adicionales. Podemos observar un solo marco ocupado y una sola página cargada. Así relacionamos la secuencia del acceso con un cambio concreto y verificable en memoria.</a:t>
            </a:r>
          </a:p>
          <a:p xmlns:a="http://schemas.openxmlformats.org/drawingml/2006/main">
            <a:r>
              <a:t/>
            </a:r>
          </a:p>
          <a:p xmlns:a="http://schemas.openxmlformats.org/drawingml/2006/main">
            <a:r>
              <a:t>CAMBIO DE PANTALLA</a:t>
            </a:r>
          </a:p>
          <a:p xmlns:a="http://schemas.openxmlformats.org/drawingml/2006/main">
            <a:r>
              <a:t>En la app, elegir Paso a paso, solicitar P0 y avanzar hasta el paso 8.</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app/Services/PagingFlowService.php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Lester Emilio Pedro Juan</a:t>
            </a:r>
          </a:p>
          <a:p xmlns:a="http://schemas.openxmlformats.org/drawingml/2006/main">
            <a:r>
              <a:t>TIEMPO: 18:00 a 21:00</a:t>
            </a:r>
          </a:p>
          <a:p xmlns:a="http://schemas.openxmlformats.org/drawingml/2006/main">
            <a:r>
              <a:t>GUION: Lester, tramo 18 a 21 minutos.</a:t>
            </a:r>
          </a:p>
          <a:p xmlns:a="http://schemas.openxmlformats.org/drawingml/2006/main">
            <a:r>
              <a:t/>
            </a:r>
          </a:p>
          <a:p xmlns:a="http://schemas.openxmlformats.org/drawingml/2006/main">
            <a:r>
              <a:t>HACER Y COMPROBAR</a:t>
            </a:r>
          </a:p>
          <a:p xmlns:a="http://schemas.openxmlformats.org/drawingml/2006/main">
            <a:r>
              <a:t>HACER. Mostrar la diapositiva 10 y volver a Paginación. En Automático, realizar estas tres solicitudes, una por una, esperando a que termine cada respuesta: Página 1 · DISCO, Página 3 · DISCO, Página 2 · DISCO. Pulsar Acceder a página una vez en cada caso. Respetar ese orden.</a:t>
            </a:r>
          </a:p>
          <a:p xmlns:a="http://schemas.openxmlformats.org/drawingml/2006/main">
            <a:r>
              <a:t/>
            </a:r>
          </a:p>
          <a:p xmlns:a="http://schemas.openxmlformats.org/drawingml/2006/main">
            <a:r>
              <a:t>PAUSA. Mostrar la tabla y el mapa juntos. Dar tiempo para que el público encuentre P3 → marco 2.</a:t>
            </a:r>
          </a:p>
          <a:p xmlns:a="http://schemas.openxmlformats.org/drawingml/2006/main">
            <a:r>
              <a:t/>
            </a:r>
          </a:p>
          <a:p xmlns:a="http://schemas.openxmlformats.org/drawingml/2006/main">
            <a:r>
              <a:t>DECIR EN VOZ ALTA</a:t>
            </a:r>
          </a:p>
          <a:p xmlns:a="http://schemas.openxmlformats.org/drawingml/2006/main">
            <a:r>
              <a:t>Vamos a cargar otras páginas para llenar la RAM. Primero solicitamos P1. Como estaba en disco, ocurre otro fallo y se utiliza el marco uno. Tenemos dos páginas cargadas y dos espacios libres.</a:t>
            </a:r>
          </a:p>
          <a:p xmlns:a="http://schemas.openxmlformats.org/drawingml/2006/main">
            <a:r>
              <a:t/>
            </a:r>
          </a:p>
          <a:p xmlns:a="http://schemas.openxmlformats.org/drawingml/2006/main">
            <a:r>
              <a:t>Después solicitamos P3. El siguiente espacio disponible es el marco dos. Aquí vemos una relación importante: página tres y marco dos son números distintos. La página sigue siendo P3 dentro de Chrome, aunque ahora ocupe el marco dos de la RAM.</a:t>
            </a:r>
          </a:p>
          <a:p xmlns:a="http://schemas.openxmlformats.org/drawingml/2006/main">
            <a:r>
              <a:t/>
            </a:r>
          </a:p>
          <a:p xmlns:a="http://schemas.openxmlformats.org/drawingml/2006/main">
            <a:r>
              <a:t>Por último solicitamos P2. Se carga en el marco tres y con eso ocupamos los cuatro marcos. Elegimos este orden a propósito para demostrar que la numeración de páginas no obliga a utilizar el mismo número de marco.</a:t>
            </a:r>
          </a:p>
          <a:p xmlns:a="http://schemas.openxmlformats.org/drawingml/2006/main">
            <a:r>
              <a:t/>
            </a:r>
          </a:p>
          <a:p xmlns:a="http://schemas.openxmlformats.org/drawingml/2006/main">
            <a:r>
              <a:t>Revisemos el mapa completo: marco cero contiene P0; marco uno contiene P1; marco dos contiene P3; y marco tres contiene P2. La tabla debe mostrar esas mismas relaciones. Si señalamos P3, su fila debe indicar marco dos y presencia Sí.</a:t>
            </a:r>
          </a:p>
          <a:p xmlns:a="http://schemas.openxmlformats.org/drawingml/2006/main">
            <a:r>
              <a:t/>
            </a:r>
          </a:p>
          <a:p xmlns:a="http://schemas.openxmlformats.org/drawingml/2006/main">
            <a:r>
              <a:t>La RAM utilizada ahora es de cuatro kilobytes y no quedan marcos libres. En secundaria permanecen P4 y P5, por lo que allí se utilizan dos kilobytes. El proceso sigue teniendo sus seis páginas; únicamente cambió la ubicación de cuatro de ellas.</a:t>
            </a:r>
          </a:p>
          <a:p xmlns:a="http://schemas.openxmlformats.org/drawingml/2006/main">
            <a:r>
              <a:t/>
            </a:r>
          </a:p>
          <a:p xmlns:a="http://schemas.openxmlformats.org/drawingml/2006/main">
            <a:r>
              <a:t>Cada una de estas primeras cuatro solicitudes encontró una página ausente. Por eso el total acumulado es de cuatro Page Faults. RAM llena no significa que el proceso terminó ni que las páginas restantes se borraron. Significa que, para traer otra página, necesitaremos decidir cuál de las residentes saldrá.</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app/Services/PagingService.php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Lester Emilio Pedro Juan</a:t>
            </a:r>
          </a:p>
          <a:p xmlns:a="http://schemas.openxmlformats.org/drawingml/2006/main">
            <a:r>
              <a:t>TIEMPO: 21:00 a 24:00</a:t>
            </a:r>
          </a:p>
          <a:p xmlns:a="http://schemas.openxmlformats.org/drawingml/2006/main">
            <a:r>
              <a:t>GUION: Lester, tramo 21 a 24 minutos.</a:t>
            </a:r>
          </a:p>
          <a:p xmlns:a="http://schemas.openxmlformats.org/drawingml/2006/main">
            <a:r>
              <a:t/>
            </a:r>
          </a:p>
          <a:p xmlns:a="http://schemas.openxmlformats.org/drawingml/2006/main">
            <a:r>
              <a:t>HACER Y COMPROBAR</a:t>
            </a:r>
          </a:p>
          <a:p xmlns:a="http://schemas.openxmlformats.org/drawingml/2006/main">
            <a:r>
              <a:t>HACER. Mostrar la diapositiva 11. Con la RAM llena, volver a Paginación, elegir Página 0 · RAM y pulsar Acceder a página una sola vez. Mantener Automático. Mostrar el resultado y los indicadores.</a:t>
            </a:r>
          </a:p>
          <a:p xmlns:a="http://schemas.openxmlformats.org/drawingml/2006/main">
            <a:r>
              <a:t/>
            </a:r>
          </a:p>
          <a:p xmlns:a="http://schemas.openxmlformats.org/drawingml/2006/main">
            <a:r>
              <a:t>PAUSA. Preguntar: “Si pedimos P4 y no hay marcos libres, ¿cuál debería salir con FIFO?”. Esperar una respuesta y entregar el control sin solicitar P4 todavía.</a:t>
            </a:r>
          </a:p>
          <a:p xmlns:a="http://schemas.openxmlformats.org/drawingml/2006/main">
            <a:r>
              <a:t/>
            </a:r>
          </a:p>
          <a:p xmlns:a="http://schemas.openxmlformats.org/drawingml/2006/main">
            <a:r>
              <a:t>HACER. Abrir Inicio, comprobar el mismo escenario y señalar Page Faults: 4. Volver a Paginación, seleccionar Chrome y dejar Automático. No solicitar otra página.</a:t>
            </a:r>
          </a:p>
          <a:p xmlns:a="http://schemas.openxmlformats.org/drawingml/2006/main">
            <a:r>
              <a:t/>
            </a:r>
          </a:p>
          <a:p xmlns:a="http://schemas.openxmlformats.org/drawingml/2006/main">
            <a:r>
              <a:t>COMPROBAR. RAM 4 KB, secundaria 2 KB, Faults 4, P0 en marco 0. Pasar a Deivid a las 24:00.</a:t>
            </a:r>
          </a:p>
          <a:p xmlns:a="http://schemas.openxmlformats.org/drawingml/2006/main">
            <a:r>
              <a:t/>
            </a:r>
          </a:p>
          <a:p xmlns:a="http://schemas.openxmlformats.org/drawingml/2006/main">
            <a:r>
              <a:t>DECIR EN VOZ ALTA</a:t>
            </a:r>
          </a:p>
          <a:p xmlns:a="http://schemas.openxmlformats.org/drawingml/2006/main">
            <a:r>
              <a:t>Voy a solicitar otra vez la página cero. Antes de pulsar podemos anticipar el resultado porque la tabla dice que ya está en RAM, en el marco cero. Ahora aparece PAGE_HIT: un acierto de página.</a:t>
            </a:r>
          </a:p>
          <a:p xmlns:a="http://schemas.openxmlformats.org/drawingml/2006/main">
            <a:r>
              <a:t/>
            </a:r>
          </a:p>
          <a:p xmlns:a="http://schemas.openxmlformats.org/drawingml/2006/main">
            <a:r>
              <a:t>No fue necesario traerla de secundaria ni encontrar otro espacio. La RAM sigue utilizando cuatro kilobytes y el número de marcos ocupados continúa en cuatro. La aplicación tampoco crea una segunda P0 por solicitarla de nuevo.</a:t>
            </a:r>
          </a:p>
          <a:p xmlns:a="http://schemas.openxmlformats.org/drawingml/2006/main">
            <a:r>
              <a:t/>
            </a:r>
          </a:p>
          <a:p xmlns:a="http://schemas.openxmlformats.org/drawingml/2006/main">
            <a:r>
              <a:t>El contador de fallos permanece en cuatro. Tenemos cinco solicitudes completadas hasta este momento: cuatro encontraron una página ausente y la última encontró una presente. Esa diferencia es la que expresan Page Fault y Page Hit.</a:t>
            </a:r>
          </a:p>
          <a:p xmlns:a="http://schemas.openxmlformats.org/drawingml/2006/main">
            <a:r>
              <a:t/>
            </a:r>
          </a:p>
          <a:p xmlns:a="http://schemas.openxmlformats.org/drawingml/2006/main">
            <a:r>
              <a:t>Un detalle importante es que utilizamos la página cero después de llenar la RAM. Eso la convierte en una página consultada recientemente, pero no cambia cuándo entró a la memoria. El orden de llegada continúa siendo P0, P1, P3 y P2.</a:t>
            </a:r>
          </a:p>
          <a:p xmlns:a="http://schemas.openxmlformats.org/drawingml/2006/main">
            <a:r>
              <a:t/>
            </a:r>
          </a:p>
          <a:p xmlns:a="http://schemas.openxmlformats.org/drawingml/2006/main">
            <a:r>
              <a:t>Esto nos ayudará a identificar FIFO. Esa política observa el orden de carga: primero en entrar, primero en salir. No toma la decisión contando cuántas veces usamos una página ni eligiendo la que tiene el número más pequeño por definición. En este ejemplo P0 tiene el número más pequeño y también entró primero, pero la regla que importa es su antigüedad de carga.</a:t>
            </a:r>
          </a:p>
          <a:p xmlns:a="http://schemas.openxmlformats.org/drawingml/2006/main">
            <a:r>
              <a:t/>
            </a:r>
          </a:p>
          <a:p xmlns:a="http://schemas.openxmlformats.org/drawingml/2006/main">
            <a:r>
              <a:t>Si preguntamos cuál saldrá al pedir otra página ausente, debemos mirar ese orden. Acabamos de usar P0, pero sigue siendo la más antigua. Deivid va a comprobarlo con la siguiente solicitud y después utilizará la tabla para calcular direcciones.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Deivid Alberto Guerra Carpio</a:t>
            </a:r>
          </a:p>
          <a:p xmlns:a="http://schemas.openxmlformats.org/drawingml/2006/main">
            <a:r>
              <a:t>TIEMPO: 24:00 a 27:00</a:t>
            </a:r>
          </a:p>
          <a:p xmlns:a="http://schemas.openxmlformats.org/drawingml/2006/main">
            <a:r>
              <a:t>GUION: Deivid, tramo 24 a 27 minutos.</a:t>
            </a:r>
          </a:p>
          <a:p xmlns:a="http://schemas.openxmlformats.org/drawingml/2006/main">
            <a:r>
              <a:t/>
            </a:r>
          </a:p>
          <a:p xmlns:a="http://schemas.openxmlformats.org/drawingml/2006/main">
            <a:r>
              <a:t>HACER Y COMPROBAR</a:t>
            </a:r>
          </a:p>
          <a:p xmlns:a="http://schemas.openxmlformats.org/drawingml/2006/main">
            <a:r>
              <a:t>HACER. Mostrar la diapositiva 12 y volver a Paginación. Mantener el escenario de la exposición y Chrome. Elegir Página 4 · DISCO y pulsar Acceder a página en Automático.</a:t>
            </a:r>
          </a:p>
          <a:p xmlns:a="http://schemas.openxmlformats.org/drawingml/2006/main">
            <a:r>
              <a:t/>
            </a:r>
          </a:p>
          <a:p xmlns:a="http://schemas.openxmlformats.org/drawingml/2006/main">
            <a:r>
              <a:t>COMPROBAR. PAGE_FAULT, marco 0, víctima Chrome P0. Mapa: P4, P1, P3, P2 en marcos 0, 1, 2, 3. En disco: P0 y P5. Faults 5.</a:t>
            </a:r>
          </a:p>
          <a:p xmlns:a="http://schemas.openxmlformats.org/drawingml/2006/main">
            <a:r>
              <a:t/>
            </a:r>
          </a:p>
          <a:p xmlns:a="http://schemas.openxmlformats.org/drawingml/2006/main">
            <a:r>
              <a:t>DECIR EN VOZ ALTA</a:t>
            </a:r>
          </a:p>
          <a:p xmlns:a="http://schemas.openxmlformats.org/drawingml/2006/main">
            <a:r>
              <a:t>Soy Deivid Alberto Guerra Carpio. Vamos a comprobar la predicción. P4 está fuera de RAM y todos los marcos están ocupados. Para atender esta solicitud hace falta un Page Fault y también un reemplazo.</a:t>
            </a:r>
          </a:p>
          <a:p xmlns:a="http://schemas.openxmlformats.org/drawingml/2006/main">
            <a:r>
              <a:t/>
            </a:r>
          </a:p>
          <a:p xmlns:a="http://schemas.openxmlformats.org/drawingml/2006/main">
            <a:r>
              <a:t>FIFO significa First In, First Out: primero en entrar, primero en salir. La página que cargamos antes que las demás fue P0. Por eso el sistema la devuelve al almacenamiento secundario y utiliza su marco para cargar P4.</a:t>
            </a:r>
          </a:p>
          <a:p xmlns:a="http://schemas.openxmlformats.org/drawingml/2006/main">
            <a:r>
              <a:t/>
            </a:r>
          </a:p>
          <a:p xmlns:a="http://schemas.openxmlformats.org/drawingml/2006/main">
            <a:r>
              <a:t>En el resultado debemos observar que la víctima es Chrome P0. La tabla ahora muestra a P4 presente, en el marco cero; P0 vuelve a aparecer sin marco y con estado DISCO.</a:t>
            </a:r>
          </a:p>
          <a:p xmlns:a="http://schemas.openxmlformats.org/drawingml/2006/main">
            <a:r>
              <a:t/>
            </a:r>
          </a:p>
          <a:p xmlns:a="http://schemas.openxmlformats.org/drawingml/2006/main">
            <a:r>
              <a:t>El último Hit de P0 no evitó su salida. Esto nos permite distinguir FIFO de una política que elige según el uso reciente. Aquí no estamos aplicando LRU; estamos respetando la fecha de entrada a RAM.</a:t>
            </a:r>
          </a:p>
          <a:p xmlns:a="http://schemas.openxmlformats.org/drawingml/2006/main">
            <a:r>
              <a:t/>
            </a:r>
          </a:p>
          <a:p xmlns:a="http://schemas.openxmlformats.org/drawingml/2006/main">
            <a:r>
              <a:t>También podemos comprobar que el total utilizado sigue siendo de cuatro kilobytes. No se agregó un quinto marco. Una página salió y otra entró. La secundaria sigue utilizando dos kilobytes porque P4 dejó ese almacenamiento y P0 pasó a ocupar su lugar.</a:t>
            </a:r>
          </a:p>
          <a:p xmlns:a="http://schemas.openxmlformats.org/drawingml/2006/main">
            <a:r>
              <a:t/>
            </a:r>
          </a:p>
          <a:p xmlns:a="http://schemas.openxmlformats.org/drawingml/2006/main">
            <a:r>
              <a:t>La página expulsada no se eliminó del proceso. Si más adelante la necesitamos, todavía podremos solicitarla y traerla otra vez. La ubicación es temporal y por eso debemos consultar siempre la tabla actual, no memorizar un marco como si fuera permanente.</a:t>
            </a:r>
          </a:p>
          <a:p xmlns:a="http://schemas.openxmlformats.org/drawingml/2006/main">
            <a:r>
              <a:t/>
            </a:r>
          </a:p>
          <a:p xmlns:a="http://schemas.openxmlformats.org/drawingml/2006/main">
            <a:r>
              <a:t>Hasta ahora acumulamos cinco fallos y un Hit en seis solicitudes. Con el mapa actualizado vamos a ver cómo esa ubicación se utiliza para encontrar una posición concreta dentro de una página.</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app/Services/PagingService.php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Deivid Alberto Guerra Carpio</a:t>
            </a:r>
          </a:p>
          <a:p xmlns:a="http://schemas.openxmlformats.org/drawingml/2006/main">
            <a:r>
              <a:t>TIEMPO: 27:00 a 30:00</a:t>
            </a:r>
          </a:p>
          <a:p xmlns:a="http://schemas.openxmlformats.org/drawingml/2006/main">
            <a:r>
              <a:t>GUION: Deivid, tramo 27 a 30 minutos.</a:t>
            </a:r>
          </a:p>
          <a:p xmlns:a="http://schemas.openxmlformats.org/drawingml/2006/main">
            <a:r>
              <a:t/>
            </a:r>
          </a:p>
          <a:p xmlns:a="http://schemas.openxmlformats.org/drawingml/2006/main">
            <a:r>
              <a:t>HACER Y COMPROBAR</a:t>
            </a:r>
          </a:p>
          <a:p xmlns:a="http://schemas.openxmlformats.org/drawingml/2006/main">
            <a:r>
              <a:t>HACER. Mostrar la diapositiva 13. Abrir Traducción de direcciones, comprobar Escenario y elegir Proceso: Chrome. En Dirección en bytes, desde cero, escribir 3500 y pulsar Traducir dirección.</a:t>
            </a:r>
          </a:p>
          <a:p xmlns:a="http://schemas.openxmlformats.org/drawingml/2006/main">
            <a:r>
              <a:t/>
            </a:r>
          </a:p>
          <a:p xmlns:a="http://schemas.openxmlformats.org/drawingml/2006/main">
            <a:r>
              <a:t>COMPROBAR. Página 3, offset 428, P3 → marco 2, dirección física 2476 bytes.</a:t>
            </a:r>
          </a:p>
          <a:p xmlns:a="http://schemas.openxmlformats.org/drawingml/2006/main">
            <a:r>
              <a:t/>
            </a:r>
          </a:p>
          <a:p xmlns:a="http://schemas.openxmlformats.org/drawingml/2006/main">
            <a:r>
              <a:t>HACER. Señalar o escribir 3500 = 3 × 1024 + 428 y 2476 = 2 × 1024 + 428. Señalar que el desplazamiento 428 se conserva.</a:t>
            </a:r>
          </a:p>
          <a:p xmlns:a="http://schemas.openxmlformats.org/drawingml/2006/main">
            <a:r>
              <a:t/>
            </a:r>
          </a:p>
          <a:p xmlns:a="http://schemas.openxmlformats.org/drawingml/2006/main">
            <a:r>
              <a:t>DECIR EN VOZ ALTA</a:t>
            </a:r>
          </a:p>
          <a:p xmlns:a="http://schemas.openxmlformats.org/drawingml/2006/main">
            <a:r>
              <a:t>La lámina muestra la regla de traducción y los valores que esperamos comprobar en nuestra tabla. En este escenario P3 está en el marco dos y solo existen los marcos cero al tres.</a:t>
            </a:r>
          </a:p>
          <a:p xmlns:a="http://schemas.openxmlformats.org/drawingml/2006/main">
            <a:r>
              <a:t/>
            </a:r>
          </a:p>
          <a:p xmlns:a="http://schemas.openxmlformats.org/drawingml/2006/main">
            <a:r>
              <a:t>El número tres mil quinientos es una dirección lógica: la posición del byte que Chrome quiere consultar dentro de su propia memoria. No estamos agregando tres mil quinientos bytes a la RAM y tampoco estamos indicando el tamaño del proceso.</a:t>
            </a:r>
          </a:p>
          <a:p xmlns:a="http://schemas.openxmlformats.org/drawingml/2006/main">
            <a:r>
              <a:t/>
            </a:r>
          </a:p>
          <a:p xmlns:a="http://schemas.openxmlformats.org/drawingml/2006/main">
            <a:r>
              <a:t>Cada página tiene mil veinticuatro posiciones. P0 abarca de cero a mil veintitrés. P1 comienza en mil veinticuatro y P2 en dos mil cuarenta y ocho. P3 empieza en tres mil setenta y dos. Entonces la posición tres mil quinientos pertenece a P3.</a:t>
            </a:r>
          </a:p>
          <a:p xmlns:a="http://schemas.openxmlformats.org/drawingml/2006/main">
            <a:r>
              <a:t/>
            </a:r>
          </a:p>
          <a:p xmlns:a="http://schemas.openxmlformats.org/drawingml/2006/main">
            <a:r>
              <a:t>Si restamos tres mil setenta y dos a tres mil quinientos obtenemos cuatrocientos veintiocho. Ese número indica cuánto avanzamos desde el comienzo de P3. A ese avance dentro de la página lo llamamos offset o desplazamiento.</a:t>
            </a:r>
          </a:p>
          <a:p xmlns:a="http://schemas.openxmlformats.org/drawingml/2006/main">
            <a:r>
              <a:t/>
            </a:r>
          </a:p>
          <a:p xmlns:a="http://schemas.openxmlformats.org/drawingml/2006/main">
            <a:r>
              <a:t>Ahora consultamos la tabla. P3 está alojada en el marco dos. Como cada marco también tiene mil veinticuatro bytes, el marco dos comienza en la dirección física dos mil cuarenta y ocho. Conservamos el avance de cuatrocientos veintiocho y obtenemos dos mil cuatrocientos setenta y seis.</a:t>
            </a:r>
          </a:p>
          <a:p xmlns:a="http://schemas.openxmlformats.org/drawingml/2006/main">
            <a:r>
              <a:t/>
            </a:r>
          </a:p>
          <a:p xmlns:a="http://schemas.openxmlformats.org/drawingml/2006/main">
            <a:r>
              <a:t>La dirección lógica fue 3500 y la dirección física simulada es 2476. Son dos formas de localizar el mismo dato: una desde el espacio del proceso y otra desde su ubicación actual en RAM. La tabla establece la relación entre ambas.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app/Services/AddressTranslationService.php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Deivid Alberto Guerra Carpio</a:t>
            </a:r>
          </a:p>
          <a:p xmlns:a="http://schemas.openxmlformats.org/drawingml/2006/main">
            <a:r>
              <a:t>TIEMPO: 30:00 a 33:00</a:t>
            </a:r>
          </a:p>
          <a:p xmlns:a="http://schemas.openxmlformats.org/drawingml/2006/main">
            <a:r>
              <a:t>GUION: Deivid, tramo 30 a 33 minutos.</a:t>
            </a:r>
          </a:p>
          <a:p xmlns:a="http://schemas.openxmlformats.org/drawingml/2006/main">
            <a:r>
              <a:t/>
            </a:r>
          </a:p>
          <a:p xmlns:a="http://schemas.openxmlformats.org/drawingml/2006/main">
            <a:r>
              <a:t>HACER Y COMPROBAR</a:t>
            </a:r>
          </a:p>
          <a:p xmlns:a="http://schemas.openxmlformats.org/drawingml/2006/main">
            <a:r>
              <a:t>HACER. Mostrar la diapositiva 14. Sin cambiar de escenario ni proceso en la aplicación, escribir 100 en Dirección en bytes, desde cero y pulsar Traducir dirección. Mostrar el aviso de página ausente. Si hace falta, regresar a Paginación, seleccionar Chrome y señalar P0 en la tabla, sin solicitarla todavía.</a:t>
            </a:r>
          </a:p>
          <a:p xmlns:a="http://schemas.openxmlformats.org/drawingml/2006/main">
            <a:r>
              <a:t/>
            </a:r>
          </a:p>
          <a:p xmlns:a="http://schemas.openxmlformats.org/drawingml/2006/main">
            <a:r>
              <a:t>PAUSA. Señalar las palabras sin marco. Preguntar: “¿Debemos inventar una dirección física o cargar primero la página?”. Confirmar: “Primero necesitamos que tenga una ubicación en RAM”.</a:t>
            </a:r>
          </a:p>
          <a:p xmlns:a="http://schemas.openxmlformats.org/drawingml/2006/main">
            <a:r>
              <a:t/>
            </a:r>
          </a:p>
          <a:p xmlns:a="http://schemas.openxmlformats.org/drawingml/2006/main">
            <a:r>
              <a:t>COMPROBAR. Página 0, offset 100, sin marco, sin dirección física. Faults siguen en 5.</a:t>
            </a:r>
          </a:p>
          <a:p xmlns:a="http://schemas.openxmlformats.org/drawingml/2006/main">
            <a:r>
              <a:t/>
            </a:r>
          </a:p>
          <a:p xmlns:a="http://schemas.openxmlformats.org/drawingml/2006/main">
            <a:r>
              <a:t>DECIR EN VOZ ALTA</a:t>
            </a:r>
          </a:p>
          <a:p xmlns:a="http://schemas.openxmlformats.org/drawingml/2006/main">
            <a:r>
              <a:t>Ahora vamos a consultar la dirección lógica cien. Elegimos cien porque pertenece a la página cero: todavía no alcanzamos el tamaño de una página completa. El desplazamiento es cien bytes desde el inicio de P0.</a:t>
            </a:r>
          </a:p>
          <a:p xmlns:a="http://schemas.openxmlformats.org/drawingml/2006/main">
            <a:r>
              <a:t/>
            </a:r>
          </a:p>
          <a:p xmlns:a="http://schemas.openxmlformats.org/drawingml/2006/main">
            <a:r>
              <a:t>Sin embargo, P0 fue precisamente la página que acabamos de sacar con FIFO. La cuenta puede identificar la página y su desplazamiento, pero la tabla nos indica que esa página no tiene un marco actual. Por eso no aparece una dirección física disponible.</a:t>
            </a:r>
          </a:p>
          <a:p xmlns:a="http://schemas.openxmlformats.org/drawingml/2006/main">
            <a:r>
              <a:t/>
            </a:r>
          </a:p>
          <a:p xmlns:a="http://schemas.openxmlformats.org/drawingml/2006/main">
            <a:r>
              <a:t>Esto no significa que cien sea una dirección incorrecta del proceso. Chrome tiene seis kilobytes, por lo que esa posición sí pertenece a su espacio lógico. El problema es la presencia: la página que la contiene está en almacenamiento secundario.</a:t>
            </a:r>
          </a:p>
          <a:p xmlns:a="http://schemas.openxmlformats.org/drawingml/2006/main">
            <a:r>
              <a:t/>
            </a:r>
          </a:p>
          <a:p xmlns:a="http://schemas.openxmlformats.org/drawingml/2006/main">
            <a:r>
              <a:t>También debemos distinguir la consulta de traducción de una solicitud de CPU. Esta pantalla consulta la tabla y realiza el cálculo. No carga por sí sola la página ni registra otro acceso de paginación. Si queremos volver a tener P0 en RAM, debemos solicitarla desde Paginación.</a:t>
            </a:r>
          </a:p>
          <a:p xmlns:a="http://schemas.openxmlformats.org/drawingml/2006/main">
            <a:r>
              <a:t/>
            </a:r>
          </a:p>
          <a:p xmlns:a="http://schemas.openxmlformats.org/drawingml/2006/main">
            <a:r>
              <a:t>Por eso el contador de fallos continúa en cinco. Cambiar el número en la calculadora no produce automáticamente otro Page Fault guardado. El resultado nos está explicando qué condición falta para poder localizar físicamente el dato.</a:t>
            </a:r>
          </a:p>
          <a:p xmlns:a="http://schemas.openxmlformats.org/drawingml/2006/main">
            <a:r>
              <a:t/>
            </a:r>
          </a:p>
          <a:p xmlns:a="http://schemas.openxmlformats.org/drawingml/2006/main">
            <a:r>
              <a:t>El siguiente paso será regresar a Paginación y pedir esa página. Como la RAM sigue llena, habrá otro reemplazo. La página que ahora lleva más tiempo cargada es P1, porque P0 ya había salido. Así podremos observar que P0 puede regresar a una ubicación diferente de la que tenía al principio.</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app/Services/AddressTranslationService.php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Deivid Alberto Guerra Carpio</a:t>
            </a:r>
          </a:p>
          <a:p xmlns:a="http://schemas.openxmlformats.org/drawingml/2006/main">
            <a:r>
              <a:t>TIEMPO: 33:00 a 36:00</a:t>
            </a:r>
          </a:p>
          <a:p xmlns:a="http://schemas.openxmlformats.org/drawingml/2006/main">
            <a:r>
              <a:t>GUION: Deivid, tramo 33 a 36 minutos.</a:t>
            </a:r>
          </a:p>
          <a:p xmlns:a="http://schemas.openxmlformats.org/drawingml/2006/main">
            <a:r>
              <a:t/>
            </a:r>
          </a:p>
          <a:p xmlns:a="http://schemas.openxmlformats.org/drawingml/2006/main">
            <a:r>
              <a:t>HACER Y COMPROBAR</a:t>
            </a:r>
          </a:p>
          <a:p xmlns:a="http://schemas.openxmlformats.org/drawingml/2006/main">
            <a:r>
              <a:t>HACER. Mostrar la diapositiva 15. Abrir Paginación, comprobar el mismo escenario y seleccionar Chrome. En Automático solicitar Página 0 · DISCO. Después abrir Traducción de direcciones, elegir escenario y Chrome, escribir 100 y pulsar Traducir dirección.</a:t>
            </a:r>
          </a:p>
          <a:p xmlns:a="http://schemas.openxmlformats.org/drawingml/2006/main">
            <a:r>
              <a:t/>
            </a:r>
          </a:p>
          <a:p xmlns:a="http://schemas.openxmlformats.org/drawingml/2006/main">
            <a:r>
              <a:t>COMPROBAR. Segundo reemplazo: sale P1, entra P0 en marco 1. Traducción: 1 × 1024 + 100 = 1124. Faults 6. Entregar el control a Rebeca a las 36:00.</a:t>
            </a:r>
          </a:p>
          <a:p xmlns:a="http://schemas.openxmlformats.org/drawingml/2006/main">
            <a:r>
              <a:t/>
            </a:r>
          </a:p>
          <a:p xmlns:a="http://schemas.openxmlformats.org/drawingml/2006/main">
            <a:r>
              <a:t>HACER antes de entregar. Abrir Inicio, comprobar el escenario de paginación y mostrar Page Faults: 6. Así se verifica en pantalla el conteo que llevamos en la hoja.</a:t>
            </a:r>
          </a:p>
          <a:p xmlns:a="http://schemas.openxmlformats.org/drawingml/2006/main">
            <a:r>
              <a:t/>
            </a:r>
          </a:p>
          <a:p xmlns:a="http://schemas.openxmlformats.org/drawingml/2006/main">
            <a:r>
              <a:t>DECIR EN VOZ ALTA</a:t>
            </a:r>
          </a:p>
          <a:p xmlns:a="http://schemas.openxmlformats.org/drawingml/2006/main">
            <a:r>
              <a:t>Solicitamos nuevamente P0. Está ausente y no tenemos un marco libre, así que ocurre otro fallo con reemplazo. FIFO elige P1, que es la más antigua de las páginas que permanecían cargadas.</a:t>
            </a:r>
          </a:p>
          <a:p xmlns:a="http://schemas.openxmlformats.org/drawingml/2006/main">
            <a:r>
              <a:t/>
            </a:r>
          </a:p>
          <a:p xmlns:a="http://schemas.openxmlformats.org/drawingml/2006/main">
            <a:r>
              <a:t>P1 estaba en el marco uno. Ese espacio queda disponible y lo ocupa P0. La página cero vuelve a RAM, pero esta vez en el marco uno. No es obligatorio que regrese al marco cero; ese marco ahora contiene P4.</a:t>
            </a:r>
          </a:p>
          <a:p xmlns:a="http://schemas.openxmlformats.org/drawingml/2006/main">
            <a:r>
              <a:t/>
            </a:r>
          </a:p>
          <a:p xmlns:a="http://schemas.openxmlformats.org/drawingml/2006/main">
            <a:r>
              <a:t>Regresamos a la traducción y escribimos exactamente la misma dirección lógica: cien. La página sigue siendo P0 y el desplazamiento sigue siendo cien. Lo que cambió es el número de marco. La tabla ahora indica uno.</a:t>
            </a:r>
          </a:p>
          <a:p xmlns:a="http://schemas.openxmlformats.org/drawingml/2006/main">
            <a:r>
              <a:t/>
            </a:r>
          </a:p>
          <a:p xmlns:a="http://schemas.openxmlformats.org/drawingml/2006/main">
            <a:r>
              <a:t>El marco uno comienza en mil veinticuatro. Si avanzamos cien bytes llegamos a mil ciento veinticuatro. Por eso ahora tenemos una dirección física de 1124. La posición que pide el proceso no cambió: cambió el lugar donde se aloja su página en RAM.</a:t>
            </a:r>
          </a:p>
          <a:p xmlns:a="http://schemas.openxmlformats.org/drawingml/2006/main">
            <a:r>
              <a:t/>
            </a:r>
          </a:p>
          <a:p xmlns:a="http://schemas.openxmlformats.org/drawingml/2006/main">
            <a:r>
              <a:t>Esta demostración relaciona los tres elementos: tabla de páginas, política de reemplazo y traducción. El proceso utiliza direcciones de su espacio lógico; el sistema consulta dónde están las páginas y puede moverlas conservando esa organización lógica.</a:t>
            </a:r>
          </a:p>
          <a:p xmlns:a="http://schemas.openxmlformats.org/drawingml/2006/main">
            <a:r>
              <a:t/>
            </a:r>
          </a:p>
          <a:p xmlns:a="http://schemas.openxmlformats.org/drawingml/2006/main">
            <a:r>
              <a:t>Nuestro resultado final es cuatro marcos ocupados: P4 en el cero, P0 en el uno, P3 en el dos y P2 en el tres. P1 y P5 están fuera de RAM. Completamos siete solicitudes: seis fallos y un Hit. Las consultas de traducción no aumentaron esos contadores.</a:t>
            </a:r>
          </a:p>
          <a:p xmlns:a="http://schemas.openxmlformats.org/drawingml/2006/main">
            <a:r>
              <a:t/>
            </a:r>
          </a:p>
          <a:p xmlns:a="http://schemas.openxmlformats.org/drawingml/2006/main">
            <a:r>
              <a:t>Con paginación usamos unidades del mismo tamaño. Rebeca va a mostrar cómo se representan regiones de distintos tamaños y por qué debemos validar sus límites antes de acceder a ellas.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app/Services/PagingService.php</a:t>
            </a:r>
          </a:p>
          <a:p xmlns:a="http://schemas.openxmlformats.org/drawingml/2006/main">
            <a:r>
              <a:t>app/Services/AddressTranslationService.php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Rebeca Alizon Najarro Duarte</a:t>
            </a:r>
          </a:p>
          <a:p xmlns:a="http://schemas.openxmlformats.org/drawingml/2006/main">
            <a:r>
              <a:t>TIEMPO: 36:00 a 39:00</a:t>
            </a:r>
          </a:p>
          <a:p xmlns:a="http://schemas.openxmlformats.org/drawingml/2006/main">
            <a:r>
              <a:t>GUION: Rebeca, tramo 36 a 39 minutos.</a:t>
            </a:r>
          </a:p>
          <a:p xmlns:a="http://schemas.openxmlformats.org/drawingml/2006/main">
            <a:r>
              <a:t/>
            </a:r>
          </a:p>
          <a:p xmlns:a="http://schemas.openxmlformats.org/drawingml/2006/main">
            <a:r>
              <a:t>HACER Y COMPROBAR</a:t>
            </a:r>
          </a:p>
          <a:p xmlns:a="http://schemas.openxmlformats.org/drawingml/2006/main">
            <a:r>
              <a:t>HACER. Mostrar la diapositiva 16. Abrir Segmentación. En Nuevo escenario, ingresar Nombre: Exposición G3 Segmentación 01 y RAM total (KB): 16; pulsar Crear escenario. Anotar su #ID. En Crear proceso, ingresar Nombre: Editor y Tamaño del proceso (KB): 4; pulsar Crear proceso.</a:t>
            </a:r>
          </a:p>
          <a:p xmlns:a="http://schemas.openxmlformats.org/drawingml/2006/main">
            <a:r>
              <a:t/>
            </a:r>
          </a:p>
          <a:p xmlns:a="http://schemas.openxmlformats.org/drawingml/2006/main">
            <a:r>
              <a:t>COMPROBAR. El escenario de segmentación y el proceso Editor quedan seleccionados. Aún no hay segmentos activos. No agregar campos de secundaria ni página: ese formulario no los tiene.</a:t>
            </a:r>
          </a:p>
          <a:p xmlns:a="http://schemas.openxmlformats.org/drawingml/2006/main">
            <a:r>
              <a:t/>
            </a:r>
          </a:p>
          <a:p xmlns:a="http://schemas.openxmlformats.org/drawingml/2006/main">
            <a:r>
              <a:t>DECIR EN VOZ ALTA</a:t>
            </a:r>
          </a:p>
          <a:p xmlns:a="http://schemas.openxmlformats.org/drawingml/2006/main">
            <a:r>
              <a:t>Mi nombre es Rebeca Alizon Najarro Duarte. En paginación vimos partes iguales. En segmentación organizamos el proceso en regiones con una función, por ejemplo Código, Datos, Stack y Heap. Sus tamaños pueden ser diferentes.</a:t>
            </a:r>
          </a:p>
          <a:p xmlns:a="http://schemas.openxmlformats.org/drawingml/2006/main">
            <a:r>
              <a:t/>
            </a:r>
          </a:p>
          <a:p xmlns:a="http://schemas.openxmlformats.org/drawingml/2006/main">
            <a:r>
              <a:t>Código representa las instrucciones del programa. Datos representa información que utiliza. Stack, o pila, se relaciona con llamadas a funciones y variables temporales. Heap representa la memoria que el programa solicita dinámicamente. Aquí utilizamos esas partes como un ejemplo educativo; el tamaño de cada una lo elegiremos manualmente.</a:t>
            </a:r>
          </a:p>
          <a:p xmlns:a="http://schemas.openxmlformats.org/drawingml/2006/main">
            <a:r>
              <a:t/>
            </a:r>
          </a:p>
          <a:p xmlns:a="http://schemas.openxmlformats.org/drawingml/2006/main">
            <a:r>
              <a:t>Cada segmento tiene una base y un tamaño o límite. La base indica en qué dirección de RAM comienza. El tamaño indica cuántos bytes pertenecen a esa región. Para acceder utilizaremos un desplazamiento desde la base y primero comprobaremos si se mantiene dentro del segmento.</a:t>
            </a:r>
          </a:p>
          <a:p xmlns:a="http://schemas.openxmlformats.org/drawingml/2006/main">
            <a:r>
              <a:t/>
            </a:r>
          </a:p>
          <a:p xmlns:a="http://schemas.openxmlformats.org/drawingml/2006/main">
            <a:r>
              <a:t>Creamos otro escenario, esta vez de segmentación, con dieciséis kilobytes de RAM. Son dieciséis mil trescientos ochenta y cuatro bytes. Esta pantalla no solicita tamaño de página porque no vamos a dividir este escenario en marcos.</a:t>
            </a:r>
          </a:p>
          <a:p xmlns:a="http://schemas.openxmlformats.org/drawingml/2006/main">
            <a:r>
              <a:t/>
            </a:r>
          </a:p>
          <a:p xmlns:a="http://schemas.openxmlformats.org/drawingml/2006/main">
            <a:r>
              <a:t>Ahora creamos Editor con un tamaño declarado de cuatro kilobytes, equivalente a cuatro mil noventa y seis bytes. Crear el proceso todavía no ocupa regiones de RAM. La ocupación aparecerá cuando agreguemos sus segmentos activos.</a:t>
            </a:r>
          </a:p>
          <a:p xmlns:a="http://schemas.openxmlformats.org/drawingml/2006/main">
            <a:r>
              <a:t/>
            </a:r>
          </a:p>
          <a:p xmlns:a="http://schemas.openxmlformats.org/drawingml/2006/main">
            <a:r>
              <a:t>La organización permitirá que las partes del proceso estén separadas. Sin embargo, cada segmento individual ocupará una región continua. Vamos a verlo al elegir sus bases con espacios entre ellas.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resources/views/livewire/segmentation-simulator.blade.php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Rebeca Alizon Najarro Duarte</a:t>
            </a:r>
          </a:p>
          <a:p xmlns:a="http://schemas.openxmlformats.org/drawingml/2006/main">
            <a:r>
              <a:t>TIEMPO: 39:00 a 42:00</a:t>
            </a:r>
          </a:p>
          <a:p xmlns:a="http://schemas.openxmlformats.org/drawingml/2006/main">
            <a:r>
              <a:t>GUION: Rebeca, tramo 39 a 42 minutos.</a:t>
            </a:r>
          </a:p>
          <a:p xmlns:a="http://schemas.openxmlformats.org/drawingml/2006/main">
            <a:r>
              <a:t/>
            </a:r>
          </a:p>
          <a:p xmlns:a="http://schemas.openxmlformats.org/drawingml/2006/main">
            <a:r>
              <a:t>HACER Y COMPROBAR</a:t>
            </a:r>
          </a:p>
          <a:p xmlns:a="http://schemas.openxmlformats.org/drawingml/2006/main">
            <a:r>
              <a:t>HACER. Mostrar la diapositiva 17. En Agregar segmento, completar Nombre, Base (bytes) y Tamaño / límite (bytes). Pulsar Agregar segmento después de cada fila. Completar los campos mientras se explica cada región, con apoyo de otro integrante en el teclado si hace falta, para no sumar toda la lectura y toda la captura como actividades separadas. No modificar el escenario ni el proceso.</a:t>
            </a:r>
          </a:p>
          <a:p xmlns:a="http://schemas.openxmlformats.org/drawingml/2006/main">
            <a:r>
              <a:t/>
            </a:r>
          </a:p>
          <a:p xmlns:a="http://schemas.openxmlformats.org/drawingml/2006/main">
            <a:r>
              <a:t>COMPROBAR. Código S0, Datos S1, Stack S2, Heap S3. RAM total 16384 bytes, utilizada 3600, disponible 12784. Señalar las bases y los espacios libres.</a:t>
            </a:r>
          </a:p>
          <a:p xmlns:a="http://schemas.openxmlformats.org/drawingml/2006/main">
            <a:r>
              <a:t/>
            </a:r>
          </a:p>
          <a:p xmlns:a="http://schemas.openxmlformats.org/drawingml/2006/main">
            <a:r>
              <a:t>DECIR EN VOZ ALTA</a:t>
            </a:r>
          </a:p>
          <a:p xmlns:a="http://schemas.openxmlformats.org/drawingml/2006/main">
            <a:r>
              <a:t>Agregamos Código con base mil y tamaño mil doscientos bytes. Su número se asigna automáticamente y será el segmento cero. La región empieza en mil y termina en dos mil ciento noventa y nueve, porque contamos también la primera posición.</a:t>
            </a:r>
          </a:p>
          <a:p xmlns:a="http://schemas.openxmlformats.org/drawingml/2006/main">
            <a:r>
              <a:t/>
            </a:r>
          </a:p>
          <a:p xmlns:a="http://schemas.openxmlformats.org/drawingml/2006/main">
            <a:r>
              <a:t>Después agregamos Datos en la base cuatro mil con tamaño ochocientos. Stack empieza en siete mil y mide seiscientos. Heap empieza en nueve mil y mide mil bytes. Los tamaños son diferentes, pero todos están dentro de la RAM de este escenario.</a:t>
            </a:r>
          </a:p>
          <a:p xmlns:a="http://schemas.openxmlformats.org/drawingml/2006/main">
            <a:r>
              <a:t/>
            </a:r>
          </a:p>
          <a:p xmlns:a="http://schemas.openxmlformats.org/drawingml/2006/main">
            <a:r>
              <a:t>En la tabla podemos leer el número, el nombre, la base, el tamaño y el estado. Estas columnas reemplazan la relación de páginas y marcos que observamos antes: ahora cada entrada describe directamente una región y sus límites.</a:t>
            </a:r>
          </a:p>
          <a:p xmlns:a="http://schemas.openxmlformats.org/drawingml/2006/main">
            <a:r>
              <a:t/>
            </a:r>
          </a:p>
          <a:p xmlns:a="http://schemas.openxmlformats.org/drawingml/2006/main">
            <a:r>
              <a:t>Al bajar al mapa vemos Código de mil a dos mil ciento noventa y nueve; Datos de cuatro mil a cuatro mil setecientos noventa y nueve; Stack de siete mil a siete mil quinientos noventa y nueve; y Heap de nueve mil a nueve mil novecientos noventa y nueve.</a:t>
            </a:r>
          </a:p>
          <a:p xmlns:a="http://schemas.openxmlformats.org/drawingml/2006/main">
            <a:r>
              <a:t/>
            </a:r>
          </a:p>
          <a:p xmlns:a="http://schemas.openxmlformats.org/drawingml/2006/main">
            <a:r>
              <a:t>Cada segmento forma una región continua. Las cuatro regiones, consideradas como partes del mismo proceso, no están pegadas entre sí. Entre ellas aparecen espacios libres que también forman parte del mapa. Esto nos ayuda a diferenciar una región continua de un proceso completo que puede estar distribuido.</a:t>
            </a:r>
          </a:p>
          <a:p xmlns:a="http://schemas.openxmlformats.org/drawingml/2006/main">
            <a:r>
              <a:t/>
            </a:r>
          </a:p>
          <a:p xmlns:a="http://schemas.openxmlformats.org/drawingml/2006/main">
            <a:r>
              <a:t>Los cuatro tamaños suman tres mil seiscientos bytes. Esa es la RAM utilizada que debemos observar. La aplicación no presenta el resto del tamaño declarado de Editor como un bloque reservado; por eso no lo vamos a llamar fragmentación interna. La ocupación que estamos mostrando corresponde a estos cuatro segmentos activos.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app/Services/SegmentationService.php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Rebeca Alizon Najarro Duarte</a:t>
            </a:r>
          </a:p>
          <a:p xmlns:a="http://schemas.openxmlformats.org/drawingml/2006/main">
            <a:r>
              <a:t>TIEMPO: 42:00 a 45:00</a:t>
            </a:r>
          </a:p>
          <a:p xmlns:a="http://schemas.openxmlformats.org/drawingml/2006/main">
            <a:r>
              <a:t>GUION: Rebeca, tramo 42 a 45 minutos.</a:t>
            </a:r>
          </a:p>
          <a:p xmlns:a="http://schemas.openxmlformats.org/drawingml/2006/main">
            <a:r>
              <a:t/>
            </a:r>
          </a:p>
          <a:p xmlns:a="http://schemas.openxmlformats.org/drawingml/2006/main">
            <a:r>
              <a:t>HACER Y COMPROBAR</a:t>
            </a:r>
          </a:p>
          <a:p xmlns:a="http://schemas.openxmlformats.org/drawingml/2006/main">
            <a:r>
              <a:t>HACER. Mostrar la diapositiva 18. Bajar a Direccionamiento por segmentación. En Segmento, elegir 0 · Código · límite 1200. Escribir 100 en Offset en bytes y pulsar Acceder. Después sustituir el offset por 1199 y pulsar Acceder otra vez.</a:t>
            </a:r>
          </a:p>
          <a:p xmlns:a="http://schemas.openxmlformats.org/drawingml/2006/main">
            <a:r>
              <a:t/>
            </a:r>
          </a:p>
          <a:p xmlns:a="http://schemas.openxmlformats.org/drawingml/2006/main">
            <a:r>
              <a:t>COMPROBAR. Offset 100 → dirección 1100; offset 1199 → dirección 2199. Ambos con SEGMENT_ACCESS. Los segmentos siguen ocupando 3600 bytes; acceder no agranda sus regiones.</a:t>
            </a:r>
          </a:p>
          <a:p xmlns:a="http://schemas.openxmlformats.org/drawingml/2006/main">
            <a:r>
              <a:t/>
            </a:r>
          </a:p>
          <a:p xmlns:a="http://schemas.openxmlformats.org/drawingml/2006/main">
            <a:r>
              <a:t>DECIR EN VOZ ALTA</a:t>
            </a:r>
          </a:p>
          <a:p xmlns:a="http://schemas.openxmlformats.org/drawingml/2006/main">
            <a:r>
              <a:t>Vamos a utilizar Código para realizar un acceso. Su base es mil y su tamaño es mil doscientos bytes. La dirección que nos interesa se expresa como un segmento y un desplazamiento dentro de él.</a:t>
            </a:r>
          </a:p>
          <a:p xmlns:a="http://schemas.openxmlformats.org/drawingml/2006/main">
            <a:r>
              <a:t/>
            </a:r>
          </a:p>
          <a:p xmlns:a="http://schemas.openxmlformats.org/drawingml/2006/main">
            <a:r>
              <a:t>Primero elegimos el segmento Código y escribimos un offset de cien. Offset significa cuánto avanzamos desde el inicio de la región. Antes de sumar, debemos revisar que ese avance sea menor que el tamaño del segmento.</a:t>
            </a:r>
          </a:p>
          <a:p xmlns:a="http://schemas.openxmlformats.org/drawingml/2006/main">
            <a:r>
              <a:t/>
            </a:r>
          </a:p>
          <a:p xmlns:a="http://schemas.openxmlformats.org/drawingml/2006/main">
            <a:r>
              <a:t>Cien es menor que mil doscientos, así que está permitido. Sumamos la base mil más el desplazamiento cien y obtenemos la dirección física mil cien. La aplicación muestra SEGMENT_ACCESS, es decir, un acceso válido al segmento.</a:t>
            </a:r>
          </a:p>
          <a:p xmlns:a="http://schemas.openxmlformats.org/drawingml/2006/main">
            <a:r>
              <a:t/>
            </a:r>
          </a:p>
          <a:p xmlns:a="http://schemas.openxmlformats.org/drawingml/2006/main">
            <a:r>
              <a:t>Ahora probaremos el borde del segmento. Cambiamos el desplazamiento a mil ciento noventa y nueve. También es menor que mil doscientos, por lo que sigue siendo válido. La dirección final es mil más mil ciento noventa y nueve, igual a dos mil ciento noventa y nueve.</a:t>
            </a:r>
          </a:p>
          <a:p xmlns:a="http://schemas.openxmlformats.org/drawingml/2006/main">
            <a:r>
              <a:t/>
            </a:r>
          </a:p>
          <a:p xmlns:a="http://schemas.openxmlformats.org/drawingml/2006/main">
            <a:r>
              <a:t>Ese es el último byte de Código que vimos en el mapa. La tabla, el intervalo y el cálculo están describiendo la misma región. Si el tamaño es mil doscientos, tenemos mil doscientas posiciones, pero sus desplazamientos comienzan en cero. El último desplazamiento es tamaño menos uno.</a:t>
            </a:r>
          </a:p>
          <a:p xmlns:a="http://schemas.openxmlformats.org/drawingml/2006/main">
            <a:r>
              <a:t/>
            </a:r>
          </a:p>
          <a:p xmlns:a="http://schemas.openxmlformats.org/drawingml/2006/main">
            <a:r>
              <a:t>No debemos confundir la base con un desplazamiento. La base ubica la región en RAM; el desplazamiento ubica el dato dentro de ella. También debemos distinguir el tamaño del número de la última posición: mil doscientos bytes no significa que se permita un offset de mil doscientos.</a:t>
            </a:r>
          </a:p>
          <a:p xmlns:a="http://schemas.openxmlformats.org/drawingml/2006/main">
            <a:r>
              <a:t/>
            </a:r>
          </a:p>
          <a:p xmlns:a="http://schemas.openxmlformats.org/drawingml/2006/main">
            <a:r>
              <a:t>Vamos a comprobar esa diferencia con el siguiente acceso, que saldrá del límite por exactamente una posición.</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app/Services/SegmentationService.php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Rebeca Alizon Najarro Duarte</a:t>
            </a:r>
          </a:p>
          <a:p xmlns:a="http://schemas.openxmlformats.org/drawingml/2006/main">
            <a:r>
              <a:t>TIEMPO: 45:00 a 48:00</a:t>
            </a:r>
          </a:p>
          <a:p xmlns:a="http://schemas.openxmlformats.org/drawingml/2006/main">
            <a:r>
              <a:t>GUION: Rebeca, tramo 45 a 48 minutos.</a:t>
            </a:r>
          </a:p>
          <a:p xmlns:a="http://schemas.openxmlformats.org/drawingml/2006/main">
            <a:r>
              <a:t/>
            </a:r>
          </a:p>
          <a:p xmlns:a="http://schemas.openxmlformats.org/drawingml/2006/main">
            <a:r>
              <a:t>HACER Y COMPROBAR</a:t>
            </a:r>
          </a:p>
          <a:p xmlns:a="http://schemas.openxmlformats.org/drawingml/2006/main">
            <a:r>
              <a:t>HACER. Mostrar la diapositiva 19. Mantener seleccionado Código. Ingresar 1200 en Offset en bytes y pulsar Acceder. Mostrar el resultado rojo y señalar el límite 1200 y el último offset válido 1199.</a:t>
            </a:r>
          </a:p>
          <a:p xmlns:a="http://schemas.openxmlformats.org/drawingml/2006/main">
            <a:r>
              <a:t/>
            </a:r>
          </a:p>
          <a:p xmlns:a="http://schemas.openxmlformats.org/drawingml/2006/main">
            <a:r>
              <a:t>HACER si quedan 40 segundos. En Agregar segmento, escribir Nombre: Prueba de solapamiento, Base: 1500, Tamaño / límite: 256 y pulsar Agregar segmento. Mostrar el rechazo porque invade Código. La tabla debe conservar cuatro segmentos y 3600 bytes usados. Este ejemplo es opcional; si van atrasados, pasar directamente a Carlos.</a:t>
            </a:r>
          </a:p>
          <a:p xmlns:a="http://schemas.openxmlformats.org/drawingml/2006/main">
            <a:r>
              <a:t/>
            </a:r>
          </a:p>
          <a:p xmlns:a="http://schemas.openxmlformats.org/drawingml/2006/main">
            <a:r>
              <a:t>COMPROBAR. El acceso con offset 1200 se rechaza. No afirmar que se eliminaron segmentos o se finalizó el proceso. Entregar el control a las 48:00.</a:t>
            </a:r>
          </a:p>
          <a:p xmlns:a="http://schemas.openxmlformats.org/drawingml/2006/main">
            <a:r>
              <a:t/>
            </a:r>
          </a:p>
          <a:p xmlns:a="http://schemas.openxmlformats.org/drawingml/2006/main">
            <a:r>
              <a:t>DECIR EN VOZ ALTA</a:t>
            </a:r>
          </a:p>
          <a:p xmlns:a="http://schemas.openxmlformats.org/drawingml/2006/main">
            <a:r>
              <a:t>Ahora el offset es mil doscientos. La comparación ya no se cumple, porque mil doscientos no es menor que mil doscientos. Hemos intentado acceder justo después del último byte permitido.</a:t>
            </a:r>
          </a:p>
          <a:p xmlns:a="http://schemas.openxmlformats.org/drawingml/2006/main">
            <a:r>
              <a:t/>
            </a:r>
          </a:p>
          <a:p xmlns:a="http://schemas.openxmlformats.org/drawingml/2006/main">
            <a:r>
              <a:t>Aparece SEGMENTATION_FAULT y no se devuelve una dirección física válida. La protección consiste en revisar el límite antes de permitir el acceso. No debemos sumar la base y presentar dos mil doscientos como si fuera una dirección autorizada de Código.</a:t>
            </a:r>
          </a:p>
          <a:p xmlns:a="http://schemas.openxmlformats.org/drawingml/2006/main">
            <a:r>
              <a:t/>
            </a:r>
          </a:p>
          <a:p xmlns:a="http://schemas.openxmlformats.org/drawingml/2006/main">
            <a:r>
              <a:t>Aunque el mapa muestre memoria libre después de Código, esa memoria no pertenece a este segmento. Tener espacio libre en RAM no concede permiso para que el proceso lo utilice mediante un desplazamiento fuera de su región.</a:t>
            </a:r>
          </a:p>
          <a:p xmlns:a="http://schemas.openxmlformats.org/drawingml/2006/main">
            <a:r>
              <a:t/>
            </a:r>
          </a:p>
          <a:p xmlns:a="http://schemas.openxmlformats.org/drawingml/2006/main">
            <a:r>
              <a:t>Este resultado es distinto del Page Fault que mostramos antes. En un Page Fault, la página puede pertenecer al proceso y necesitar una carga a RAM. Aquí el desplazamiento excede los límites del segmento seleccionado. El simulador rechaza el acceso y registra lo ocurrido; no está mostrando que Editor se haya cerrado automáticamente.</a:t>
            </a:r>
          </a:p>
          <a:p xmlns:a="http://schemas.openxmlformats.org/drawingml/2006/main">
            <a:r>
              <a:t/>
            </a:r>
          </a:p>
          <a:p xmlns:a="http://schemas.openxmlformats.org/drawingml/2006/main">
            <a:r>
              <a:t>También existe una validación al crear segmentos: sus regiones no pueden superponerse. Una región no debe invadir posiciones que ya ocupa otra región activa. El límite protege el acceso y la validación de intervalos protege la creación.</a:t>
            </a:r>
          </a:p>
          <a:p xmlns:a="http://schemas.openxmlformats.org/drawingml/2006/main">
            <a:r>
              <a:t/>
            </a:r>
          </a:p>
          <a:p xmlns:a="http://schemas.openxmlformats.org/drawingml/2006/main">
            <a:r>
              <a:t>Con esto mostramos una tabla de segmentos, el significado de base y tamaño y dos accesos permitidos frente a uno rechazado. Carlos comparará esta organización con la paginación y con la asignación de un proceso completo en una región continua.</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app/Services/SegmentationService.php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Carlos Lopez Urizar</a:t>
            </a:r>
          </a:p>
          <a:p xmlns:a="http://schemas.openxmlformats.org/drawingml/2006/main">
            <a:r>
              <a:t>TIEMPO: 48:00 a 51:00</a:t>
            </a:r>
          </a:p>
          <a:p xmlns:a="http://schemas.openxmlformats.org/drawingml/2006/main">
            <a:r>
              <a:t>GUION: Carlos, tramo 48 a 51 minutos.</a:t>
            </a:r>
          </a:p>
          <a:p xmlns:a="http://schemas.openxmlformats.org/drawingml/2006/main">
            <a:r>
              <a:t/>
            </a:r>
          </a:p>
          <a:p xmlns:a="http://schemas.openxmlformats.org/drawingml/2006/main">
            <a:r>
              <a:t>HACER Y COMPROBAR</a:t>
            </a:r>
          </a:p>
          <a:p xmlns:a="http://schemas.openxmlformats.org/drawingml/2006/main">
            <a:r>
              <a:t>HACER. Mostrar la diapositiva 20. Abrir Comparación de asignación. En Tamaño solicitado en bytes, ingresar 8192 y pulsar Comparar asignación. Señalar los huecos de 3 KB y 6 KB y las tres columnas.</a:t>
            </a:r>
          </a:p>
          <a:p xmlns:a="http://schemas.openxmlformats.org/drawingml/2006/main">
            <a:r>
              <a:t/>
            </a:r>
          </a:p>
          <a:p xmlns:a="http://schemas.openxmlformats.org/drawingml/2006/main">
            <a:r>
              <a:t>COMPROBAR. Solicitud 8192: Contigua Rechazada, Paginación Aceptada, Segmentación Aceptada. Las dos técnicas aceptadas reservan 8192 bytes y dejan 1024 libres.</a:t>
            </a:r>
          </a:p>
          <a:p xmlns:a="http://schemas.openxmlformats.org/drawingml/2006/main">
            <a:r>
              <a:t/>
            </a:r>
          </a:p>
          <a:p xmlns:a="http://schemas.openxmlformats.org/drawingml/2006/main">
            <a:r>
              <a:t>DECIR EN VOZ ALTA</a:t>
            </a:r>
          </a:p>
          <a:p xmlns:a="http://schemas.openxmlformats.org/drawingml/2006/main">
            <a:r>
              <a:t>Soy Carlos Lopez Urizar. Ahora compararemos las tres técnicas con las mismas condiciones iniciales. Esta pantalla tiene un caso calculado independiente de los escenarios que acabamos de crear. Cada comparación parte de la misma distribución y no altera aquellos datos.</a:t>
            </a:r>
          </a:p>
          <a:p xmlns:a="http://schemas.openxmlformats.org/drawingml/2006/main">
            <a:r>
              <a:t/>
            </a:r>
          </a:p>
          <a:p xmlns:a="http://schemas.openxmlformats.org/drawingml/2006/main">
            <a:r>
              <a:t>La lámina muestra la solicitud de ocho kilobytes que vamos a comprobar. La RAM del comparador tiene dieciséis kilobytes. Los procesos A y B ocupan siete y quedan nueve libres, repartidos en dos huecos: uno de tres y otro de seis.</a:t>
            </a:r>
          </a:p>
          <a:p xmlns:a="http://schemas.openxmlformats.org/drawingml/2006/main">
            <a:r>
              <a:t/>
            </a:r>
          </a:p>
          <a:p xmlns:a="http://schemas.openxmlformats.org/drawingml/2006/main">
            <a:r>
              <a:t>Escribimos ocho mil ciento noventa y dos bytes, que equivalen a ocho kilobytes. Hay nueve kilobytes libres en total, pero el mayor espacio continuo tiene seis. Por eso la asignación contigua rechaza la solicitud: necesita colocar el proceso completo en un solo intervalo y no encuentra uno suficiente.</a:t>
            </a:r>
          </a:p>
          <a:p xmlns:a="http://schemas.openxmlformats.org/drawingml/2006/main">
            <a:r>
              <a:t/>
            </a:r>
          </a:p>
          <a:p xmlns:a="http://schemas.openxmlformats.org/drawingml/2006/main">
            <a:r>
              <a:t>Este problema es fragmentación externa. La memoria libre está repartida en huecos separados. Sumar esos espacios no los convierte automáticamente en una región continua de ocho kilobytes.</a:t>
            </a:r>
          </a:p>
          <a:p xmlns:a="http://schemas.openxmlformats.org/drawingml/2006/main">
            <a:r>
              <a:t/>
            </a:r>
          </a:p>
          <a:p xmlns:a="http://schemas.openxmlformats.org/drawingml/2006/main">
            <a:r>
              <a:t>La paginación sí acepta el ejemplo. Divide la solicitud en ocho páginas de un kilobyte y puede distribuirlas entre marcos de los dos huecos. No necesita que todos los marcos del proceso estén juntos.</a:t>
            </a:r>
          </a:p>
          <a:p xmlns:a="http://schemas.openxmlformats.org/drawingml/2006/main">
            <a:r>
              <a:t/>
            </a:r>
          </a:p>
          <a:p xmlns:a="http://schemas.openxmlformats.org/drawingml/2006/main">
            <a:r>
              <a:t>La segmentación también lo acepta con la división que utiliza este comparador: Código de cinco kilobytes y Datos de tres. Código cabe en el hueco de seis y Datos en el de tres. Cada segmento es continuo, aunque el proceso quede distribuido.</a:t>
            </a:r>
          </a:p>
          <a:p xmlns:a="http://schemas.openxmlformats.org/drawingml/2006/main">
            <a:r>
              <a:t/>
            </a:r>
          </a:p>
          <a:p xmlns:a="http://schemas.openxmlformats.org/drawingml/2006/main">
            <a:r>
              <a:t>Esta aceptación no significa que cualquier conjunto de segmentos siempre encaje. Depende del tamaño de cada parte y de los huecos disponibles. Lo que comprobamos aquí es una distribución posible con estos números.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app/Services/MemoryComparisonService.php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Carlos Lopez Urizar</a:t>
            </a:r>
          </a:p>
          <a:p xmlns:a="http://schemas.openxmlformats.org/drawingml/2006/main">
            <a:r>
              <a:t>TIEMPO: 51:00 a 54:00</a:t>
            </a:r>
          </a:p>
          <a:p xmlns:a="http://schemas.openxmlformats.org/drawingml/2006/main">
            <a:r>
              <a:t>GUION: Carlos, tramo 51 a 54 minutos.</a:t>
            </a:r>
          </a:p>
          <a:p xmlns:a="http://schemas.openxmlformats.org/drawingml/2006/main">
            <a:r>
              <a:t/>
            </a:r>
          </a:p>
          <a:p xmlns:a="http://schemas.openxmlformats.org/drawingml/2006/main">
            <a:r>
              <a:t>HACER Y COMPROBAR</a:t>
            </a:r>
          </a:p>
          <a:p xmlns:a="http://schemas.openxmlformats.org/drawingml/2006/main">
            <a:r>
              <a:t>HACER. Mostrar la diapositiva 21. Cambiar Tamaño solicitado en bytes a 7500 y pulsar Comparar asignación. Señalar Reserva nueva, Fragmentación interna y Memoria libre final. Si queda tiempo, probar 6144 para mostrar que Contigua también puede aceptar una solicitud que cabe en un hueco.</a:t>
            </a:r>
          </a:p>
          <a:p xmlns:a="http://schemas.openxmlformats.org/drawingml/2006/main">
            <a:r>
              <a:t/>
            </a:r>
          </a:p>
          <a:p xmlns:a="http://schemas.openxmlformats.org/drawingml/2006/main">
            <a:r>
              <a:t>COMPROBAR para 7500. Paginación: reserva 8192, fragmentación interna 692, libre final 1024. Segmentación: reserva 7500, fragmentación interna 0, libre final 1716. Contigua: Rechazada.</a:t>
            </a:r>
          </a:p>
          <a:p xmlns:a="http://schemas.openxmlformats.org/drawingml/2006/main">
            <a:r>
              <a:t/>
            </a:r>
          </a:p>
          <a:p xmlns:a="http://schemas.openxmlformats.org/drawingml/2006/main">
            <a:r>
              <a:t>PAUSA. Escribir 8192 - 7500 = 692 y preguntar dónde se encuentra ese sobrante. Confirmar: “Dentro del último marco asignado”.</a:t>
            </a:r>
          </a:p>
          <a:p xmlns:a="http://schemas.openxmlformats.org/drawingml/2006/main">
            <a:r>
              <a:t/>
            </a:r>
          </a:p>
          <a:p xmlns:a="http://schemas.openxmlformats.org/drawingml/2006/main">
            <a:r>
              <a:t>DECIR EN VOZ ALTA</a:t>
            </a:r>
          </a:p>
          <a:p xmlns:a="http://schemas.openxmlformats.org/drawingml/2006/main">
            <a:r>
              <a:t>Ahora solicitamos siete mil quinientos bytes. Seguimos teniendo suficiente memoria libre total, pero la asignación contigua vuelve a fallar porque la solicitud supera el hueco más grande, de seis mil ciento cuarenta y cuatro bytes.</a:t>
            </a:r>
          </a:p>
          <a:p xmlns:a="http://schemas.openxmlformats.org/drawingml/2006/main">
            <a:r>
              <a:t/>
            </a:r>
          </a:p>
          <a:p xmlns:a="http://schemas.openxmlformats.org/drawingml/2006/main">
            <a:r>
              <a:t>Con paginación necesitamos ocho páginas. Siete páginas solo darían siete mil ciento sesenta y ocho bytes, y todavía faltarían posiciones para completar la solicitud. Como los marcos tienen tamaño fijo, reservamos ocho, equivalentes a ocho mil ciento noventa y dos bytes.</a:t>
            </a:r>
          </a:p>
          <a:p xmlns:a="http://schemas.openxmlformats.org/drawingml/2006/main">
            <a:r>
              <a:t/>
            </a:r>
          </a:p>
          <a:p xmlns:a="http://schemas.openxmlformats.org/drawingml/2006/main">
            <a:r>
              <a:t>La diferencia entre la reserva y lo solicitado es seiscientos noventa y dos bytes. Ese espacio sobra dentro del último marco asignado y no se entrega a otro proceso en este modelo. Esto es fragmentación interna: el sobrante está dentro de una unidad reservada.</a:t>
            </a:r>
          </a:p>
          <a:p xmlns:a="http://schemas.openxmlformats.org/drawingml/2006/main">
            <a:r>
              <a:t/>
            </a:r>
          </a:p>
          <a:p xmlns:a="http://schemas.openxmlformats.org/drawingml/2006/main">
            <a:r>
              <a:t>La fragmentación externa era diferente: eran huecos libres entre regiones asignadas. Por eso no debemos usar los dos términos como si significaran lo mismo. En un caso el espacio libre está separado afuera; en el otro, el desperdicio queda dentro de una unidad que ya se reservó.</a:t>
            </a:r>
          </a:p>
          <a:p xmlns:a="http://schemas.openxmlformats.org/drawingml/2006/main">
            <a:r>
              <a:t/>
            </a:r>
          </a:p>
          <a:p xmlns:a="http://schemas.openxmlformats.org/drawingml/2006/main">
            <a:r>
              <a:t>En este ejemplo la segmentación reserva exactamente los siete mil quinientos bytes que necesita. Eso permite evitar el relleno de una última página, pero mantiene la necesidad de encontrar un hueco continuo para cada segmento. No estamos afirmando que una técnica sea superior en todas las situaciones.</a:t>
            </a:r>
          </a:p>
          <a:p xmlns:a="http://schemas.openxmlformats.org/drawingml/2006/main">
            <a:r>
              <a:t/>
            </a:r>
          </a:p>
          <a:p xmlns:a="http://schemas.openxmlformats.org/drawingml/2006/main">
            <a:r>
              <a:t>Si reducimos la solicitud a seis mil ciento cuarenta y cuatro bytes, cabe completa en el hueco de seis kilobytes y las tres técnicas aceptan. Esta prueba nos recuerda que la decisión depende de las condiciones: tamaño solicitado, tamaño de las unidades y distribución de los espacios libres.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app/Services/MemoryComparisonService.php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Carlos Lopez Urizar</a:t>
            </a:r>
          </a:p>
          <a:p xmlns:a="http://schemas.openxmlformats.org/drawingml/2006/main">
            <a:r>
              <a:t>TIEMPO: 54:00 a 57:00</a:t>
            </a:r>
          </a:p>
          <a:p xmlns:a="http://schemas.openxmlformats.org/drawingml/2006/main">
            <a:r>
              <a:t>GUION: Carlos, tramo 54 a 57 minutos.</a:t>
            </a:r>
          </a:p>
          <a:p xmlns:a="http://schemas.openxmlformats.org/drawingml/2006/main">
            <a:r>
              <a:t/>
            </a:r>
          </a:p>
          <a:p xmlns:a="http://schemas.openxmlformats.org/drawingml/2006/main">
            <a:r>
              <a:t>HACER Y COMPROBAR</a:t>
            </a:r>
          </a:p>
          <a:p xmlns:a="http://schemas.openxmlformats.org/drawingml/2006/main">
            <a:r>
              <a:t>HACER. Mostrar la diapositiva 22. Si hay tiempo, abrir Entregables académicos y señalar Manual de uso, Informe técnico, Presentación y Video; no iniciar la reproducción del video de tres minutos. Regresar a esta presentación de 24 diapositivas. La descarga histórica de la app corresponde al archivo anterior de doce diapositivas.</a:t>
            </a:r>
          </a:p>
          <a:p xmlns:a="http://schemas.openxmlformats.org/drawingml/2006/main">
            <a:r>
              <a:t/>
            </a:r>
          </a:p>
          <a:p xmlns:a="http://schemas.openxmlformats.org/drawingml/2006/main">
            <a:r>
              <a:t>COMPROBAR. Presentar las cifras como históricas. El guion de una hora es un documento de apoyo aparte; no afirmar que existe un botón nuevo para descargarlo en la app.</a:t>
            </a:r>
          </a:p>
          <a:p xmlns:a="http://schemas.openxmlformats.org/drawingml/2006/main">
            <a:r>
              <a:t/>
            </a:r>
          </a:p>
          <a:p xmlns:a="http://schemas.openxmlformats.org/drawingml/2006/main">
            <a:r>
              <a:t>DECIR EN VOZ ALTA</a:t>
            </a:r>
          </a:p>
          <a:p xmlns:a="http://schemas.openxmlformats.org/drawingml/2006/main">
            <a:r>
              <a:t>Además de mostrar resultados, el proyecto debía conservar una explicación verificable de cómo se construyó. La aplicación guarda escenarios, procesos, asignaciones y eventos. Esto permite volver a consultar un estado y revisar las acciones realizadas.</a:t>
            </a:r>
          </a:p>
          <a:p xmlns:a="http://schemas.openxmlformats.org/drawingml/2006/main">
            <a:r>
              <a:t/>
            </a:r>
          </a:p>
          <a:p xmlns:a="http://schemas.openxmlformats.org/drawingml/2006/main">
            <a:r>
              <a:t>La separación de roles ayuda a controlar quién modifica la simulación. Un observador puede estudiar los resultados; un operador puede ejecutar las acciones para las que tiene permiso; y un administrador prepara la configuración y realiza la gestión correspondiente. Las validaciones se comprueban en el servidor.</a:t>
            </a:r>
          </a:p>
          <a:p xmlns:a="http://schemas.openxmlformats.org/drawingml/2006/main">
            <a:r>
              <a:t/>
            </a:r>
          </a:p>
          <a:p xmlns:a="http://schemas.openxmlformats.org/drawingml/2006/main">
            <a:r>
              <a:t>La diapositiva muestra evidencia de una revisión del ocho de octubre: se documentaron seiscientas cincuenta y cinco pruebas aprobadas, una omisión condicional y cuatro mil quinientas setenta y cinco aserciones. Estas cifras pertenecen a esa revisión histórica. No estamos diciendo que se acaban de ejecutar durante esta exposición.</a:t>
            </a:r>
          </a:p>
          <a:p xmlns:a="http://schemas.openxmlformats.org/drawingml/2006/main">
            <a:r>
              <a:t/>
            </a:r>
          </a:p>
          <a:p xmlns:a="http://schemas.openxmlformats.org/drawingml/2006/main">
            <a:r>
              <a:t>También utilizamos herramientas de inteligencia artificial como apoyo para analizar, desarrollar, documentar y corregir el proyecto. Esa ayuda no sustituye comprobar lo que el sistema hace. Las instrucciones, decisiones y correcciones se conservaron en la documentación.</a:t>
            </a:r>
          </a:p>
          <a:p xmlns:a="http://schemas.openxmlformats.org/drawingml/2006/main">
            <a:r>
              <a:t/>
            </a:r>
          </a:p>
          <a:p xmlns:a="http://schemas.openxmlformats.org/drawingml/2006/main">
            <a:r>
              <a:t>Durante la demostración acabamos de aplicar ese criterio de comprobación. No dimos por correcto un número solo porque aparecía en un texto: verificamos P3 en el marco dos, comprobamos el desplazamiento cuatrocientos veintiocho y validamos el límite mil doscientos con accesos permitidos y rechazados.</a:t>
            </a:r>
          </a:p>
          <a:p xmlns:a="http://schemas.openxmlformats.org/drawingml/2006/main">
            <a:r>
              <a:t/>
            </a:r>
          </a:p>
          <a:p xmlns:a="http://schemas.openxmlformats.org/drawingml/2006/main">
            <a:r>
              <a:t>En Entregables académicos están el manual, el informe, la presentación y un video que ayudan a revisar el proyecto. Para esta exposición usamos además el recorrido que ensayamos y los nombres de nuestros propios escenarios. Con ese respaldo vamos a cerrar retomando los temas solicitados.</a:t>
            </a:r>
          </a:p>
          <a:p xmlns:a="http://schemas.openxmlformats.org/drawingml/2006/main">
            <a:r>
              <a:t/>
            </a:r>
          </a:p>
          <a:p xmlns:a="http://schemas.openxmlformats.org/drawingml/2006/main">
            <a:r>
              <a:t>CAMBIO DE PANTALLA</a:t>
            </a:r>
          </a:p>
          <a:p xmlns:a="http://schemas.openxmlformats.org/drawingml/2006/main">
            <a:r>
              <a:t>Alternar con la aplicación cuando lo indique el guion. Verificar escenario y proceso.</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a:p xmlns:a="http://schemas.openxmlformats.org/drawingml/2006/main">
            <a:r>
              <a:t>docs/uso-ia.md</a:t>
            </a:r>
          </a:p>
          <a:p xmlns:a="http://schemas.openxmlformats.org/drawingml/2006/main">
            <a:r>
              <a:t>docs/evidencias/fase-27.md</a:t>
            </a:r>
          </a:p>
          <a:p xmlns:a="http://schemas.openxmlformats.org/drawingml/2006/main">
            <a:r>
              <a:t>database/seeders/RolesAndPermissionsSeeder.php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Carlos Lopez Urizar</a:t>
            </a:r>
          </a:p>
          <a:p xmlns:a="http://schemas.openxmlformats.org/drawingml/2006/main">
            <a:r>
              <a:t>TIEMPO: 57:00 a 58:40</a:t>
            </a:r>
          </a:p>
          <a:p xmlns:a="http://schemas.openxmlformats.org/drawingml/2006/main">
            <a:r>
              <a:t>GUION: Carlos, tramo 57 a 60 minutos.</a:t>
            </a:r>
          </a:p>
          <a:p xmlns:a="http://schemas.openxmlformats.org/drawingml/2006/main">
            <a:r>
              <a:t/>
            </a:r>
          </a:p>
          <a:p xmlns:a="http://schemas.openxmlformats.org/drawingml/2006/main">
            <a:r>
              <a:t>HACER Y COMPROBAR</a:t>
            </a:r>
          </a:p>
          <a:p xmlns:a="http://schemas.openxmlformats.org/drawingml/2006/main">
            <a:r>
              <a:t>HACER. Mostrar la diapositiva 23 para el cierre hasta aproximadamente 58:40. Pasar a la diapositiva 24 y reservar de 58:40 a 59:40 para una pregunta o dos respuestas muy breves; terminar a 60:00.</a:t>
            </a:r>
          </a:p>
          <a:p xmlns:a="http://schemas.openxmlformats.org/drawingml/2006/main">
            <a:r>
              <a:t/>
            </a:r>
          </a:p>
          <a:p xmlns:a="http://schemas.openxmlformats.org/drawingml/2006/main">
            <a:r>
              <a:t>SI HAY PREGUNTAS. Responder de forma breve. Enmer responde sobre objetivo y arquitectura; Lester sobre tabla, Hit y Fault; Deivid sobre FIFO y direcciones; Rebeca sobre segmentos; Carlos sobre comparación e IA. Las respuestas preparadas están en las páginas siguientes.</a:t>
            </a:r>
          </a:p>
          <a:p xmlns:a="http://schemas.openxmlformats.org/drawingml/2006/main">
            <a:r>
              <a:t/>
            </a:r>
          </a:p>
          <a:p xmlns:a="http://schemas.openxmlformats.org/drawingml/2006/main">
            <a:r>
              <a:t>DECIR EN VOZ ALTA</a:t>
            </a:r>
          </a:p>
          <a:p xmlns:a="http://schemas.openxmlformats.org/drawingml/2006/main">
            <a:r>
              <a:t>Para concluir, la tabla de páginas relaciona el espacio lógico del proceso con los marcos donde se encuentran sus páginas. Cuando una página está ausente, un acceso puede requerir cargarla y, si la RAM está llena, reemplazar otra. Con FIFO comprobamos que sale la que entró antes, aunque se haya utilizado recientemente.</a:t>
            </a:r>
          </a:p>
          <a:p xmlns:a="http://schemas.openxmlformats.org/drawingml/2006/main">
            <a:r>
              <a:t/>
            </a:r>
          </a:p>
          <a:p xmlns:a="http://schemas.openxmlformats.org/drawingml/2006/main">
            <a:r>
              <a:t>En segmentación, la base ubica una región y el límite permite comprobar si el desplazamiento pertenece a ella. Por eso un offset de mil ciento noventa y nueve fue válido y uno de mil doscientos se rechazó para un segmento de mil doscientos bytes.</a:t>
            </a:r>
          </a:p>
          <a:p xmlns:a="http://schemas.openxmlformats.org/drawingml/2006/main">
            <a:r>
              <a:t/>
            </a:r>
          </a:p>
          <a:p xmlns:a="http://schemas.openxmlformats.org/drawingml/2006/main">
            <a:r>
              <a:t>La comparación mostró que espacio libre total y espacio libre continuo son cantidades diferentes. También vimos la fragmentación interna de una página parcialmente utilizada. Las técnicas tienen ventajas y costos que dependen de cómo está organizada la memoria.</a:t>
            </a:r>
          </a:p>
          <a:p xmlns:a="http://schemas.openxmlformats.org/drawingml/2006/main">
            <a:r>
              <a:t/>
            </a:r>
          </a:p>
          <a:p xmlns:a="http://schemas.openxmlformats.org/drawingml/2006/main">
            <a:r>
              <a:t>Estos resultados cumplen los temas centrales de nuestra tarea: tablas de páginas, fallos, tablas de segmentos, base y límite, asignación contigua y no contigua y conclusiones técnicas. Gracias por su atención. Podemos responder sus preguntas.</a:t>
            </a:r>
          </a:p>
          <a:p xmlns:a="http://schemas.openxmlformats.org/drawingml/2006/main">
            <a:r>
              <a:t/>
            </a:r>
          </a:p>
          <a:p xmlns:a="http://schemas.openxmlformats.org/drawingml/2006/main">
            <a:r>
              <a:t>CAMBIO DE PANTALLA</a:t>
            </a:r>
          </a:p>
          <a:p xmlns:a="http://schemas.openxmlformats.org/drawingml/2006/main">
            <a:r>
              <a:t>Pasar a la diapositiva 24 a las 58:40 para preguntas.</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EXPOSITOR: Carlos Lopez Urizar</a:t>
            </a:r>
          </a:p>
          <a:p xmlns:a="http://schemas.openxmlformats.org/drawingml/2006/main">
            <a:r>
              <a:t>TIEMPO: 58:40 a 60:00</a:t>
            </a:r>
          </a:p>
          <a:p xmlns:a="http://schemas.openxmlformats.org/drawingml/2006/main">
            <a:r>
              <a:t>GUION: Carlos, tramo 57 a 60 minutos.</a:t>
            </a:r>
          </a:p>
          <a:p xmlns:a="http://schemas.openxmlformats.org/drawingml/2006/main">
            <a:r>
              <a:t/>
            </a:r>
          </a:p>
          <a:p xmlns:a="http://schemas.openxmlformats.org/drawingml/2006/main">
            <a:r>
              <a:t>HACER Y COMPROBAR</a:t>
            </a:r>
          </a:p>
          <a:p xmlns:a="http://schemas.openxmlformats.org/drawingml/2006/main">
            <a:r>
              <a:t>HACER. Mostrar la diapositiva 23 para el cierre hasta aproximadamente 58:40. Pasar a la diapositiva 24 y reservar de 58:40 a 59:40 para una pregunta o dos respuestas muy breves; terminar a 60:00.</a:t>
            </a:r>
          </a:p>
          <a:p xmlns:a="http://schemas.openxmlformats.org/drawingml/2006/main">
            <a:r>
              <a:t/>
            </a:r>
          </a:p>
          <a:p xmlns:a="http://schemas.openxmlformats.org/drawingml/2006/main">
            <a:r>
              <a:t>SI HAY PREGUNTAS. Responder de forma breve. Enmer responde sobre objetivo y arquitectura; Lester sobre tabla, Hit y Fault; Deivid sobre FIFO y direcciones; Rebeca sobre segmentos; Carlos sobre comparación e IA. Las respuestas preparadas están en las páginas siguientes.</a:t>
            </a:r>
          </a:p>
          <a:p xmlns:a="http://schemas.openxmlformats.org/drawingml/2006/main">
            <a:r>
              <a:t/>
            </a:r>
          </a:p>
          <a:p xmlns:a="http://schemas.openxmlformats.org/drawingml/2006/main">
            <a:r>
              <a:t>DECIR EN VOZ ALTA</a:t>
            </a:r>
          </a:p>
          <a:p xmlns:a="http://schemas.openxmlformats.org/drawingml/2006/main">
            <a:r>
              <a:t>Para repasar, les planteamos dos preguntas. ¿La página cero siempre debe estar en el marco cero? No. Vimos que regresó al marco uno y que la misma dirección lógica cien se tradujo a 1124.</a:t>
            </a:r>
          </a:p>
          <a:p xmlns:a="http://schemas.openxmlformats.org/drawingml/2006/main">
            <a:r>
              <a:t/>
            </a:r>
          </a:p>
          <a:p xmlns:a="http://schemas.openxmlformats.org/drawingml/2006/main">
            <a:r>
              <a:t>¿Tener nueve kilobytes libres garantiza poder ubicar ocho de forma contigua? No. Si el mayor hueco solo tiene seis, hace falta distribuir la solicitud o cambiar las condiciones de asignación.</a:t>
            </a:r>
          </a:p>
          <a:p xmlns:a="http://schemas.openxmlformats.org/drawingml/2006/main">
            <a:r>
              <a:t/>
            </a:r>
          </a:p>
          <a:p xmlns:a="http://schemas.openxmlformats.org/drawingml/2006/main">
            <a:r>
              <a:t>Con esto terminamos la presentación de MemoryLab del Grupo 3. Muchas gracias, licenciado y compañeros.</a:t>
            </a:r>
          </a:p>
          <a:p xmlns:a="http://schemas.openxmlformats.org/drawingml/2006/main">
            <a:r>
              <a:t/>
            </a:r>
          </a:p>
          <a:p xmlns:a="http://schemas.openxmlformats.org/drawingml/2006/main">
            <a:r>
              <a:t>CAMBIO DE PANTALLA</a:t>
            </a:r>
          </a:p>
          <a:p xmlns:a="http://schemas.openxmlformats.org/drawingml/2006/main">
            <a:r>
              <a:t>Cerrar a las 60:00. Responder de acuerdo con el reparto del guion.</a:t>
            </a:r>
          </a:p>
          <a:p xmlns:a="http://schemas.openxmlformats.org/drawingml/2006/main">
            <a:r>
              <a:t/>
            </a:r>
          </a:p>
          <a:p xmlns:a="http://schemas.openxmlformats.org/drawingml/2006/main">
            <a:r>
              <a:t>FUENTES</a:t>
            </a:r>
          </a:p>
          <a:p xmlns:a="http://schemas.openxmlformats.org/drawingml/2006/main">
            <a:r>
              <a:t>docs/guion-exposicion-60-minutos.md</a:t>
            </a:r>
          </a:p>
          <a:p xmlns:a="http://schemas.openxmlformats.org/drawingml/2006/main">
            <a:r>
              <a:t>config/memorylab.php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c8980f448948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d58249a77549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86bcb0b6dc4a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4990d436a041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3e785da3b248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334f8264e649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33088-736E-4515-BD4C-54AE159178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A4905F-D01E-433B-88A4-7904EE44D7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7BD48A-27F3-436B-B653-432584AFDA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C032F1-EF54-4118-9AF0-66CFAB1D45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B9084B-DE5D-4C4B-AF52-5EDF555386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B1F7AE-D6C0-4E74-A58A-F27BB4A37F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4DC497-FD8E-46D6-BDBB-72443FE59F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662429-74AF-440D-B398-A6B1DF5C74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64C980-D725-4BAD-846A-0616B16353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B0C84B-ABD7-4C16-80E1-81B3A8D358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b4a779a1914ad9" /><Relationship Type="http://schemas.openxmlformats.org/officeDocument/2006/relationships/slideLayout" Target="/ppt/slideLayouts/slideLayout1.xml" Id="R3818ad79bfc04379" /><Relationship Type="http://schemas.openxmlformats.org/officeDocument/2006/relationships/slideLayout" Target="/ppt/slideLayouts/slideLayout2.xml" Id="R3af2974bdd0c48a7" /><Relationship Type="http://schemas.openxmlformats.org/officeDocument/2006/relationships/slideLayout" Target="/ppt/slideLayouts/slideLayout3.xml" Id="Reaf663e98eae4ba5" /><Relationship Type="http://schemas.openxmlformats.org/officeDocument/2006/relationships/slideLayout" Target="/ppt/slideLayouts/slideLayout4.xml" Id="R094e479b5f714b39" /><Relationship Type="http://schemas.openxmlformats.org/officeDocument/2006/relationships/slideLayout" Target="/ppt/slideLayouts/slideLayout5.xml" Id="Rbb759a03c5eb40a5" /><Relationship Type="http://schemas.openxmlformats.org/officeDocument/2006/relationships/slideLayout" Target="/ppt/slideLayouts/slideLayout6.xml" Id="Raa37ecb30dfe41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18ad79bfc04379"/>
    <p:sldLayoutId xmlns:r="http://schemas.openxmlformats.org/officeDocument/2006/relationships" id="2147483650" r:id="R3af2974bdd0c48a7"/>
    <p:sldLayoutId xmlns:r="http://schemas.openxmlformats.org/officeDocument/2006/relationships" id="2147483651" r:id="Reaf663e98eae4ba5"/>
    <p:sldLayoutId xmlns:r="http://schemas.openxmlformats.org/officeDocument/2006/relationships" id="2147483652" r:id="R094e479b5f714b39"/>
    <p:sldLayoutId xmlns:r="http://schemas.openxmlformats.org/officeDocument/2006/relationships" id="2147483653" r:id="Rbb759a03c5eb40a5"/>
    <p:sldLayoutId xmlns:r="http://schemas.openxmlformats.org/officeDocument/2006/relationships" id="2147483654" r:id="Raa37ecb30dfe41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00b27a268a479f" /><Relationship Type="http://schemas.openxmlformats.org/officeDocument/2006/relationships/image" Target="/ppt/media/image.png" Id="R37e7278e3e664b96" /><Relationship Type="http://schemas.openxmlformats.org/officeDocument/2006/relationships/notesSlide" Target="/ppt/notesSlides/notesSlide1.xml" Id="R4fc565d6df184a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c4094bf5494dca" /><Relationship Type="http://schemas.openxmlformats.org/officeDocument/2006/relationships/notesSlide" Target="/ppt/notesSlides/notesSlide2.xml" Id="R0eec6e8faba34a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41858dd48c418a" /><Relationship Type="http://schemas.openxmlformats.org/officeDocument/2006/relationships/notesSlide" Target="/ppt/notesSlides/notesSlide3.xml" Id="Rb38e8e971fd146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1848faa7694255" /><Relationship Type="http://schemas.openxmlformats.org/officeDocument/2006/relationships/notesSlide" Target="/ppt/notesSlides/notesSlide4.xml" Id="R8fb7db51480647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d1943f567d4bc9" /><Relationship Type="http://schemas.openxmlformats.org/officeDocument/2006/relationships/notesSlide" Target="/ppt/notesSlides/notesSlide5.xml" Id="Rccfa914ced2647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d4832a82984048" /><Relationship Type="http://schemas.openxmlformats.org/officeDocument/2006/relationships/notesSlide" Target="/ppt/notesSlides/notesSlide6.xml" Id="Ree2661f961174b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fce9a4b1fb40f8" /><Relationship Type="http://schemas.openxmlformats.org/officeDocument/2006/relationships/notesSlide" Target="/ppt/notesSlides/notesSlide7.xml" Id="R6e5ce82a90914e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9b4466cd544384" /><Relationship Type="http://schemas.openxmlformats.org/officeDocument/2006/relationships/notesSlide" Target="/ppt/notesSlides/notesSlide8.xml" Id="R011f8157e9b94d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64c9a56eff4127" /><Relationship Type="http://schemas.openxmlformats.org/officeDocument/2006/relationships/notesSlide" Target="/ppt/notesSlides/notesSlide9.xml" Id="R535f2b13d37f4b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8e33b36f55463d" /><Relationship Type="http://schemas.openxmlformats.org/officeDocument/2006/relationships/notesSlide" Target="/ppt/notesSlides/notesSlide10.xml" Id="Rf66332c171fd4d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779ff125b8b4681" /><Relationship Type="http://schemas.openxmlformats.org/officeDocument/2006/relationships/notesSlide" Target="/ppt/notesSlides/notesSlide11.xml" Id="Ra8b01dfd46e24b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5153a1334a47cb" /><Relationship Type="http://schemas.openxmlformats.org/officeDocument/2006/relationships/notesSlide" Target="/ppt/notesSlides/notesSlide12.xml" Id="Rb397c9328c5e42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98df9b820544cd" /><Relationship Type="http://schemas.openxmlformats.org/officeDocument/2006/relationships/notesSlide" Target="/ppt/notesSlides/notesSlide13.xml" Id="R38274def173d4b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6f2f6e8d7ac4c75" /><Relationship Type="http://schemas.openxmlformats.org/officeDocument/2006/relationships/notesSlide" Target="/ppt/notesSlides/notesSlide14.xml" Id="R7b84dca0609c42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62acd4b88c34b26" /><Relationship Type="http://schemas.openxmlformats.org/officeDocument/2006/relationships/notesSlide" Target="/ppt/notesSlides/notesSlide15.xml" Id="R5c7c4a03756c42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4bf2ccfec5f452a" /><Relationship Type="http://schemas.openxmlformats.org/officeDocument/2006/relationships/notesSlide" Target="/ppt/notesSlides/notesSlide16.xml" Id="Re63b714c97164e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70011721149405c" /><Relationship Type="http://schemas.openxmlformats.org/officeDocument/2006/relationships/notesSlide" Target="/ppt/notesSlides/notesSlide17.xml" Id="Raea9abc3c5694e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825d017ca84cd3" /><Relationship Type="http://schemas.openxmlformats.org/officeDocument/2006/relationships/notesSlide" Target="/ppt/notesSlides/notesSlide18.xml" Id="Ra9267784e4d844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8d41a8ae81485f" /><Relationship Type="http://schemas.openxmlformats.org/officeDocument/2006/relationships/notesSlide" Target="/ppt/notesSlides/notesSlide19.xml" Id="R57e398573f5443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c5835d21f7f46ad" /><Relationship Type="http://schemas.openxmlformats.org/officeDocument/2006/relationships/notesSlide" Target="/ppt/notesSlides/notesSlide20.xml" Id="Rf347d7ca00344f3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6d54bf4f7c74d71" /><Relationship Type="http://schemas.openxmlformats.org/officeDocument/2006/relationships/notesSlide" Target="/ppt/notesSlides/notesSlide21.xml" Id="Rb79687e653744b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aa8929305a442f1" /><Relationship Type="http://schemas.openxmlformats.org/officeDocument/2006/relationships/notesSlide" Target="/ppt/notesSlides/notesSlide22.xml" Id="R8a6c106231dd48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37f26a083534f1a" /><Relationship Type="http://schemas.openxmlformats.org/officeDocument/2006/relationships/notesSlide" Target="/ppt/notesSlides/notesSlide23.xml" Id="R0c7f6c64e6a14e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e9c7a8e63a543b6" /><Relationship Type="http://schemas.openxmlformats.org/officeDocument/2006/relationships/notesSlide" Target="/ppt/notesSlides/notesSlide24.xml" Id="Recdaeec2623a40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532B2B-BE34-4706-9BD0-CC09FB5ACC01}"/>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00:00 a 03:00     1 de 24</a:t>
            </a:r>
          </a:p>
        </p:txBody>
      </p:sp>
      <p:sp>
        <p:nvSpPr>
          <p:cNvPr id="2" name="">
            <a:extLst xmlns:a="http://schemas.openxmlformats.org/drawingml/2006/main">
              <a:ext uri="{FF2B5EF4-FFF2-40B4-BE49-F238E27FC236}">
                <a16:creationId xmlns:a16="http://schemas.microsoft.com/office/drawing/2014/main" id="{F662A690-AFFF-425E-A37D-D6BCE8F18414}"/>
              </a:ext>
            </a:extLst>
          </p:cNvPr>
          <p:cNvSpPr>
            <a:spLocks xmlns:a="http://schemas.openxmlformats.org/drawingml/2006/main" noGrp="1"/>
          </p:cNvSpPr>
          <p:nvPr/>
        </p:nvSpPr>
        <p:spPr>
          <a:xfrm xmlns:a="http://schemas.openxmlformats.org/drawingml/2006/main">
            <a:off x="685800" y="1123950"/>
            <a:ext cx="733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550" b="1">
                <a:solidFill>
                  <a:srgbClr val="16324F"/>
                </a:solidFill>
                <a:latin typeface="Arial"/>
                <a:ea typeface="Arial"/>
                <a:cs typeface="Arial"/>
              </a:defRPr>
            </a:defPPr>
            <a:lvl1pPr>
              <a:defRPr sz="5550" b="1">
                <a:solidFill>
                  <a:srgbClr val="16324F"/>
                </a:solidFill>
                <a:latin typeface="Arial"/>
                <a:ea typeface="Arial"/>
                <a:cs typeface="Arial"/>
              </a:defRPr>
            </a:lvl1pPr>
            <a:lvl2pPr>
              <a:defRPr sz="5550" b="1">
                <a:solidFill>
                  <a:srgbClr val="16324F"/>
                </a:solidFill>
                <a:latin typeface="Arial"/>
                <a:ea typeface="Arial"/>
                <a:cs typeface="Arial"/>
              </a:defRPr>
            </a:lvl2pPr>
            <a:lvl3pPr>
              <a:defRPr sz="5550" b="1">
                <a:solidFill>
                  <a:srgbClr val="16324F"/>
                </a:solidFill>
                <a:latin typeface="Arial"/>
                <a:ea typeface="Arial"/>
                <a:cs typeface="Arial"/>
              </a:defRPr>
            </a:lvl3pPr>
            <a:lvl4pPr>
              <a:defRPr sz="5550" b="1">
                <a:solidFill>
                  <a:srgbClr val="16324F"/>
                </a:solidFill>
                <a:latin typeface="Arial"/>
                <a:ea typeface="Arial"/>
                <a:cs typeface="Arial"/>
              </a:defRPr>
            </a:lvl4pPr>
            <a:lvl5pPr>
              <a:defRPr sz="5550" b="1">
                <a:solidFill>
                  <a:srgbClr val="16324F"/>
                </a:solidFill>
                <a:latin typeface="Arial"/>
                <a:ea typeface="Arial"/>
                <a:cs typeface="Arial"/>
              </a:defRPr>
            </a:lvl5pPr>
            <a:lvl6pPr>
              <a:defRPr sz="5550" b="1">
                <a:solidFill>
                  <a:srgbClr val="16324F"/>
                </a:solidFill>
                <a:latin typeface="Arial"/>
                <a:ea typeface="Arial"/>
                <a:cs typeface="Arial"/>
              </a:defRPr>
            </a:lvl6pPr>
            <a:lvl7pPr>
              <a:defRPr sz="5550" b="1">
                <a:solidFill>
                  <a:srgbClr val="16324F"/>
                </a:solidFill>
                <a:latin typeface="Arial"/>
                <a:ea typeface="Arial"/>
                <a:cs typeface="Arial"/>
              </a:defRPr>
            </a:lvl7pPr>
            <a:lvl8pPr>
              <a:defRPr sz="5550" b="1">
                <a:solidFill>
                  <a:srgbClr val="16324F"/>
                </a:solidFill>
                <a:latin typeface="Arial"/>
                <a:ea typeface="Arial"/>
                <a:cs typeface="Arial"/>
              </a:defRPr>
            </a:lvl8pPr>
            <a:lvl9pPr>
              <a:defRPr sz="5550" b="1">
                <a:solidFill>
                  <a:srgbClr val="16324F"/>
                </a:solidFill>
                <a:latin typeface="Arial"/>
                <a:ea typeface="Arial"/>
                <a:cs typeface="Arial"/>
              </a:defRPr>
            </a:lvl9pPr>
          </a:lstStyle>
          <a:p xmlns:a="http://schemas.openxmlformats.org/drawingml/2006/main">
            <a:pPr>
              <a:defRPr sz="5550" b="1">
                <a:solidFill>
                  <a:srgbClr val="16324F"/>
                </a:solidFill>
                <a:latin typeface="Arial"/>
                <a:ea typeface="Arial"/>
                <a:cs typeface="Arial"/>
              </a:defRPr>
            </a:pPr>
            <a:r>
              <a:rPr sz="5550" b="1">
                <a:solidFill>
                  <a:srgbClr val="16324F"/>
                </a:solidFill>
                <a:latin typeface="Arial"/>
                <a:ea typeface="Arial"/>
                <a:cs typeface="Arial"/>
              </a:rPr>
              <a:t>MemoryLab</a:t>
            </a:r>
          </a:p>
        </p:txBody>
      </p:sp>
      <p:sp>
        <p:nvSpPr>
          <p:cNvPr id="3" name="">
            <a:extLst xmlns:a="http://schemas.openxmlformats.org/drawingml/2006/main">
              <a:ext uri="{FF2B5EF4-FFF2-40B4-BE49-F238E27FC236}">
                <a16:creationId xmlns:a16="http://schemas.microsoft.com/office/drawing/2014/main" id="{1C5EDEE5-3729-45C9-AA95-180AF0C0258F}"/>
              </a:ext>
            </a:extLst>
          </p:cNvPr>
          <p:cNvSpPr>
            <a:spLocks xmlns:a="http://schemas.openxmlformats.org/drawingml/2006/main" noGrp="1"/>
          </p:cNvSpPr>
          <p:nvPr/>
        </p:nvSpPr>
        <p:spPr>
          <a:xfrm xmlns:a="http://schemas.openxmlformats.org/drawingml/2006/main">
            <a:off x="723900" y="2266950"/>
            <a:ext cx="714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75">
                <a:solidFill>
                  <a:srgbClr val="16324F"/>
                </a:solidFill>
                <a:latin typeface="Arial"/>
                <a:ea typeface="Arial"/>
                <a:cs typeface="Arial"/>
              </a:defRPr>
            </a:defPPr>
            <a:lvl1pPr>
              <a:defRPr sz="3375">
                <a:solidFill>
                  <a:srgbClr val="16324F"/>
                </a:solidFill>
                <a:latin typeface="Arial"/>
                <a:ea typeface="Arial"/>
                <a:cs typeface="Arial"/>
              </a:defRPr>
            </a:lvl1pPr>
            <a:lvl2pPr>
              <a:defRPr sz="3375">
                <a:solidFill>
                  <a:srgbClr val="16324F"/>
                </a:solidFill>
                <a:latin typeface="Arial"/>
                <a:ea typeface="Arial"/>
                <a:cs typeface="Arial"/>
              </a:defRPr>
            </a:lvl2pPr>
            <a:lvl3pPr>
              <a:defRPr sz="3375">
                <a:solidFill>
                  <a:srgbClr val="16324F"/>
                </a:solidFill>
                <a:latin typeface="Arial"/>
                <a:ea typeface="Arial"/>
                <a:cs typeface="Arial"/>
              </a:defRPr>
            </a:lvl3pPr>
            <a:lvl4pPr>
              <a:defRPr sz="3375">
                <a:solidFill>
                  <a:srgbClr val="16324F"/>
                </a:solidFill>
                <a:latin typeface="Arial"/>
                <a:ea typeface="Arial"/>
                <a:cs typeface="Arial"/>
              </a:defRPr>
            </a:lvl4pPr>
            <a:lvl5pPr>
              <a:defRPr sz="3375">
                <a:solidFill>
                  <a:srgbClr val="16324F"/>
                </a:solidFill>
                <a:latin typeface="Arial"/>
                <a:ea typeface="Arial"/>
                <a:cs typeface="Arial"/>
              </a:defRPr>
            </a:lvl5pPr>
            <a:lvl6pPr>
              <a:defRPr sz="3375">
                <a:solidFill>
                  <a:srgbClr val="16324F"/>
                </a:solidFill>
                <a:latin typeface="Arial"/>
                <a:ea typeface="Arial"/>
                <a:cs typeface="Arial"/>
              </a:defRPr>
            </a:lvl6pPr>
            <a:lvl7pPr>
              <a:defRPr sz="3375">
                <a:solidFill>
                  <a:srgbClr val="16324F"/>
                </a:solidFill>
                <a:latin typeface="Arial"/>
                <a:ea typeface="Arial"/>
                <a:cs typeface="Arial"/>
              </a:defRPr>
            </a:lvl7pPr>
            <a:lvl8pPr>
              <a:defRPr sz="3375">
                <a:solidFill>
                  <a:srgbClr val="16324F"/>
                </a:solidFill>
                <a:latin typeface="Arial"/>
                <a:ea typeface="Arial"/>
                <a:cs typeface="Arial"/>
              </a:defRPr>
            </a:lvl8pPr>
            <a:lvl9pPr>
              <a:defRPr sz="3375">
                <a:solidFill>
                  <a:srgbClr val="16324F"/>
                </a:solidFill>
                <a:latin typeface="Arial"/>
                <a:ea typeface="Arial"/>
                <a:cs typeface="Arial"/>
              </a:defRPr>
            </a:lvl9pPr>
          </a:lstStyle>
          <a:p xmlns:a="http://schemas.openxmlformats.org/drawingml/2006/main">
            <a:pPr>
              <a:defRPr sz="3375">
                <a:solidFill>
                  <a:srgbClr val="16324F"/>
                </a:solidFill>
                <a:latin typeface="Arial"/>
                <a:ea typeface="Arial"/>
                <a:cs typeface="Arial"/>
              </a:defRPr>
            </a:pPr>
            <a:r>
              <a:rPr sz="3375">
                <a:solidFill>
                  <a:srgbClr val="16324F"/>
                </a:solidFill>
                <a:latin typeface="Arial"/>
                <a:ea typeface="Arial"/>
                <a:cs typeface="Arial"/>
              </a:rPr>
              <a:t>Administración de memoria</a:t>
            </a:r>
          </a:p>
        </p:txBody>
      </p:sp>
      <p:sp>
        <p:nvSpPr>
          <p:cNvPr id="4" name="">
            <a:extLst xmlns:a="http://schemas.openxmlformats.org/drawingml/2006/main">
              <a:ext uri="{FF2B5EF4-FFF2-40B4-BE49-F238E27FC236}">
                <a16:creationId xmlns:a16="http://schemas.microsoft.com/office/drawing/2014/main" id="{3488E6CB-40DB-4BF8-9413-C1FC72578AB8}"/>
              </a:ext>
            </a:extLst>
          </p:cNvPr>
          <p:cNvSpPr>
            <a:spLocks xmlns:a="http://schemas.openxmlformats.org/drawingml/2006/main" noGrp="1"/>
          </p:cNvSpPr>
          <p:nvPr/>
        </p:nvSpPr>
        <p:spPr>
          <a:xfrm xmlns:a="http://schemas.openxmlformats.org/drawingml/2006/main">
            <a:off x="733425" y="4162425"/>
            <a:ext cx="7620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a:solidFill>
                  <a:srgbClr val="20334B"/>
                </a:solidFill>
                <a:latin typeface="Arial"/>
                <a:ea typeface="Arial"/>
                <a:cs typeface="Arial"/>
              </a:defRPr>
            </a:defPPr>
            <a:lvl1pPr>
              <a:defRPr sz="2175">
                <a:solidFill>
                  <a:srgbClr val="20334B"/>
                </a:solidFill>
                <a:latin typeface="Arial"/>
                <a:ea typeface="Arial"/>
                <a:cs typeface="Arial"/>
              </a:defRPr>
            </a:lvl1pPr>
            <a:lvl2pPr>
              <a:defRPr sz="2175">
                <a:solidFill>
                  <a:srgbClr val="20334B"/>
                </a:solidFill>
                <a:latin typeface="Arial"/>
                <a:ea typeface="Arial"/>
                <a:cs typeface="Arial"/>
              </a:defRPr>
            </a:lvl2pPr>
            <a:lvl3pPr>
              <a:defRPr sz="2175">
                <a:solidFill>
                  <a:srgbClr val="20334B"/>
                </a:solidFill>
                <a:latin typeface="Arial"/>
                <a:ea typeface="Arial"/>
                <a:cs typeface="Arial"/>
              </a:defRPr>
            </a:lvl3pPr>
            <a:lvl4pPr>
              <a:defRPr sz="2175">
                <a:solidFill>
                  <a:srgbClr val="20334B"/>
                </a:solidFill>
                <a:latin typeface="Arial"/>
                <a:ea typeface="Arial"/>
                <a:cs typeface="Arial"/>
              </a:defRPr>
            </a:lvl4pPr>
            <a:lvl5pPr>
              <a:defRPr sz="2175">
                <a:solidFill>
                  <a:srgbClr val="20334B"/>
                </a:solidFill>
                <a:latin typeface="Arial"/>
                <a:ea typeface="Arial"/>
                <a:cs typeface="Arial"/>
              </a:defRPr>
            </a:lvl5pPr>
            <a:lvl6pPr>
              <a:defRPr sz="2175">
                <a:solidFill>
                  <a:srgbClr val="20334B"/>
                </a:solidFill>
                <a:latin typeface="Arial"/>
                <a:ea typeface="Arial"/>
                <a:cs typeface="Arial"/>
              </a:defRPr>
            </a:lvl6pPr>
            <a:lvl7pPr>
              <a:defRPr sz="2175">
                <a:solidFill>
                  <a:srgbClr val="20334B"/>
                </a:solidFill>
                <a:latin typeface="Arial"/>
                <a:ea typeface="Arial"/>
                <a:cs typeface="Arial"/>
              </a:defRPr>
            </a:lvl7pPr>
            <a:lvl8pPr>
              <a:defRPr sz="2175">
                <a:solidFill>
                  <a:srgbClr val="20334B"/>
                </a:solidFill>
                <a:latin typeface="Arial"/>
                <a:ea typeface="Arial"/>
                <a:cs typeface="Arial"/>
              </a:defRPr>
            </a:lvl8pPr>
            <a:lvl9pPr>
              <a:defRPr sz="2175">
                <a:solidFill>
                  <a:srgbClr val="20334B"/>
                </a:solidFill>
                <a:latin typeface="Arial"/>
                <a:ea typeface="Arial"/>
                <a:cs typeface="Arial"/>
              </a:defRPr>
            </a:lvl9pPr>
          </a:lstStyle>
          <a:p xmlns:a="http://schemas.openxmlformats.org/drawingml/2006/main">
            <a:pPr>
              <a:defRPr sz="2175">
                <a:solidFill>
                  <a:srgbClr val="20334B"/>
                </a:solidFill>
                <a:latin typeface="Arial"/>
                <a:ea typeface="Arial"/>
                <a:cs typeface="Arial"/>
              </a:defRPr>
            </a:pPr>
            <a:r>
              <a:rPr sz="2175">
                <a:solidFill>
                  <a:srgbClr val="20334B"/>
                </a:solidFill>
                <a:latin typeface="Arial"/>
                <a:ea typeface="Arial"/>
                <a:cs typeface="Arial"/>
              </a:rPr>
              <a:t>Universidad Mariano Gálvez</a:t>
            </a:r>
          </a:p>
          <a:p xmlns:a="http://schemas.openxmlformats.org/drawingml/2006/main">
            <a:pPr>
              <a:defRPr sz="2175">
                <a:solidFill>
                  <a:srgbClr val="20334B"/>
                </a:solidFill>
                <a:latin typeface="Arial"/>
                <a:ea typeface="Arial"/>
                <a:cs typeface="Arial"/>
              </a:defRPr>
            </a:pPr>
            <a:r>
              <a:rPr sz="2175">
                <a:solidFill>
                  <a:srgbClr val="20334B"/>
                </a:solidFill>
                <a:latin typeface="Arial"/>
                <a:ea typeface="Arial"/>
                <a:cs typeface="Arial"/>
              </a:rPr>
              <a:t>Ingeniería en Sistemas</a:t>
            </a:r>
          </a:p>
          <a:p xmlns:a="http://schemas.openxmlformats.org/drawingml/2006/main">
            <a:pPr>
              <a:defRPr sz="2175">
                <a:solidFill>
                  <a:srgbClr val="20334B"/>
                </a:solidFill>
                <a:latin typeface="Arial"/>
                <a:ea typeface="Arial"/>
                <a:cs typeface="Arial"/>
              </a:defRPr>
            </a:pPr>
            <a:r>
              <a:rPr sz="2175">
                <a:solidFill>
                  <a:srgbClr val="20334B"/>
                </a:solidFill>
                <a:latin typeface="Arial"/>
                <a:ea typeface="Arial"/>
                <a:cs typeface="Arial"/>
              </a:rPr>
              <a:t>Sistemas Operativos 1  Grupo 3</a:t>
            </a:r>
          </a:p>
        </p:txBody>
      </p:sp>
      <p:pic>
        <p:nvPicPr>
          <p:cNvPr id="5" name="">
            <a:extLst xmlns:a="http://schemas.openxmlformats.org/drawingml/2006/main">
              <a:ext uri="{FF2B5EF4-FFF2-40B4-BE49-F238E27FC236}">
                <a16:creationId xmlns:a16="http://schemas.microsoft.com/office/drawing/2014/main" id="{6E32D051-BCE0-45D8-9CFB-FEBCA0110567}"/>
              </a:ext>
            </a:extLst>
          </p:cNvPr>
          <p:cNvPicPr>
            <a:picLocks xmlns:a="http://schemas.openxmlformats.org/drawingml/2006/main" noChangeAspect="1"/>
          </p:cNvPicPr>
          <p:nvPr/>
        </p:nvPicPr>
        <p:blipFill>
          <a:blip xmlns:r="http://schemas.openxmlformats.org/officeDocument/2006/relationships" xmlns:a="http://schemas.openxmlformats.org/drawingml/2006/main" r:embed="R37e7278e3e664b96"/>
          <a:stretch xmlns:a="http://schemas.openxmlformats.org/drawingml/2006/main"/>
        </p:blipFill>
        <p:spPr>
          <a:xfrm xmlns:a="http://schemas.openxmlformats.org/drawingml/2006/main">
            <a:off x="8782050" y="1868628"/>
            <a:ext cx="2476500" cy="2482570"/>
          </a:xfrm>
          <a:prstGeom xmlns:a="http://schemas.openxmlformats.org/drawingml/2006/main" prst="rect">
            <a:avLst/>
          </a:prstGeom>
        </p:spPr>
      </p:pic>
    </p:spTree>
    <p:extLst>
      <p:ext uri="{BB962C8B-B14F-4D97-AF65-F5344CB8AC3E}">
        <p14:creationId xmlns:p14="http://schemas.microsoft.com/office/powerpoint/2010/main" val="699878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A23832-B9C1-4B2F-B3E3-CF102511120A}"/>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Equipo de trabajo</a:t>
            </a:r>
          </a:p>
        </p:txBody>
      </p:sp>
      <p:sp>
        <p:nvSpPr>
          <p:cNvPr id="2" name="">
            <a:extLst xmlns:a="http://schemas.openxmlformats.org/drawingml/2006/main">
              <a:ext uri="{FF2B5EF4-FFF2-40B4-BE49-F238E27FC236}">
                <a16:creationId xmlns:a16="http://schemas.microsoft.com/office/drawing/2014/main" id="{DE791459-5CEC-4B59-A71A-A02F3535F9E0}"/>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Cinco integrantes con participación en la exposición</a:t>
            </a:r>
          </a:p>
        </p:txBody>
      </p:sp>
      <p:sp>
        <p:nvSpPr>
          <p:cNvPr id="3" name="">
            <a:extLst xmlns:a="http://schemas.openxmlformats.org/drawingml/2006/main">
              <a:ext uri="{FF2B5EF4-FFF2-40B4-BE49-F238E27FC236}">
                <a16:creationId xmlns:a16="http://schemas.microsoft.com/office/drawing/2014/main" id="{CB149995-8CCB-4B98-A7AB-130394E164F9}"/>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00:00 a 03:00     2 de 24</a:t>
            </a:r>
          </a:p>
        </p:txBody>
      </p:sp>
      <p:graphicFrame>
        <p:nvGraphicFramePr>
          <p:cNvPr id="4" name="">
            <a:extLst xmlns:a="http://schemas.openxmlformats.org/drawingml/2006/main">
              <a:ext uri="{FF2B5EF4-FFF2-40B4-BE49-F238E27FC236}">
                <a16:creationId xmlns:a16="http://schemas.microsoft.com/office/drawing/2014/main" id="{F17FAC20-1F71-4766-BF8B-D24EB8AAABA5}"/>
              </a:ext>
            </a:extLst>
          </p:cNvPr>
          <p:cNvGraphicFramePr/>
          <p:nvPr/>
        </p:nvGraphicFramePr>
        <p:xfrm>
          <a:off xmlns:a="http://schemas.openxmlformats.org/drawingml/2006/main" x="685800" y="1943100"/>
          <a:ext xmlns:a="http://schemas.openxmlformats.org/drawingml/2006/main" cx="10820400" cy="3486150"/>
        </p:xfrm>
        <a:graphic xmlns:a="http://schemas.openxmlformats.org/drawingml/2006/main">
          <a:graphicData uri="http://schemas.openxmlformats.org/drawingml/2006/table">
            <a:tbl>
              <a:tblPr firstRow="1" bandRow="0"/>
              <a:tblGrid>
                <a:gridCol w="7620000"/>
                <a:gridCol w="3200400"/>
              </a:tblGrid>
              <a:tr h="581025">
                <a:tc>
                  <a:txBody>
                    <a:bodyPr>
                      <a:noAutofit/>
                    </a:bodyPr>
                    <a:lstStyle/>
                    <a:p>
                      <a:r>
                        <a:rPr sz="2025" b="1">
                          <a:solidFill>
                            <a:srgbClr val="FFFFFF"/>
                          </a:solidFill>
                          <a:latin typeface="Arial"/>
                          <a:ea typeface="Arial"/>
                          <a:cs typeface="Arial"/>
                        </a:rPr>
                        <a:t>Integrante</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Carné</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581025">
                <a:tc>
                  <a:txBody>
                    <a:bodyPr>
                      <a:noAutofit/>
                    </a:bodyPr>
                    <a:lstStyle/>
                    <a:p>
                      <a:r>
                        <a:rPr sz="2025" b="0">
                          <a:solidFill>
                            <a:srgbClr val="20334B"/>
                          </a:solidFill>
                          <a:latin typeface="Arial"/>
                          <a:ea typeface="Arial"/>
                          <a:cs typeface="Arial"/>
                        </a:rPr>
                        <a:t>Enmer Antonio Buch Xinic</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1990-22-15514</a:t>
                      </a:r>
                    </a:p>
                  </a:txBody>
                  <a:tcPr marL="133350" marR="133350" marT="85725" marB="76200">
                    <a:lnR w="9525">
                      <a:solidFill>
                        <a:srgbClr val="D9D9D9"/>
                      </a:solidFill>
                      <a:prstDash val="solid"/>
                    </a:lnR>
                    <a:lnB w="9525">
                      <a:solidFill>
                        <a:srgbClr val="D9D9D9"/>
                      </a:solidFill>
                      <a:prstDash val="solid"/>
                    </a:lnB>
                    <a:solidFill>
                      <a:srgbClr val="FFFFFF"/>
                    </a:solidFill>
                  </a:tcPr>
                </a:tc>
              </a:tr>
              <a:tr h="581025">
                <a:tc>
                  <a:txBody>
                    <a:bodyPr>
                      <a:noAutofit/>
                    </a:bodyPr>
                    <a:lstStyle/>
                    <a:p>
                      <a:r>
                        <a:rPr sz="2025" b="0">
                          <a:solidFill>
                            <a:srgbClr val="20334B"/>
                          </a:solidFill>
                          <a:latin typeface="Arial"/>
                          <a:ea typeface="Arial"/>
                          <a:cs typeface="Arial"/>
                        </a:rPr>
                        <a:t>Lester Emilio Pedro Juan</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6590-23-7214</a:t>
                      </a:r>
                    </a:p>
                  </a:txBody>
                  <a:tcPr marL="133350" marR="133350" marT="85725" marB="76200">
                    <a:lnR w="9525">
                      <a:solidFill>
                        <a:srgbClr val="D9D9D9"/>
                      </a:solidFill>
                      <a:prstDash val="solid"/>
                    </a:lnR>
                    <a:lnB w="9525">
                      <a:solidFill>
                        <a:srgbClr val="D9D9D9"/>
                      </a:solidFill>
                      <a:prstDash val="solid"/>
                    </a:lnB>
                    <a:solidFill>
                      <a:srgbClr val="F2F5F9"/>
                    </a:solidFill>
                  </a:tcPr>
                </a:tc>
              </a:tr>
              <a:tr h="581025">
                <a:tc>
                  <a:txBody>
                    <a:bodyPr>
                      <a:noAutofit/>
                    </a:bodyPr>
                    <a:lstStyle/>
                    <a:p>
                      <a:r>
                        <a:rPr sz="2025" b="0">
                          <a:solidFill>
                            <a:srgbClr val="20334B"/>
                          </a:solidFill>
                          <a:latin typeface="Arial"/>
                          <a:ea typeface="Arial"/>
                          <a:cs typeface="Arial"/>
                        </a:rPr>
                        <a:t>Deivid Alberto Guerra Carpio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0905-24-23552</a:t>
                      </a:r>
                    </a:p>
                  </a:txBody>
                  <a:tcPr marL="133350" marR="133350" marT="85725" marB="76200">
                    <a:lnR w="9525">
                      <a:solidFill>
                        <a:srgbClr val="D9D9D9"/>
                      </a:solidFill>
                      <a:prstDash val="solid"/>
                    </a:lnR>
                    <a:lnB w="9525">
                      <a:solidFill>
                        <a:srgbClr val="D9D9D9"/>
                      </a:solidFill>
                      <a:prstDash val="solid"/>
                    </a:lnB>
                    <a:solidFill>
                      <a:srgbClr val="FFFFFF"/>
                    </a:solidFill>
                  </a:tcPr>
                </a:tc>
              </a:tr>
              <a:tr h="581025">
                <a:tc>
                  <a:txBody>
                    <a:bodyPr>
                      <a:noAutofit/>
                    </a:bodyPr>
                    <a:lstStyle/>
                    <a:p>
                      <a:r>
                        <a:rPr sz="2025" b="0">
                          <a:solidFill>
                            <a:srgbClr val="20334B"/>
                          </a:solidFill>
                          <a:latin typeface="Arial"/>
                          <a:ea typeface="Arial"/>
                          <a:cs typeface="Arial"/>
                        </a:rPr>
                        <a:t>Rebeca Alizon Najarro Duarte</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3190-23-11451</a:t>
                      </a:r>
                    </a:p>
                  </a:txBody>
                  <a:tcPr marL="133350" marR="133350" marT="85725" marB="76200">
                    <a:lnR w="9525">
                      <a:solidFill>
                        <a:srgbClr val="D9D9D9"/>
                      </a:solidFill>
                      <a:prstDash val="solid"/>
                    </a:lnR>
                    <a:lnB w="9525">
                      <a:solidFill>
                        <a:srgbClr val="D9D9D9"/>
                      </a:solidFill>
                      <a:prstDash val="solid"/>
                    </a:lnB>
                    <a:solidFill>
                      <a:srgbClr val="F2F5F9"/>
                    </a:solidFill>
                  </a:tcPr>
                </a:tc>
              </a:tr>
              <a:tr h="581025">
                <a:tc>
                  <a:txBody>
                    <a:bodyPr>
                      <a:noAutofit/>
                    </a:bodyPr>
                    <a:lstStyle/>
                    <a:p>
                      <a:r>
                        <a:rPr sz="2025" b="0">
                          <a:solidFill>
                            <a:srgbClr val="20334B"/>
                          </a:solidFill>
                          <a:latin typeface="Arial"/>
                          <a:ea typeface="Arial"/>
                          <a:cs typeface="Arial"/>
                        </a:rPr>
                        <a:t>Carlos Lopez Urizar</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6590-24-18604</a:t>
                      </a:r>
                    </a:p>
                  </a:txBody>
                  <a:tcPr marL="133350" marR="133350" marT="85725" marB="76200">
                    <a:lnR w="9525">
                      <a:solidFill>
                        <a:srgbClr val="D9D9D9"/>
                      </a:solidFill>
                      <a:prstDash val="solid"/>
                    </a:lnR>
                    <a:lnB w="9525">
                      <a:solidFill>
                        <a:srgbClr val="D9D9D9"/>
                      </a:solidFill>
                      <a:prstDash val="solid"/>
                    </a:lnB>
                    <a:solidFill>
                      <a:srgbClr val="FFFFFF"/>
                    </a:solidFill>
                  </a:tcPr>
                </a:tc>
              </a:tr>
            </a:tbl>
          </a:graphicData>
        </a:graphic>
      </p:graphicFrame>
    </p:spTree>
    <p:extLst>
      <p:ext uri="{BB962C8B-B14F-4D97-AF65-F5344CB8AC3E}">
        <p14:creationId xmlns:p14="http://schemas.microsoft.com/office/powerpoint/2010/main" val="17440965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1E587D-DC4D-48A8-AEE5-ECD3BA941A08}"/>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Temas de la exposición</a:t>
            </a:r>
          </a:p>
        </p:txBody>
      </p:sp>
      <p:sp>
        <p:nvSpPr>
          <p:cNvPr id="2" name="">
            <a:extLst xmlns:a="http://schemas.openxmlformats.org/drawingml/2006/main">
              <a:ext uri="{FF2B5EF4-FFF2-40B4-BE49-F238E27FC236}">
                <a16:creationId xmlns:a16="http://schemas.microsoft.com/office/drawing/2014/main" id="{445AB69C-A556-4A7A-BAA3-AD69C6357842}"/>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Conceptos y demostraciones del Grupo 3</a:t>
            </a:r>
          </a:p>
        </p:txBody>
      </p:sp>
      <p:sp>
        <p:nvSpPr>
          <p:cNvPr id="3" name="">
            <a:extLst xmlns:a="http://schemas.openxmlformats.org/drawingml/2006/main">
              <a:ext uri="{FF2B5EF4-FFF2-40B4-BE49-F238E27FC236}">
                <a16:creationId xmlns:a16="http://schemas.microsoft.com/office/drawing/2014/main" id="{76FDAD1E-0825-4CF4-92CA-0D97CA717082}"/>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00:00 a 03:00     3 de 24</a:t>
            </a:r>
          </a:p>
        </p:txBody>
      </p:sp>
      <p:sp>
        <p:nvSpPr>
          <p:cNvPr id="4" name="">
            <a:extLst xmlns:a="http://schemas.openxmlformats.org/drawingml/2006/main">
              <a:ext uri="{FF2B5EF4-FFF2-40B4-BE49-F238E27FC236}">
                <a16:creationId xmlns:a16="http://schemas.microsoft.com/office/drawing/2014/main" id="{FD2ABF9F-F8B5-4F0D-893B-54E03577E25E}"/>
              </a:ext>
            </a:extLst>
          </p:cNvPr>
          <p:cNvSpPr>
            <a:spLocks xmlns:a="http://schemas.openxmlformats.org/drawingml/2006/main" noGrp="1"/>
          </p:cNvSpPr>
          <p:nvPr/>
        </p:nvSpPr>
        <p:spPr>
          <a:xfrm xmlns:a="http://schemas.openxmlformats.org/drawingml/2006/main">
            <a:off x="742950" y="1971675"/>
            <a:ext cx="10553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a:solidFill>
                  <a:srgbClr val="20334B"/>
                </a:solidFill>
                <a:latin typeface="Arial"/>
                <a:ea typeface="Arial"/>
                <a:cs typeface="Arial"/>
              </a:defRPr>
            </a:defPPr>
            <a:lvl1pPr>
              <a:defRPr sz="2550">
                <a:solidFill>
                  <a:srgbClr val="20334B"/>
                </a:solidFill>
                <a:latin typeface="Arial"/>
                <a:ea typeface="Arial"/>
                <a:cs typeface="Arial"/>
              </a:defRPr>
            </a:lvl1pPr>
            <a:lvl2pPr>
              <a:defRPr sz="2550">
                <a:solidFill>
                  <a:srgbClr val="20334B"/>
                </a:solidFill>
                <a:latin typeface="Arial"/>
                <a:ea typeface="Arial"/>
                <a:cs typeface="Arial"/>
              </a:defRPr>
            </a:lvl2pPr>
            <a:lvl3pPr>
              <a:defRPr sz="2550">
                <a:solidFill>
                  <a:srgbClr val="20334B"/>
                </a:solidFill>
                <a:latin typeface="Arial"/>
                <a:ea typeface="Arial"/>
                <a:cs typeface="Arial"/>
              </a:defRPr>
            </a:lvl3pPr>
            <a:lvl4pPr>
              <a:defRPr sz="2550">
                <a:solidFill>
                  <a:srgbClr val="20334B"/>
                </a:solidFill>
                <a:latin typeface="Arial"/>
                <a:ea typeface="Arial"/>
                <a:cs typeface="Arial"/>
              </a:defRPr>
            </a:lvl4pPr>
            <a:lvl5pPr>
              <a:defRPr sz="2550">
                <a:solidFill>
                  <a:srgbClr val="20334B"/>
                </a:solidFill>
                <a:latin typeface="Arial"/>
                <a:ea typeface="Arial"/>
                <a:cs typeface="Arial"/>
              </a:defRPr>
            </a:lvl5pPr>
            <a:lvl6pPr>
              <a:defRPr sz="2550">
                <a:solidFill>
                  <a:srgbClr val="20334B"/>
                </a:solidFill>
                <a:latin typeface="Arial"/>
                <a:ea typeface="Arial"/>
                <a:cs typeface="Arial"/>
              </a:defRPr>
            </a:lvl6pPr>
            <a:lvl7pPr>
              <a:defRPr sz="2550">
                <a:solidFill>
                  <a:srgbClr val="20334B"/>
                </a:solidFill>
                <a:latin typeface="Arial"/>
                <a:ea typeface="Arial"/>
                <a:cs typeface="Arial"/>
              </a:defRPr>
            </a:lvl7pPr>
            <a:lvl8pPr>
              <a:defRPr sz="2550">
                <a:solidFill>
                  <a:srgbClr val="20334B"/>
                </a:solidFill>
                <a:latin typeface="Arial"/>
                <a:ea typeface="Arial"/>
                <a:cs typeface="Arial"/>
              </a:defRPr>
            </a:lvl8pPr>
            <a:lvl9pPr>
              <a:defRPr sz="2550">
                <a:solidFill>
                  <a:srgbClr val="20334B"/>
                </a:solidFill>
                <a:latin typeface="Arial"/>
                <a:ea typeface="Arial"/>
                <a:cs typeface="Arial"/>
              </a:defRPr>
            </a:lvl9pPr>
          </a:lstStyle>
          <a:p xmlns:a="http://schemas.openxmlformats.org/drawingml/2006/main">
            <a:pPr>
              <a:defRPr sz="2550">
                <a:solidFill>
                  <a:srgbClr val="20334B"/>
                </a:solidFill>
                <a:latin typeface="Arial"/>
                <a:ea typeface="Arial"/>
                <a:cs typeface="Arial"/>
              </a:defRPr>
            </a:pPr>
            <a:r>
              <a:rPr sz="2550">
                <a:solidFill>
                  <a:srgbClr val="20334B"/>
                </a:solidFill>
                <a:latin typeface="Arial"/>
                <a:ea typeface="Arial"/>
                <a:cs typeface="Arial"/>
              </a:rPr>
              <a:t>Tablas de páginas y fallos de página</a:t>
            </a:r>
          </a:p>
          <a:p xmlns:a="http://schemas.openxmlformats.org/drawingml/2006/main">
            <a:pPr>
              <a:defRPr sz="2550">
                <a:solidFill>
                  <a:srgbClr val="20334B"/>
                </a:solidFill>
                <a:latin typeface="Arial"/>
                <a:ea typeface="Arial"/>
                <a:cs typeface="Arial"/>
              </a:defRPr>
            </a:pPr>
            <a:r>
              <a:rPr sz="2550">
                <a:solidFill>
                  <a:srgbClr val="20334B"/>
                </a:solidFill>
                <a:latin typeface="Arial"/>
                <a:ea typeface="Arial"/>
                <a:cs typeface="Arial"/>
              </a:rPr>
              <a:t>Reemplazo FIFO y traducción de direcciones</a:t>
            </a:r>
          </a:p>
          <a:p xmlns:a="http://schemas.openxmlformats.org/drawingml/2006/main">
            <a:pPr>
              <a:defRPr sz="2550">
                <a:solidFill>
                  <a:srgbClr val="20334B"/>
                </a:solidFill>
                <a:latin typeface="Arial"/>
                <a:ea typeface="Arial"/>
                <a:cs typeface="Arial"/>
              </a:defRPr>
            </a:pPr>
            <a:r>
              <a:rPr sz="2550">
                <a:solidFill>
                  <a:srgbClr val="20334B"/>
                </a:solidFill>
                <a:latin typeface="Arial"/>
                <a:ea typeface="Arial"/>
                <a:cs typeface="Arial"/>
              </a:rPr>
              <a:t>Tablas de segmentos, base y límite</a:t>
            </a:r>
          </a:p>
          <a:p xmlns:a="http://schemas.openxmlformats.org/drawingml/2006/main">
            <a:pPr>
              <a:defRPr sz="2550">
                <a:solidFill>
                  <a:srgbClr val="20334B"/>
                </a:solidFill>
                <a:latin typeface="Arial"/>
                <a:ea typeface="Arial"/>
                <a:cs typeface="Arial"/>
              </a:defRPr>
            </a:pPr>
            <a:r>
              <a:rPr sz="2550">
                <a:solidFill>
                  <a:srgbClr val="20334B"/>
                </a:solidFill>
                <a:latin typeface="Arial"/>
                <a:ea typeface="Arial"/>
                <a:cs typeface="Arial"/>
              </a:rPr>
              <a:t>Asignación contigua y no contigua</a:t>
            </a:r>
          </a:p>
          <a:p xmlns:a="http://schemas.openxmlformats.org/drawingml/2006/main">
            <a:pPr>
              <a:defRPr sz="2550">
                <a:solidFill>
                  <a:srgbClr val="20334B"/>
                </a:solidFill>
                <a:latin typeface="Arial"/>
                <a:ea typeface="Arial"/>
                <a:cs typeface="Arial"/>
              </a:defRPr>
            </a:pPr>
            <a:r>
              <a:rPr sz="2550">
                <a:solidFill>
                  <a:srgbClr val="20334B"/>
                </a:solidFill>
                <a:latin typeface="Arial"/>
                <a:ea typeface="Arial"/>
                <a:cs typeface="Arial"/>
              </a:rPr>
              <a:t>Fragmentación y conclusiones</a:t>
            </a:r>
          </a:p>
        </p:txBody>
      </p:sp>
      <p:sp>
        <p:nvSpPr>
          <p:cNvPr id="5" name="">
            <a:extLst xmlns:a="http://schemas.openxmlformats.org/drawingml/2006/main">
              <a:ext uri="{FF2B5EF4-FFF2-40B4-BE49-F238E27FC236}">
                <a16:creationId xmlns:a16="http://schemas.microsoft.com/office/drawing/2014/main" id="{4CBF2CAB-63D5-4F79-B3EF-5D0BE1DD23F6}"/>
              </a:ext>
            </a:extLst>
          </p:cNvPr>
          <p:cNvSpPr>
            <a:spLocks xmlns:a="http://schemas.openxmlformats.org/drawingml/2006/main" noGrp="1"/>
          </p:cNvSpPr>
          <p:nvPr/>
        </p:nvSpPr>
        <p:spPr>
          <a:xfrm xmlns:a="http://schemas.openxmlformats.org/drawingml/2006/main">
            <a:off x="742950" y="5467350"/>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a:solidFill>
                  <a:srgbClr val="C63D44"/>
                </a:solidFill>
                <a:latin typeface="Arial"/>
                <a:ea typeface="Arial"/>
                <a:cs typeface="Arial"/>
              </a:defRPr>
            </a:defPPr>
            <a:lvl1pPr>
              <a:defRPr sz="2025">
                <a:solidFill>
                  <a:srgbClr val="C63D44"/>
                </a:solidFill>
                <a:latin typeface="Arial"/>
                <a:ea typeface="Arial"/>
                <a:cs typeface="Arial"/>
              </a:defRPr>
            </a:lvl1pPr>
            <a:lvl2pPr>
              <a:defRPr sz="2025">
                <a:solidFill>
                  <a:srgbClr val="C63D44"/>
                </a:solidFill>
                <a:latin typeface="Arial"/>
                <a:ea typeface="Arial"/>
                <a:cs typeface="Arial"/>
              </a:defRPr>
            </a:lvl2pPr>
            <a:lvl3pPr>
              <a:defRPr sz="2025">
                <a:solidFill>
                  <a:srgbClr val="C63D44"/>
                </a:solidFill>
                <a:latin typeface="Arial"/>
                <a:ea typeface="Arial"/>
                <a:cs typeface="Arial"/>
              </a:defRPr>
            </a:lvl3pPr>
            <a:lvl4pPr>
              <a:defRPr sz="2025">
                <a:solidFill>
                  <a:srgbClr val="C63D44"/>
                </a:solidFill>
                <a:latin typeface="Arial"/>
                <a:ea typeface="Arial"/>
                <a:cs typeface="Arial"/>
              </a:defRPr>
            </a:lvl4pPr>
            <a:lvl5pPr>
              <a:defRPr sz="2025">
                <a:solidFill>
                  <a:srgbClr val="C63D44"/>
                </a:solidFill>
                <a:latin typeface="Arial"/>
                <a:ea typeface="Arial"/>
                <a:cs typeface="Arial"/>
              </a:defRPr>
            </a:lvl5pPr>
            <a:lvl6pPr>
              <a:defRPr sz="2025">
                <a:solidFill>
                  <a:srgbClr val="C63D44"/>
                </a:solidFill>
                <a:latin typeface="Arial"/>
                <a:ea typeface="Arial"/>
                <a:cs typeface="Arial"/>
              </a:defRPr>
            </a:lvl6pPr>
            <a:lvl7pPr>
              <a:defRPr sz="2025">
                <a:solidFill>
                  <a:srgbClr val="C63D44"/>
                </a:solidFill>
                <a:latin typeface="Arial"/>
                <a:ea typeface="Arial"/>
                <a:cs typeface="Arial"/>
              </a:defRPr>
            </a:lvl7pPr>
            <a:lvl8pPr>
              <a:defRPr sz="2025">
                <a:solidFill>
                  <a:srgbClr val="C63D44"/>
                </a:solidFill>
                <a:latin typeface="Arial"/>
                <a:ea typeface="Arial"/>
                <a:cs typeface="Arial"/>
              </a:defRPr>
            </a:lvl8pPr>
            <a:lvl9pPr>
              <a:defRPr sz="2025">
                <a:solidFill>
                  <a:srgbClr val="C63D44"/>
                </a:solidFill>
                <a:latin typeface="Arial"/>
                <a:ea typeface="Arial"/>
                <a:cs typeface="Arial"/>
              </a:defRPr>
            </a:lvl9pPr>
          </a:lstStyle>
          <a:p xmlns:a="http://schemas.openxmlformats.org/drawingml/2006/main">
            <a:pPr>
              <a:defRPr sz="2025">
                <a:solidFill>
                  <a:srgbClr val="C63D44"/>
                </a:solidFill>
                <a:latin typeface="Arial"/>
                <a:ea typeface="Arial"/>
                <a:cs typeface="Arial"/>
              </a:defRPr>
            </a:pPr>
            <a:r>
              <a:rPr sz="2025">
                <a:solidFill>
                  <a:srgbClr val="C63D44"/>
                </a:solidFill>
                <a:latin typeface="Arial"/>
                <a:ea typeface="Arial"/>
                <a:cs typeface="Arial"/>
              </a:rPr>
              <a:t>La RAM y el disco representan un modelo educativo.</a:t>
            </a:r>
          </a:p>
        </p:txBody>
      </p:sp>
    </p:spTree>
    <p:extLst>
      <p:ext uri="{BB962C8B-B14F-4D97-AF65-F5344CB8AC3E}">
        <p14:creationId xmlns:p14="http://schemas.microsoft.com/office/powerpoint/2010/main" val="6358448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57BCD2-1BC5-4C65-A927-A7147485355E}"/>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Página y marco</a:t>
            </a:r>
          </a:p>
        </p:txBody>
      </p:sp>
      <p:sp>
        <p:nvSpPr>
          <p:cNvPr id="2" name="">
            <a:extLst xmlns:a="http://schemas.openxmlformats.org/drawingml/2006/main">
              <a:ext uri="{FF2B5EF4-FFF2-40B4-BE49-F238E27FC236}">
                <a16:creationId xmlns:a16="http://schemas.microsoft.com/office/drawing/2014/main" id="{AF1758C2-758E-47AC-8C69-7878E7CFF20E}"/>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La página pertenece al proceso. El marco es un espacio de RAM.</a:t>
            </a:r>
          </a:p>
        </p:txBody>
      </p:sp>
      <p:sp>
        <p:nvSpPr>
          <p:cNvPr id="3" name="">
            <a:extLst xmlns:a="http://schemas.openxmlformats.org/drawingml/2006/main">
              <a:ext uri="{FF2B5EF4-FFF2-40B4-BE49-F238E27FC236}">
                <a16:creationId xmlns:a16="http://schemas.microsoft.com/office/drawing/2014/main" id="{16620012-0B83-4F8A-B398-DED75AED9013}"/>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03:00 a 06:00     4 de 24</a:t>
            </a:r>
          </a:p>
        </p:txBody>
      </p:sp>
      <p:graphicFrame>
        <p:nvGraphicFramePr>
          <p:cNvPr id="4" name="">
            <a:extLst xmlns:a="http://schemas.openxmlformats.org/drawingml/2006/main">
              <a:ext uri="{FF2B5EF4-FFF2-40B4-BE49-F238E27FC236}">
                <a16:creationId xmlns:a16="http://schemas.microsoft.com/office/drawing/2014/main" id="{E37F6D7E-D156-4C39-B386-6D1926DE1DCA}"/>
              </a:ext>
            </a:extLst>
          </p:cNvPr>
          <p:cNvGraphicFramePr/>
          <p:nvPr/>
        </p:nvGraphicFramePr>
        <p:xfrm>
          <a:off xmlns:a="http://schemas.openxmlformats.org/drawingml/2006/main" x="685800" y="2000250"/>
          <a:ext xmlns:a="http://schemas.openxmlformats.org/drawingml/2006/main" cx="10820400" cy="2266950"/>
        </p:xfrm>
        <a:graphic xmlns:a="http://schemas.openxmlformats.org/drawingml/2006/main">
          <a:graphicData uri="http://schemas.openxmlformats.org/drawingml/2006/table">
            <a:tbl>
              <a:tblPr firstRow="1" bandRow="0"/>
              <a:tblGrid>
                <a:gridCol w="2095500"/>
                <a:gridCol w="5810250"/>
                <a:gridCol w="2914650"/>
              </a:tblGrid>
              <a:tr h="755650">
                <a:tc>
                  <a:txBody>
                    <a:bodyPr>
                      <a:noAutofit/>
                    </a:bodyPr>
                    <a:lstStyle/>
                    <a:p>
                      <a:r>
                        <a:rPr sz="2025" b="1">
                          <a:solidFill>
                            <a:srgbClr val="FFFFFF"/>
                          </a:solidFill>
                          <a:latin typeface="Arial"/>
                          <a:ea typeface="Arial"/>
                          <a:cs typeface="Arial"/>
                        </a:rPr>
                        <a:t>Concepto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Qué representa</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Tamaño del ejemplo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755650">
                <a:tc>
                  <a:txBody>
                    <a:bodyPr>
                      <a:noAutofit/>
                    </a:bodyPr>
                    <a:lstStyle/>
                    <a:p>
                      <a:r>
                        <a:rPr sz="2025" b="0">
                          <a:solidFill>
                            <a:srgbClr val="20334B"/>
                          </a:solidFill>
                          <a:latin typeface="Arial"/>
                          <a:ea typeface="Arial"/>
                          <a:cs typeface="Arial"/>
                        </a:rPr>
                        <a:t>Página</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Parte de la memoria de Chrome</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1 KB</a:t>
                      </a:r>
                    </a:p>
                  </a:txBody>
                  <a:tcPr marL="133350" marR="133350" marT="85725" marB="76200">
                    <a:lnR w="9525">
                      <a:solidFill>
                        <a:srgbClr val="D9D9D9"/>
                      </a:solidFill>
                      <a:prstDash val="solid"/>
                    </a:lnR>
                    <a:lnB w="9525">
                      <a:solidFill>
                        <a:srgbClr val="D9D9D9"/>
                      </a:solidFill>
                      <a:prstDash val="solid"/>
                    </a:lnB>
                    <a:solidFill>
                      <a:srgbClr val="FFFFFF"/>
                    </a:solidFill>
                  </a:tcPr>
                </a:tc>
              </a:tr>
              <a:tr h="755650">
                <a:tc>
                  <a:txBody>
                    <a:bodyPr>
                      <a:noAutofit/>
                    </a:bodyPr>
                    <a:lstStyle/>
                    <a:p>
                      <a:r>
                        <a:rPr sz="2025" b="0">
                          <a:solidFill>
                            <a:srgbClr val="20334B"/>
                          </a:solidFill>
                          <a:latin typeface="Arial"/>
                          <a:ea typeface="Arial"/>
                          <a:cs typeface="Arial"/>
                        </a:rPr>
                        <a:t>Marco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Espacio de RAM para una página</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1 KB</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2631B981-5F28-4D1F-8EDD-EF698E108027}"/>
              </a:ext>
            </a:extLst>
          </p:cNvPr>
          <p:cNvSpPr>
            <a:spLocks xmlns:a="http://schemas.openxmlformats.org/drawingml/2006/main" noGrp="1"/>
          </p:cNvSpPr>
          <p:nvPr/>
        </p:nvSpPr>
        <p:spPr>
          <a:xfrm xmlns:a="http://schemas.openxmlformats.org/drawingml/2006/main">
            <a:off x="742950" y="48863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1">
                <a:solidFill>
                  <a:srgbClr val="C63D44"/>
                </a:solidFill>
                <a:latin typeface="Arial"/>
                <a:ea typeface="Arial"/>
                <a:cs typeface="Arial"/>
              </a:defRPr>
            </a:defPPr>
            <a:lvl1pPr>
              <a:defRPr sz="2925" b="1">
                <a:solidFill>
                  <a:srgbClr val="C63D44"/>
                </a:solidFill>
                <a:latin typeface="Arial"/>
                <a:ea typeface="Arial"/>
                <a:cs typeface="Arial"/>
              </a:defRPr>
            </a:lvl1pPr>
            <a:lvl2pPr>
              <a:defRPr sz="2925" b="1">
                <a:solidFill>
                  <a:srgbClr val="C63D44"/>
                </a:solidFill>
                <a:latin typeface="Arial"/>
                <a:ea typeface="Arial"/>
                <a:cs typeface="Arial"/>
              </a:defRPr>
            </a:lvl2pPr>
            <a:lvl3pPr>
              <a:defRPr sz="2925" b="1">
                <a:solidFill>
                  <a:srgbClr val="C63D44"/>
                </a:solidFill>
                <a:latin typeface="Arial"/>
                <a:ea typeface="Arial"/>
                <a:cs typeface="Arial"/>
              </a:defRPr>
            </a:lvl3pPr>
            <a:lvl4pPr>
              <a:defRPr sz="2925" b="1">
                <a:solidFill>
                  <a:srgbClr val="C63D44"/>
                </a:solidFill>
                <a:latin typeface="Arial"/>
                <a:ea typeface="Arial"/>
                <a:cs typeface="Arial"/>
              </a:defRPr>
            </a:lvl4pPr>
            <a:lvl5pPr>
              <a:defRPr sz="2925" b="1">
                <a:solidFill>
                  <a:srgbClr val="C63D44"/>
                </a:solidFill>
                <a:latin typeface="Arial"/>
                <a:ea typeface="Arial"/>
                <a:cs typeface="Arial"/>
              </a:defRPr>
            </a:lvl5pPr>
            <a:lvl6pPr>
              <a:defRPr sz="2925" b="1">
                <a:solidFill>
                  <a:srgbClr val="C63D44"/>
                </a:solidFill>
                <a:latin typeface="Arial"/>
                <a:ea typeface="Arial"/>
                <a:cs typeface="Arial"/>
              </a:defRPr>
            </a:lvl6pPr>
            <a:lvl7pPr>
              <a:defRPr sz="2925" b="1">
                <a:solidFill>
                  <a:srgbClr val="C63D44"/>
                </a:solidFill>
                <a:latin typeface="Arial"/>
                <a:ea typeface="Arial"/>
                <a:cs typeface="Arial"/>
              </a:defRPr>
            </a:lvl7pPr>
            <a:lvl8pPr>
              <a:defRPr sz="2925" b="1">
                <a:solidFill>
                  <a:srgbClr val="C63D44"/>
                </a:solidFill>
                <a:latin typeface="Arial"/>
                <a:ea typeface="Arial"/>
                <a:cs typeface="Arial"/>
              </a:defRPr>
            </a:lvl8pPr>
            <a:lvl9pPr>
              <a:defRPr sz="2925" b="1">
                <a:solidFill>
                  <a:srgbClr val="C63D44"/>
                </a:solidFill>
                <a:latin typeface="Arial"/>
                <a:ea typeface="Arial"/>
                <a:cs typeface="Arial"/>
              </a:defRPr>
            </a:lvl9pPr>
          </a:lstStyle>
          <a:p xmlns:a="http://schemas.openxmlformats.org/drawingml/2006/main">
            <a:pPr>
              <a:defRPr sz="2925" b="1">
                <a:solidFill>
                  <a:srgbClr val="C63D44"/>
                </a:solidFill>
                <a:latin typeface="Arial"/>
                <a:ea typeface="Arial"/>
                <a:cs typeface="Arial"/>
              </a:defRPr>
            </a:pPr>
            <a:r>
              <a:rPr sz="2925" b="1">
                <a:solidFill>
                  <a:srgbClr val="C63D44"/>
                </a:solidFill>
                <a:latin typeface="Arial"/>
                <a:ea typeface="Arial"/>
                <a:cs typeface="Arial"/>
              </a:rPr>
              <a:t>4 KB de RAM ÷ 1 KB por página = 4 marcos</a:t>
            </a:r>
          </a:p>
        </p:txBody>
      </p:sp>
      <p:sp>
        <p:nvSpPr>
          <p:cNvPr id="6" name="">
            <a:extLst xmlns:a="http://schemas.openxmlformats.org/drawingml/2006/main">
              <a:ext uri="{FF2B5EF4-FFF2-40B4-BE49-F238E27FC236}">
                <a16:creationId xmlns:a16="http://schemas.microsoft.com/office/drawing/2014/main" id="{9D96016F-02A4-4E42-B0CF-C6C1C41EBF64}"/>
              </a:ext>
            </a:extLst>
          </p:cNvPr>
          <p:cNvSpPr>
            <a:spLocks xmlns:a="http://schemas.openxmlformats.org/drawingml/2006/main" noGrp="1"/>
          </p:cNvSpPr>
          <p:nvPr/>
        </p:nvSpPr>
        <p:spPr>
          <a:xfrm xmlns:a="http://schemas.openxmlformats.org/drawingml/2006/main">
            <a:off x="742950" y="56578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20334B"/>
                </a:solidFill>
                <a:latin typeface="Arial"/>
                <a:ea typeface="Arial"/>
                <a:cs typeface="Arial"/>
              </a:defRPr>
            </a:defPPr>
            <a:lvl1pPr>
              <a:defRPr sz="1950">
                <a:solidFill>
                  <a:srgbClr val="20334B"/>
                </a:solidFill>
                <a:latin typeface="Arial"/>
                <a:ea typeface="Arial"/>
                <a:cs typeface="Arial"/>
              </a:defRPr>
            </a:lvl1pPr>
            <a:lvl2pPr>
              <a:defRPr sz="1950">
                <a:solidFill>
                  <a:srgbClr val="20334B"/>
                </a:solidFill>
                <a:latin typeface="Arial"/>
                <a:ea typeface="Arial"/>
                <a:cs typeface="Arial"/>
              </a:defRPr>
            </a:lvl2pPr>
            <a:lvl3pPr>
              <a:defRPr sz="1950">
                <a:solidFill>
                  <a:srgbClr val="20334B"/>
                </a:solidFill>
                <a:latin typeface="Arial"/>
                <a:ea typeface="Arial"/>
                <a:cs typeface="Arial"/>
              </a:defRPr>
            </a:lvl3pPr>
            <a:lvl4pPr>
              <a:defRPr sz="1950">
                <a:solidFill>
                  <a:srgbClr val="20334B"/>
                </a:solidFill>
                <a:latin typeface="Arial"/>
                <a:ea typeface="Arial"/>
                <a:cs typeface="Arial"/>
              </a:defRPr>
            </a:lvl4pPr>
            <a:lvl5pPr>
              <a:defRPr sz="1950">
                <a:solidFill>
                  <a:srgbClr val="20334B"/>
                </a:solidFill>
                <a:latin typeface="Arial"/>
                <a:ea typeface="Arial"/>
                <a:cs typeface="Arial"/>
              </a:defRPr>
            </a:lvl5pPr>
            <a:lvl6pPr>
              <a:defRPr sz="1950">
                <a:solidFill>
                  <a:srgbClr val="20334B"/>
                </a:solidFill>
                <a:latin typeface="Arial"/>
                <a:ea typeface="Arial"/>
                <a:cs typeface="Arial"/>
              </a:defRPr>
            </a:lvl6pPr>
            <a:lvl7pPr>
              <a:defRPr sz="1950">
                <a:solidFill>
                  <a:srgbClr val="20334B"/>
                </a:solidFill>
                <a:latin typeface="Arial"/>
                <a:ea typeface="Arial"/>
                <a:cs typeface="Arial"/>
              </a:defRPr>
            </a:lvl7pPr>
            <a:lvl8pPr>
              <a:defRPr sz="1950">
                <a:solidFill>
                  <a:srgbClr val="20334B"/>
                </a:solidFill>
                <a:latin typeface="Arial"/>
                <a:ea typeface="Arial"/>
                <a:cs typeface="Arial"/>
              </a:defRPr>
            </a:lvl8pPr>
            <a:lvl9pPr>
              <a:defRPr sz="1950">
                <a:solidFill>
                  <a:srgbClr val="20334B"/>
                </a:solidFill>
                <a:latin typeface="Arial"/>
                <a:ea typeface="Arial"/>
                <a:cs typeface="Arial"/>
              </a:defRPr>
            </a:lvl9pPr>
          </a:lstStyle>
          <a:p xmlns:a="http://schemas.openxmlformats.org/drawingml/2006/main">
            <a:pPr>
              <a:defRPr sz="1950">
                <a:solidFill>
                  <a:srgbClr val="20334B"/>
                </a:solidFill>
                <a:latin typeface="Arial"/>
                <a:ea typeface="Arial"/>
                <a:cs typeface="Arial"/>
              </a:defRPr>
            </a:pPr>
            <a:r>
              <a:rPr sz="1950">
                <a:solidFill>
                  <a:srgbClr val="20334B"/>
                </a:solidFill>
                <a:latin typeface="Arial"/>
                <a:ea typeface="Arial"/>
                <a:cs typeface="Arial"/>
              </a:rPr>
              <a:t>Los números de página y de marco empiezan en cero.</a:t>
            </a:r>
          </a:p>
        </p:txBody>
      </p:sp>
    </p:spTree>
    <p:extLst>
      <p:ext uri="{BB962C8B-B14F-4D97-AF65-F5344CB8AC3E}">
        <p14:creationId xmlns:p14="http://schemas.microsoft.com/office/powerpoint/2010/main" val="14317099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495278-CD00-4281-9780-8CA0B1989321}"/>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La aplicación y sus reglas</a:t>
            </a:r>
          </a:p>
        </p:txBody>
      </p:sp>
      <p:sp>
        <p:nvSpPr>
          <p:cNvPr id="2" name="">
            <a:extLst xmlns:a="http://schemas.openxmlformats.org/drawingml/2006/main">
              <a:ext uri="{FF2B5EF4-FFF2-40B4-BE49-F238E27FC236}">
                <a16:creationId xmlns:a16="http://schemas.microsoft.com/office/drawing/2014/main" id="{2220ABAA-0BFA-49CF-B42C-F74AD4D7EB5A}"/>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Las tablas y el mapa consultan el estado guardado.</a:t>
            </a:r>
          </a:p>
        </p:txBody>
      </p:sp>
      <p:sp>
        <p:nvSpPr>
          <p:cNvPr id="3" name="">
            <a:extLst xmlns:a="http://schemas.openxmlformats.org/drawingml/2006/main">
              <a:ext uri="{FF2B5EF4-FFF2-40B4-BE49-F238E27FC236}">
                <a16:creationId xmlns:a16="http://schemas.microsoft.com/office/drawing/2014/main" id="{246B6A39-6689-4E4E-A6D4-84FD787526C2}"/>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06:00 a 09:00     5 de 24</a:t>
            </a:r>
          </a:p>
        </p:txBody>
      </p:sp>
      <p:graphicFrame>
        <p:nvGraphicFramePr>
          <p:cNvPr id="4" name="">
            <a:extLst xmlns:a="http://schemas.openxmlformats.org/drawingml/2006/main">
              <a:ext uri="{FF2B5EF4-FFF2-40B4-BE49-F238E27FC236}">
                <a16:creationId xmlns:a16="http://schemas.microsoft.com/office/drawing/2014/main" id="{91B4D1E6-7832-4745-BED9-2A00E686800E}"/>
              </a:ext>
            </a:extLst>
          </p:cNvPr>
          <p:cNvGraphicFramePr/>
          <p:nvPr/>
        </p:nvGraphicFramePr>
        <p:xfrm>
          <a:off xmlns:a="http://schemas.openxmlformats.org/drawingml/2006/main" x="685800" y="1924050"/>
          <a:ext xmlns:a="http://schemas.openxmlformats.org/drawingml/2006/main" cx="10820400" cy="3048000"/>
        </p:xfrm>
        <a:graphic xmlns:a="http://schemas.openxmlformats.org/drawingml/2006/main">
          <a:graphicData uri="http://schemas.openxmlformats.org/drawingml/2006/table">
            <a:tbl>
              <a:tblPr firstRow="1" bandRow="0"/>
              <a:tblGrid>
                <a:gridCol w="3333750"/>
                <a:gridCol w="7486650"/>
              </a:tblGrid>
              <a:tr h="609600">
                <a:tc>
                  <a:txBody>
                    <a:bodyPr>
                      <a:noAutofit/>
                    </a:bodyPr>
                    <a:lstStyle/>
                    <a:p>
                      <a:r>
                        <a:rPr sz="2025" b="1">
                          <a:solidFill>
                            <a:srgbClr val="FFFFFF"/>
                          </a:solidFill>
                          <a:latin typeface="Arial"/>
                          <a:ea typeface="Arial"/>
                          <a:cs typeface="Arial"/>
                        </a:rPr>
                        <a:t>Parte</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Responsabilidad</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09600">
                <a:tc>
                  <a:txBody>
                    <a:bodyPr>
                      <a:noAutofit/>
                    </a:bodyPr>
                    <a:lstStyle/>
                    <a:p>
                      <a:r>
                        <a:rPr sz="2025" b="0">
                          <a:solidFill>
                            <a:srgbClr val="20334B"/>
                          </a:solidFill>
                          <a:latin typeface="Arial"/>
                          <a:ea typeface="Arial"/>
                          <a:cs typeface="Arial"/>
                        </a:rPr>
                        <a:t>Blade y Bootstrap</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Presentar formularios, tablas y resultados</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025" b="0">
                          <a:solidFill>
                            <a:srgbClr val="20334B"/>
                          </a:solidFill>
                          <a:latin typeface="Arial"/>
                          <a:ea typeface="Arial"/>
                          <a:cs typeface="Arial"/>
                        </a:rPr>
                        <a:t>Livewire</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Comunicar las acciones de la pantalla</a:t>
                      </a:r>
                    </a:p>
                  </a:txBody>
                  <a:tcPr marL="133350" marR="133350" marT="85725" marB="76200">
                    <a:lnR w="9525">
                      <a:solidFill>
                        <a:srgbClr val="D9D9D9"/>
                      </a:solidFill>
                      <a:prstDash val="solid"/>
                    </a:lnR>
                    <a:lnB w="9525">
                      <a:solidFill>
                        <a:srgbClr val="D9D9D9"/>
                      </a:solidFill>
                      <a:prstDash val="solid"/>
                    </a:lnB>
                    <a:solidFill>
                      <a:srgbClr val="F2F5F9"/>
                    </a:solidFill>
                  </a:tcPr>
                </a:tc>
              </a:tr>
              <a:tr h="609600">
                <a:tc>
                  <a:txBody>
                    <a:bodyPr>
                      <a:noAutofit/>
                    </a:bodyPr>
                    <a:lstStyle/>
                    <a:p>
                      <a:r>
                        <a:rPr sz="2025" b="0">
                          <a:solidFill>
                            <a:srgbClr val="20334B"/>
                          </a:solidFill>
                          <a:latin typeface="Arial"/>
                          <a:ea typeface="Arial"/>
                          <a:cs typeface="Arial"/>
                        </a:rPr>
                        <a:t>Servicios de Laravel</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Validar permisos y reglas de memoria</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025" b="0">
                          <a:solidFill>
                            <a:srgbClr val="20334B"/>
                          </a:solidFill>
                          <a:latin typeface="Arial"/>
                          <a:ea typeface="Arial"/>
                          <a:cs typeface="Arial"/>
                        </a:rPr>
                        <a:t>MySQL</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Conservar escenarios, procesos y eventos</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26699C08-1A9A-4322-97D1-DA7A07EFB2E7}"/>
              </a:ext>
            </a:extLst>
          </p:cNvPr>
          <p:cNvSpPr>
            <a:spLocks xmlns:a="http://schemas.openxmlformats.org/drawingml/2006/main" noGrp="1"/>
          </p:cNvSpPr>
          <p:nvPr/>
        </p:nvSpPr>
        <p:spPr>
          <a:xfrm xmlns:a="http://schemas.openxmlformats.org/drawingml/2006/main">
            <a:off x="742950" y="528637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a:solidFill>
                  <a:srgbClr val="20334B"/>
                </a:solidFill>
                <a:latin typeface="Arial"/>
                <a:ea typeface="Arial"/>
                <a:cs typeface="Arial"/>
              </a:defRPr>
            </a:defPPr>
            <a:lvl1pPr>
              <a:defRPr sz="2025">
                <a:solidFill>
                  <a:srgbClr val="20334B"/>
                </a:solidFill>
                <a:latin typeface="Arial"/>
                <a:ea typeface="Arial"/>
                <a:cs typeface="Arial"/>
              </a:defRPr>
            </a:lvl1pPr>
            <a:lvl2pPr>
              <a:defRPr sz="2025">
                <a:solidFill>
                  <a:srgbClr val="20334B"/>
                </a:solidFill>
                <a:latin typeface="Arial"/>
                <a:ea typeface="Arial"/>
                <a:cs typeface="Arial"/>
              </a:defRPr>
            </a:lvl2pPr>
            <a:lvl3pPr>
              <a:defRPr sz="2025">
                <a:solidFill>
                  <a:srgbClr val="20334B"/>
                </a:solidFill>
                <a:latin typeface="Arial"/>
                <a:ea typeface="Arial"/>
                <a:cs typeface="Arial"/>
              </a:defRPr>
            </a:lvl3pPr>
            <a:lvl4pPr>
              <a:defRPr sz="2025">
                <a:solidFill>
                  <a:srgbClr val="20334B"/>
                </a:solidFill>
                <a:latin typeface="Arial"/>
                <a:ea typeface="Arial"/>
                <a:cs typeface="Arial"/>
              </a:defRPr>
            </a:lvl4pPr>
            <a:lvl5pPr>
              <a:defRPr sz="2025">
                <a:solidFill>
                  <a:srgbClr val="20334B"/>
                </a:solidFill>
                <a:latin typeface="Arial"/>
                <a:ea typeface="Arial"/>
                <a:cs typeface="Arial"/>
              </a:defRPr>
            </a:lvl5pPr>
            <a:lvl6pPr>
              <a:defRPr sz="2025">
                <a:solidFill>
                  <a:srgbClr val="20334B"/>
                </a:solidFill>
                <a:latin typeface="Arial"/>
                <a:ea typeface="Arial"/>
                <a:cs typeface="Arial"/>
              </a:defRPr>
            </a:lvl6pPr>
            <a:lvl7pPr>
              <a:defRPr sz="2025">
                <a:solidFill>
                  <a:srgbClr val="20334B"/>
                </a:solidFill>
                <a:latin typeface="Arial"/>
                <a:ea typeface="Arial"/>
                <a:cs typeface="Arial"/>
              </a:defRPr>
            </a:lvl7pPr>
            <a:lvl8pPr>
              <a:defRPr sz="2025">
                <a:solidFill>
                  <a:srgbClr val="20334B"/>
                </a:solidFill>
                <a:latin typeface="Arial"/>
                <a:ea typeface="Arial"/>
                <a:cs typeface="Arial"/>
              </a:defRPr>
            </a:lvl8pPr>
            <a:lvl9pPr>
              <a:defRPr sz="2025">
                <a:solidFill>
                  <a:srgbClr val="20334B"/>
                </a:solidFill>
                <a:latin typeface="Arial"/>
                <a:ea typeface="Arial"/>
                <a:cs typeface="Arial"/>
              </a:defRPr>
            </a:lvl9pPr>
          </a:lstStyle>
          <a:p xmlns:a="http://schemas.openxmlformats.org/drawingml/2006/main">
            <a:pPr>
              <a:defRPr sz="2025">
                <a:solidFill>
                  <a:srgbClr val="20334B"/>
                </a:solidFill>
                <a:latin typeface="Arial"/>
                <a:ea typeface="Arial"/>
                <a:cs typeface="Arial"/>
              </a:defRPr>
            </a:pPr>
            <a:r>
              <a:rPr sz="2025">
                <a:solidFill>
                  <a:srgbClr val="20334B"/>
                </a:solidFill>
                <a:latin typeface="Arial"/>
                <a:ea typeface="Arial"/>
                <a:cs typeface="Arial"/>
              </a:rPr>
              <a:t>Administrador prepara la demostración. Operador ejecuta y Observador consulta según sus permisos.</a:t>
            </a:r>
          </a:p>
        </p:txBody>
      </p:sp>
    </p:spTree>
    <p:extLst>
      <p:ext uri="{BB962C8B-B14F-4D97-AF65-F5344CB8AC3E}">
        <p14:creationId xmlns:p14="http://schemas.microsoft.com/office/powerpoint/2010/main" val="14898304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7A5382-01D6-4B7A-A6BC-9A45F6BFE943}"/>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Configuración de la demostración</a:t>
            </a:r>
          </a:p>
        </p:txBody>
      </p:sp>
      <p:sp>
        <p:nvSpPr>
          <p:cNvPr id="2" name="">
            <a:extLst xmlns:a="http://schemas.openxmlformats.org/drawingml/2006/main">
              <a:ext uri="{FF2B5EF4-FFF2-40B4-BE49-F238E27FC236}">
                <a16:creationId xmlns:a16="http://schemas.microsoft.com/office/drawing/2014/main" id="{866E404D-53E8-41CC-90B4-5925F5ED1480}"/>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En la aplicación: Configuración de memoria</a:t>
            </a:r>
          </a:p>
        </p:txBody>
      </p:sp>
      <p:sp>
        <p:nvSpPr>
          <p:cNvPr id="3" name="">
            <a:extLst xmlns:a="http://schemas.openxmlformats.org/drawingml/2006/main">
              <a:ext uri="{FF2B5EF4-FFF2-40B4-BE49-F238E27FC236}">
                <a16:creationId xmlns:a16="http://schemas.microsoft.com/office/drawing/2014/main" id="{6BD9D0B0-2925-4114-8C41-DFF5600D4CE9}"/>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09:00 a 12:00     6 de 24</a:t>
            </a:r>
          </a:p>
        </p:txBody>
      </p:sp>
      <p:graphicFrame>
        <p:nvGraphicFramePr>
          <p:cNvPr id="4" name="">
            <a:extLst xmlns:a="http://schemas.openxmlformats.org/drawingml/2006/main">
              <a:ext uri="{FF2B5EF4-FFF2-40B4-BE49-F238E27FC236}">
                <a16:creationId xmlns:a16="http://schemas.microsoft.com/office/drawing/2014/main" id="{E2F952D7-775E-4ACE-B318-3F4C078003BD}"/>
              </a:ext>
            </a:extLst>
          </p:cNvPr>
          <p:cNvGraphicFramePr/>
          <p:nvPr/>
        </p:nvGraphicFramePr>
        <p:xfrm>
          <a:off xmlns:a="http://schemas.openxmlformats.org/drawingml/2006/main" x="685800" y="1809750"/>
          <a:ext xmlns:a="http://schemas.openxmlformats.org/drawingml/2006/main" cx="10820400" cy="3429000"/>
        </p:xfrm>
        <a:graphic xmlns:a="http://schemas.openxmlformats.org/drawingml/2006/main">
          <a:graphicData uri="http://schemas.openxmlformats.org/drawingml/2006/table">
            <a:tbl>
              <a:tblPr firstRow="1" bandRow="0"/>
              <a:tblGrid>
                <a:gridCol w="5238750"/>
                <a:gridCol w="5581650"/>
              </a:tblGrid>
              <a:tr h="571500">
                <a:tc>
                  <a:txBody>
                    <a:bodyPr>
                      <a:noAutofit/>
                    </a:bodyPr>
                    <a:lstStyle/>
                    <a:p>
                      <a:r>
                        <a:rPr sz="1875" b="1">
                          <a:solidFill>
                            <a:srgbClr val="FFFFFF"/>
                          </a:solidFill>
                          <a:latin typeface="Arial"/>
                          <a:ea typeface="Arial"/>
                          <a:cs typeface="Arial"/>
                        </a:rPr>
                        <a:t>Campo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1875" b="1">
                          <a:solidFill>
                            <a:srgbClr val="FFFFFF"/>
                          </a:solidFill>
                          <a:latin typeface="Arial"/>
                          <a:ea typeface="Arial"/>
                          <a:cs typeface="Arial"/>
                        </a:rPr>
                        <a:t>Valor</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571500">
                <a:tc>
                  <a:txBody>
                    <a:bodyPr>
                      <a:noAutofit/>
                    </a:bodyPr>
                    <a:lstStyle/>
                    <a:p>
                      <a:r>
                        <a:rPr sz="1875" b="0">
                          <a:solidFill>
                            <a:srgbClr val="20334B"/>
                          </a:solidFill>
                          <a:latin typeface="Arial"/>
                          <a:ea typeface="Arial"/>
                          <a:cs typeface="Arial"/>
                        </a:rPr>
                        <a:t>Nombre del escenario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Exposición G3 Paginación 01</a:t>
                      </a:r>
                    </a:p>
                  </a:txBody>
                  <a:tcPr marL="133350" marR="133350" marT="85725" marB="76200">
                    <a:lnR w="9525">
                      <a:solidFill>
                        <a:srgbClr val="D9D9D9"/>
                      </a:solidFill>
                      <a:prstDash val="solid"/>
                    </a:lnR>
                    <a:lnB w="9525">
                      <a:solidFill>
                        <a:srgbClr val="D9D9D9"/>
                      </a:solidFill>
                      <a:prstDash val="solid"/>
                    </a:lnB>
                    <a:solidFill>
                      <a:srgbClr val="FFFFFF"/>
                    </a:solidFill>
                  </a:tcPr>
                </a:tc>
              </a:tr>
              <a:tr h="571500">
                <a:tc>
                  <a:txBody>
                    <a:bodyPr>
                      <a:noAutofit/>
                    </a:bodyPr>
                    <a:lstStyle/>
                    <a:p>
                      <a:r>
                        <a:rPr sz="1875" b="0">
                          <a:solidFill>
                            <a:srgbClr val="20334B"/>
                          </a:solidFill>
                          <a:latin typeface="Arial"/>
                          <a:ea typeface="Arial"/>
                          <a:cs typeface="Arial"/>
                        </a:rPr>
                        <a:t>RAM total</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4 KB</a:t>
                      </a:r>
                    </a:p>
                  </a:txBody>
                  <a:tcPr marL="133350" marR="133350" marT="85725" marB="76200">
                    <a:lnR w="9525">
                      <a:solidFill>
                        <a:srgbClr val="D9D9D9"/>
                      </a:solidFill>
                      <a:prstDash val="solid"/>
                    </a:lnR>
                    <a:lnB w="9525">
                      <a:solidFill>
                        <a:srgbClr val="D9D9D9"/>
                      </a:solidFill>
                      <a:prstDash val="solid"/>
                    </a:lnB>
                    <a:solidFill>
                      <a:srgbClr val="F2F5F9"/>
                    </a:solidFill>
                  </a:tcPr>
                </a:tc>
              </a:tr>
              <a:tr h="571500">
                <a:tc>
                  <a:txBody>
                    <a:bodyPr>
                      <a:noAutofit/>
                    </a:bodyPr>
                    <a:lstStyle/>
                    <a:p>
                      <a:r>
                        <a:rPr sz="1875" b="0">
                          <a:solidFill>
                            <a:srgbClr val="20334B"/>
                          </a:solidFill>
                          <a:latin typeface="Arial"/>
                          <a:ea typeface="Arial"/>
                          <a:cs typeface="Arial"/>
                        </a:rPr>
                        <a:t>Tamaño de página</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1 KB</a:t>
                      </a:r>
                    </a:p>
                  </a:txBody>
                  <a:tcPr marL="133350" marR="133350" marT="85725" marB="76200">
                    <a:lnR w="9525">
                      <a:solidFill>
                        <a:srgbClr val="D9D9D9"/>
                      </a:solidFill>
                      <a:prstDash val="solid"/>
                    </a:lnR>
                    <a:lnB w="9525">
                      <a:solidFill>
                        <a:srgbClr val="D9D9D9"/>
                      </a:solidFill>
                      <a:prstDash val="solid"/>
                    </a:lnB>
                    <a:solidFill>
                      <a:srgbClr val="FFFFFF"/>
                    </a:solidFill>
                  </a:tcPr>
                </a:tc>
              </a:tr>
              <a:tr h="571500">
                <a:tc>
                  <a:txBody>
                    <a:bodyPr>
                      <a:noAutofit/>
                    </a:bodyPr>
                    <a:lstStyle/>
                    <a:p>
                      <a:r>
                        <a:rPr sz="1875" b="0">
                          <a:solidFill>
                            <a:srgbClr val="20334B"/>
                          </a:solidFill>
                          <a:latin typeface="Arial"/>
                          <a:ea typeface="Arial"/>
                          <a:cs typeface="Arial"/>
                        </a:rPr>
                        <a:t>Número de marcos</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4, calculados automáticamente</a:t>
                      </a:r>
                    </a:p>
                  </a:txBody>
                  <a:tcPr marL="133350" marR="133350" marT="85725" marB="76200">
                    <a:lnR w="9525">
                      <a:solidFill>
                        <a:srgbClr val="D9D9D9"/>
                      </a:solidFill>
                      <a:prstDash val="solid"/>
                    </a:lnR>
                    <a:lnB w="9525">
                      <a:solidFill>
                        <a:srgbClr val="D9D9D9"/>
                      </a:solidFill>
                      <a:prstDash val="solid"/>
                    </a:lnB>
                    <a:solidFill>
                      <a:srgbClr val="F2F5F9"/>
                    </a:solidFill>
                  </a:tcPr>
                </a:tc>
              </a:tr>
              <a:tr h="571500">
                <a:tc>
                  <a:txBody>
                    <a:bodyPr>
                      <a:noAutofit/>
                    </a:bodyPr>
                    <a:lstStyle/>
                    <a:p>
                      <a:r>
                        <a:rPr sz="1875" b="0">
                          <a:solidFill>
                            <a:srgbClr val="20334B"/>
                          </a:solidFill>
                          <a:latin typeface="Arial"/>
                          <a:ea typeface="Arial"/>
                          <a:cs typeface="Arial"/>
                        </a:rPr>
                        <a:t>Almacenamiento secundario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16 KB</a:t>
                      </a:r>
                    </a:p>
                  </a:txBody>
                  <a:tcPr marL="133350" marR="133350" marT="85725" marB="76200">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B5E1358-D241-4B29-A6B0-97C664FF6445}"/>
              </a:ext>
            </a:extLst>
          </p:cNvPr>
          <p:cNvSpPr>
            <a:spLocks xmlns:a="http://schemas.openxmlformats.org/drawingml/2006/main" noGrp="1"/>
          </p:cNvSpPr>
          <p:nvPr/>
        </p:nvSpPr>
        <p:spPr>
          <a:xfrm xmlns:a="http://schemas.openxmlformats.org/drawingml/2006/main">
            <a:off x="742950" y="55816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a:solidFill>
                  <a:srgbClr val="C63D44"/>
                </a:solidFill>
                <a:latin typeface="Arial"/>
                <a:ea typeface="Arial"/>
                <a:cs typeface="Arial"/>
              </a:defRPr>
            </a:defPPr>
            <a:lvl1pPr>
              <a:defRPr sz="2100">
                <a:solidFill>
                  <a:srgbClr val="C63D44"/>
                </a:solidFill>
                <a:latin typeface="Arial"/>
                <a:ea typeface="Arial"/>
                <a:cs typeface="Arial"/>
              </a:defRPr>
            </a:lvl1pPr>
            <a:lvl2pPr>
              <a:defRPr sz="2100">
                <a:solidFill>
                  <a:srgbClr val="C63D44"/>
                </a:solidFill>
                <a:latin typeface="Arial"/>
                <a:ea typeface="Arial"/>
                <a:cs typeface="Arial"/>
              </a:defRPr>
            </a:lvl2pPr>
            <a:lvl3pPr>
              <a:defRPr sz="2100">
                <a:solidFill>
                  <a:srgbClr val="C63D44"/>
                </a:solidFill>
                <a:latin typeface="Arial"/>
                <a:ea typeface="Arial"/>
                <a:cs typeface="Arial"/>
              </a:defRPr>
            </a:lvl3pPr>
            <a:lvl4pPr>
              <a:defRPr sz="2100">
                <a:solidFill>
                  <a:srgbClr val="C63D44"/>
                </a:solidFill>
                <a:latin typeface="Arial"/>
                <a:ea typeface="Arial"/>
                <a:cs typeface="Arial"/>
              </a:defRPr>
            </a:lvl4pPr>
            <a:lvl5pPr>
              <a:defRPr sz="2100">
                <a:solidFill>
                  <a:srgbClr val="C63D44"/>
                </a:solidFill>
                <a:latin typeface="Arial"/>
                <a:ea typeface="Arial"/>
                <a:cs typeface="Arial"/>
              </a:defRPr>
            </a:lvl5pPr>
            <a:lvl6pPr>
              <a:defRPr sz="2100">
                <a:solidFill>
                  <a:srgbClr val="C63D44"/>
                </a:solidFill>
                <a:latin typeface="Arial"/>
                <a:ea typeface="Arial"/>
                <a:cs typeface="Arial"/>
              </a:defRPr>
            </a:lvl6pPr>
            <a:lvl7pPr>
              <a:defRPr sz="2100">
                <a:solidFill>
                  <a:srgbClr val="C63D44"/>
                </a:solidFill>
                <a:latin typeface="Arial"/>
                <a:ea typeface="Arial"/>
                <a:cs typeface="Arial"/>
              </a:defRPr>
            </a:lvl7pPr>
            <a:lvl8pPr>
              <a:defRPr sz="2100">
                <a:solidFill>
                  <a:srgbClr val="C63D44"/>
                </a:solidFill>
                <a:latin typeface="Arial"/>
                <a:ea typeface="Arial"/>
                <a:cs typeface="Arial"/>
              </a:defRPr>
            </a:lvl8pPr>
            <a:lvl9pPr>
              <a:defRPr sz="2100">
                <a:solidFill>
                  <a:srgbClr val="C63D44"/>
                </a:solidFill>
                <a:latin typeface="Arial"/>
                <a:ea typeface="Arial"/>
                <a:cs typeface="Arial"/>
              </a:defRPr>
            </a:lvl9pPr>
          </a:lstStyle>
          <a:p xmlns:a="http://schemas.openxmlformats.org/drawingml/2006/main">
            <a:pPr>
              <a:defRPr sz="2100">
                <a:solidFill>
                  <a:srgbClr val="C63D44"/>
                </a:solidFill>
                <a:latin typeface="Arial"/>
                <a:ea typeface="Arial"/>
                <a:cs typeface="Arial"/>
              </a:defRPr>
            </a:pPr>
            <a:r>
              <a:rPr sz="2100">
                <a:solidFill>
                  <a:srgbClr val="C63D44"/>
                </a:solidFill>
                <a:latin typeface="Arial"/>
                <a:ea typeface="Arial"/>
                <a:cs typeface="Arial"/>
              </a:rPr>
              <a:t>Crear un escenario nuevo y guardar la configuración.</a:t>
            </a:r>
          </a:p>
        </p:txBody>
      </p:sp>
    </p:spTree>
    <p:extLst>
      <p:ext uri="{BB962C8B-B14F-4D97-AF65-F5344CB8AC3E}">
        <p14:creationId xmlns:p14="http://schemas.microsoft.com/office/powerpoint/2010/main" val="15048915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6AF80F-1275-4B49-BCB0-7F4CCB4FC1F3}"/>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El proceso y sus páginas</a:t>
            </a:r>
          </a:p>
        </p:txBody>
      </p:sp>
      <p:sp>
        <p:nvSpPr>
          <p:cNvPr id="2" name="">
            <a:extLst xmlns:a="http://schemas.openxmlformats.org/drawingml/2006/main">
              <a:ext uri="{FF2B5EF4-FFF2-40B4-BE49-F238E27FC236}">
                <a16:creationId xmlns:a16="http://schemas.microsoft.com/office/drawing/2014/main" id="{EEBEC6B9-1531-4ABB-9676-8BCA4C6C16E5}"/>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En la aplicación: Procesos</a:t>
            </a:r>
          </a:p>
        </p:txBody>
      </p:sp>
      <p:sp>
        <p:nvSpPr>
          <p:cNvPr id="3" name="">
            <a:extLst xmlns:a="http://schemas.openxmlformats.org/drawingml/2006/main">
              <a:ext uri="{FF2B5EF4-FFF2-40B4-BE49-F238E27FC236}">
                <a16:creationId xmlns:a16="http://schemas.microsoft.com/office/drawing/2014/main" id="{BF49C6DB-B874-4C68-A2E9-BFCF70800A7D}"/>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Enmer Antonio Buch Xinic     09:00 a 12:00     7 de 24</a:t>
            </a:r>
          </a:p>
        </p:txBody>
      </p:sp>
      <p:graphicFrame>
        <p:nvGraphicFramePr>
          <p:cNvPr id="4" name="">
            <a:extLst xmlns:a="http://schemas.openxmlformats.org/drawingml/2006/main">
              <a:ext uri="{FF2B5EF4-FFF2-40B4-BE49-F238E27FC236}">
                <a16:creationId xmlns:a16="http://schemas.microsoft.com/office/drawing/2014/main" id="{3D03C720-8708-492E-9DEB-EB3A747CA636}"/>
              </a:ext>
            </a:extLst>
          </p:cNvPr>
          <p:cNvGraphicFramePr/>
          <p:nvPr/>
        </p:nvGraphicFramePr>
        <p:xfrm>
          <a:off xmlns:a="http://schemas.openxmlformats.org/drawingml/2006/main" x="685800" y="2019300"/>
          <a:ext xmlns:a="http://schemas.openxmlformats.org/drawingml/2006/main" cx="10820400" cy="2667000"/>
        </p:xfrm>
        <a:graphic xmlns:a="http://schemas.openxmlformats.org/drawingml/2006/main">
          <a:graphicData uri="http://schemas.openxmlformats.org/drawingml/2006/table">
            <a:tbl>
              <a:tblPr firstRow="1" bandRow="0"/>
              <a:tblGrid>
                <a:gridCol w="4572000"/>
                <a:gridCol w="6248400"/>
              </a:tblGrid>
              <a:tr h="666750">
                <a:tc>
                  <a:txBody>
                    <a:bodyPr>
                      <a:noAutofit/>
                    </a:bodyPr>
                    <a:lstStyle/>
                    <a:p>
                      <a:r>
                        <a:rPr sz="2175" b="1">
                          <a:solidFill>
                            <a:srgbClr val="FFFFFF"/>
                          </a:solidFill>
                          <a:latin typeface="Arial"/>
                          <a:ea typeface="Arial"/>
                          <a:cs typeface="Arial"/>
                        </a:rPr>
                        <a:t>Campo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75" b="1">
                          <a:solidFill>
                            <a:srgbClr val="FFFFFF"/>
                          </a:solidFill>
                          <a:latin typeface="Arial"/>
                          <a:ea typeface="Arial"/>
                          <a:cs typeface="Arial"/>
                        </a:rPr>
                        <a:t>Valor</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66750">
                <a:tc>
                  <a:txBody>
                    <a:bodyPr>
                      <a:noAutofit/>
                    </a:bodyPr>
                    <a:lstStyle/>
                    <a:p>
                      <a:r>
                        <a:rPr sz="2175" b="0">
                          <a:solidFill>
                            <a:srgbClr val="20334B"/>
                          </a:solidFill>
                          <a:latin typeface="Arial"/>
                          <a:ea typeface="Arial"/>
                          <a:cs typeface="Arial"/>
                        </a:rPr>
                        <a:t>Nombre</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Chrome</a:t>
                      </a:r>
                    </a:p>
                  </a:txBody>
                  <a:tcPr marL="133350" marR="133350" marT="85725" marB="76200">
                    <a:lnR w="9525">
                      <a:solidFill>
                        <a:srgbClr val="D9D9D9"/>
                      </a:solidFill>
                      <a:prstDash val="solid"/>
                    </a:lnR>
                    <a:lnB w="9525">
                      <a:solidFill>
                        <a:srgbClr val="D9D9D9"/>
                      </a:solidFill>
                      <a:prstDash val="solid"/>
                    </a:lnB>
                    <a:solidFill>
                      <a:srgbClr val="FFFFFF"/>
                    </a:solidFill>
                  </a:tcPr>
                </a:tc>
              </a:tr>
              <a:tr h="666750">
                <a:tc>
                  <a:txBody>
                    <a:bodyPr>
                      <a:noAutofit/>
                    </a:bodyPr>
                    <a:lstStyle/>
                    <a:p>
                      <a:r>
                        <a:rPr sz="2175" b="0">
                          <a:solidFill>
                            <a:srgbClr val="20334B"/>
                          </a:solidFill>
                          <a:latin typeface="Arial"/>
                          <a:ea typeface="Arial"/>
                          <a:cs typeface="Arial"/>
                        </a:rPr>
                        <a:t>Tamaño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75" b="0">
                          <a:solidFill>
                            <a:srgbClr val="20334B"/>
                          </a:solidFill>
                          <a:latin typeface="Arial"/>
                          <a:ea typeface="Arial"/>
                          <a:cs typeface="Arial"/>
                        </a:rPr>
                        <a:t>6 KB</a:t>
                      </a:r>
                    </a:p>
                  </a:txBody>
                  <a:tcPr marL="133350" marR="133350" marT="85725" marB="76200">
                    <a:lnR w="9525">
                      <a:solidFill>
                        <a:srgbClr val="D9D9D9"/>
                      </a:solidFill>
                      <a:prstDash val="solid"/>
                    </a:lnR>
                    <a:lnB w="9525">
                      <a:solidFill>
                        <a:srgbClr val="D9D9D9"/>
                      </a:solidFill>
                      <a:prstDash val="solid"/>
                    </a:lnB>
                    <a:solidFill>
                      <a:srgbClr val="F2F5F9"/>
                    </a:solidFill>
                  </a:tcPr>
                </a:tc>
              </a:tr>
              <a:tr h="666750">
                <a:tc>
                  <a:txBody>
                    <a:bodyPr>
                      <a:noAutofit/>
                    </a:bodyPr>
                    <a:lstStyle/>
                    <a:p>
                      <a:r>
                        <a:rPr sz="2175" b="0">
                          <a:solidFill>
                            <a:srgbClr val="20334B"/>
                          </a:solidFill>
                          <a:latin typeface="Arial"/>
                          <a:ea typeface="Arial"/>
                          <a:cs typeface="Arial"/>
                        </a:rPr>
                        <a:t>Páginas requeridas</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6, numeradas de P0 a P5</a:t>
                      </a:r>
                    </a:p>
                  </a:txBody>
                  <a:tcPr marL="133350" marR="133350" marT="85725" marB="76200">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3CC7A3E-F83D-451E-8FA9-0B5EC3C42A2F}"/>
              </a:ext>
            </a:extLst>
          </p:cNvPr>
          <p:cNvSpPr>
            <a:spLocks xmlns:a="http://schemas.openxmlformats.org/drawingml/2006/main" noGrp="1"/>
          </p:cNvSpPr>
          <p:nvPr/>
        </p:nvSpPr>
        <p:spPr>
          <a:xfrm xmlns:a="http://schemas.openxmlformats.org/drawingml/2006/main">
            <a:off x="742950" y="5162550"/>
            <a:ext cx="10553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C63D44"/>
                </a:solidFill>
                <a:latin typeface="Arial"/>
                <a:ea typeface="Arial"/>
                <a:cs typeface="Arial"/>
              </a:defRPr>
            </a:defPPr>
            <a:lvl1pPr>
              <a:defRPr sz="2625" b="1">
                <a:solidFill>
                  <a:srgbClr val="C63D44"/>
                </a:solidFill>
                <a:latin typeface="Arial"/>
                <a:ea typeface="Arial"/>
                <a:cs typeface="Arial"/>
              </a:defRPr>
            </a:lvl1pPr>
            <a:lvl2pPr>
              <a:defRPr sz="2625" b="1">
                <a:solidFill>
                  <a:srgbClr val="C63D44"/>
                </a:solidFill>
                <a:latin typeface="Arial"/>
                <a:ea typeface="Arial"/>
                <a:cs typeface="Arial"/>
              </a:defRPr>
            </a:lvl2pPr>
            <a:lvl3pPr>
              <a:defRPr sz="2625" b="1">
                <a:solidFill>
                  <a:srgbClr val="C63D44"/>
                </a:solidFill>
                <a:latin typeface="Arial"/>
                <a:ea typeface="Arial"/>
                <a:cs typeface="Arial"/>
              </a:defRPr>
            </a:lvl3pPr>
            <a:lvl4pPr>
              <a:defRPr sz="2625" b="1">
                <a:solidFill>
                  <a:srgbClr val="C63D44"/>
                </a:solidFill>
                <a:latin typeface="Arial"/>
                <a:ea typeface="Arial"/>
                <a:cs typeface="Arial"/>
              </a:defRPr>
            </a:lvl4pPr>
            <a:lvl5pPr>
              <a:defRPr sz="2625" b="1">
                <a:solidFill>
                  <a:srgbClr val="C63D44"/>
                </a:solidFill>
                <a:latin typeface="Arial"/>
                <a:ea typeface="Arial"/>
                <a:cs typeface="Arial"/>
              </a:defRPr>
            </a:lvl5pPr>
            <a:lvl6pPr>
              <a:defRPr sz="2625" b="1">
                <a:solidFill>
                  <a:srgbClr val="C63D44"/>
                </a:solidFill>
                <a:latin typeface="Arial"/>
                <a:ea typeface="Arial"/>
                <a:cs typeface="Arial"/>
              </a:defRPr>
            </a:lvl6pPr>
            <a:lvl7pPr>
              <a:defRPr sz="2625" b="1">
                <a:solidFill>
                  <a:srgbClr val="C63D44"/>
                </a:solidFill>
                <a:latin typeface="Arial"/>
                <a:ea typeface="Arial"/>
                <a:cs typeface="Arial"/>
              </a:defRPr>
            </a:lvl7pPr>
            <a:lvl8pPr>
              <a:defRPr sz="2625" b="1">
                <a:solidFill>
                  <a:srgbClr val="C63D44"/>
                </a:solidFill>
                <a:latin typeface="Arial"/>
                <a:ea typeface="Arial"/>
                <a:cs typeface="Arial"/>
              </a:defRPr>
            </a:lvl8pPr>
            <a:lvl9pPr>
              <a:defRPr sz="2625" b="1">
                <a:solidFill>
                  <a:srgbClr val="C63D44"/>
                </a:solidFill>
                <a:latin typeface="Arial"/>
                <a:ea typeface="Arial"/>
                <a:cs typeface="Arial"/>
              </a:defRPr>
            </a:lvl9pPr>
          </a:lstStyle>
          <a:p xmlns:a="http://schemas.openxmlformats.org/drawingml/2006/main">
            <a:pPr>
              <a:defRPr sz="2625" b="1">
                <a:solidFill>
                  <a:srgbClr val="C63D44"/>
                </a:solidFill>
                <a:latin typeface="Arial"/>
                <a:ea typeface="Arial"/>
                <a:cs typeface="Arial"/>
              </a:defRPr>
            </a:pPr>
            <a:r>
              <a:rPr sz="2625" b="1">
                <a:solidFill>
                  <a:srgbClr val="C63D44"/>
                </a:solidFill>
                <a:latin typeface="Arial"/>
                <a:ea typeface="Arial"/>
                <a:cs typeface="Arial"/>
              </a:rPr>
              <a:t>RAM inicial 0 KB. Secundaria utilizada 6 KB.</a:t>
            </a:r>
          </a:p>
        </p:txBody>
      </p:sp>
      <p:sp>
        <p:nvSpPr>
          <p:cNvPr id="6" name="">
            <a:extLst xmlns:a="http://schemas.openxmlformats.org/drawingml/2006/main">
              <a:ext uri="{FF2B5EF4-FFF2-40B4-BE49-F238E27FC236}">
                <a16:creationId xmlns:a16="http://schemas.microsoft.com/office/drawing/2014/main" id="{BC143BDD-2DA0-4A68-BAB4-493C37E63D9B}"/>
              </a:ext>
            </a:extLst>
          </p:cNvPr>
          <p:cNvSpPr>
            <a:spLocks xmlns:a="http://schemas.openxmlformats.org/drawingml/2006/main" noGrp="1"/>
          </p:cNvSpPr>
          <p:nvPr/>
        </p:nvSpPr>
        <p:spPr>
          <a:xfrm xmlns:a="http://schemas.openxmlformats.org/drawingml/2006/main">
            <a:off x="742950" y="5800725"/>
            <a:ext cx="1055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20334B"/>
                </a:solidFill>
                <a:latin typeface="Arial"/>
                <a:ea typeface="Arial"/>
                <a:cs typeface="Arial"/>
              </a:defRPr>
            </a:defPPr>
            <a:lvl1pPr>
              <a:defRPr sz="1950">
                <a:solidFill>
                  <a:srgbClr val="20334B"/>
                </a:solidFill>
                <a:latin typeface="Arial"/>
                <a:ea typeface="Arial"/>
                <a:cs typeface="Arial"/>
              </a:defRPr>
            </a:lvl1pPr>
            <a:lvl2pPr>
              <a:defRPr sz="1950">
                <a:solidFill>
                  <a:srgbClr val="20334B"/>
                </a:solidFill>
                <a:latin typeface="Arial"/>
                <a:ea typeface="Arial"/>
                <a:cs typeface="Arial"/>
              </a:defRPr>
            </a:lvl2pPr>
            <a:lvl3pPr>
              <a:defRPr sz="1950">
                <a:solidFill>
                  <a:srgbClr val="20334B"/>
                </a:solidFill>
                <a:latin typeface="Arial"/>
                <a:ea typeface="Arial"/>
                <a:cs typeface="Arial"/>
              </a:defRPr>
            </a:lvl3pPr>
            <a:lvl4pPr>
              <a:defRPr sz="1950">
                <a:solidFill>
                  <a:srgbClr val="20334B"/>
                </a:solidFill>
                <a:latin typeface="Arial"/>
                <a:ea typeface="Arial"/>
                <a:cs typeface="Arial"/>
              </a:defRPr>
            </a:lvl4pPr>
            <a:lvl5pPr>
              <a:defRPr sz="1950">
                <a:solidFill>
                  <a:srgbClr val="20334B"/>
                </a:solidFill>
                <a:latin typeface="Arial"/>
                <a:ea typeface="Arial"/>
                <a:cs typeface="Arial"/>
              </a:defRPr>
            </a:lvl5pPr>
            <a:lvl6pPr>
              <a:defRPr sz="1950">
                <a:solidFill>
                  <a:srgbClr val="20334B"/>
                </a:solidFill>
                <a:latin typeface="Arial"/>
                <a:ea typeface="Arial"/>
                <a:cs typeface="Arial"/>
              </a:defRPr>
            </a:lvl6pPr>
            <a:lvl7pPr>
              <a:defRPr sz="1950">
                <a:solidFill>
                  <a:srgbClr val="20334B"/>
                </a:solidFill>
                <a:latin typeface="Arial"/>
                <a:ea typeface="Arial"/>
                <a:cs typeface="Arial"/>
              </a:defRPr>
            </a:lvl7pPr>
            <a:lvl8pPr>
              <a:defRPr sz="1950">
                <a:solidFill>
                  <a:srgbClr val="20334B"/>
                </a:solidFill>
                <a:latin typeface="Arial"/>
                <a:ea typeface="Arial"/>
                <a:cs typeface="Arial"/>
              </a:defRPr>
            </a:lvl8pPr>
            <a:lvl9pPr>
              <a:defRPr sz="1950">
                <a:solidFill>
                  <a:srgbClr val="20334B"/>
                </a:solidFill>
                <a:latin typeface="Arial"/>
                <a:ea typeface="Arial"/>
                <a:cs typeface="Arial"/>
              </a:defRPr>
            </a:lvl9pPr>
          </a:lstStyle>
          <a:p xmlns:a="http://schemas.openxmlformats.org/drawingml/2006/main">
            <a:pPr>
              <a:defRPr sz="1950">
                <a:solidFill>
                  <a:srgbClr val="20334B"/>
                </a:solidFill>
                <a:latin typeface="Arial"/>
                <a:ea typeface="Arial"/>
                <a:cs typeface="Arial"/>
              </a:defRPr>
            </a:pPr>
            <a:r>
              <a:rPr sz="1950">
                <a:solidFill>
                  <a:srgbClr val="20334B"/>
                </a:solidFill>
                <a:latin typeface="Arial"/>
                <a:ea typeface="Arial"/>
                <a:cs typeface="Arial"/>
              </a:rPr>
              <a:t>Crear el proceso deja sus páginas sin marco.</a:t>
            </a:r>
          </a:p>
        </p:txBody>
      </p:sp>
    </p:spTree>
    <p:extLst>
      <p:ext uri="{BB962C8B-B14F-4D97-AF65-F5344CB8AC3E}">
        <p14:creationId xmlns:p14="http://schemas.microsoft.com/office/powerpoint/2010/main" val="13791914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E99E47-9C48-4416-AD07-9911C1FB0109}"/>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Tabla inicial de Chrome</a:t>
            </a:r>
          </a:p>
        </p:txBody>
      </p:sp>
      <p:sp>
        <p:nvSpPr>
          <p:cNvPr id="2" name="">
            <a:extLst xmlns:a="http://schemas.openxmlformats.org/drawingml/2006/main">
              <a:ext uri="{FF2B5EF4-FFF2-40B4-BE49-F238E27FC236}">
                <a16:creationId xmlns:a16="http://schemas.microsoft.com/office/drawing/2014/main" id="{EEE67D5E-C1F1-47BD-983C-9AEB42871F0D}"/>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Estado esperado antes de solicitar páginas</a:t>
            </a:r>
          </a:p>
        </p:txBody>
      </p:sp>
      <p:sp>
        <p:nvSpPr>
          <p:cNvPr id="3" name="">
            <a:extLst xmlns:a="http://schemas.openxmlformats.org/drawingml/2006/main">
              <a:ext uri="{FF2B5EF4-FFF2-40B4-BE49-F238E27FC236}">
                <a16:creationId xmlns:a16="http://schemas.microsoft.com/office/drawing/2014/main" id="{D3C3064F-A4E1-4349-911F-068D49566A55}"/>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Lester Emilio Pedro Juan     12:00 a 15:00     8 de 24</a:t>
            </a:r>
          </a:p>
        </p:txBody>
      </p:sp>
      <p:graphicFrame>
        <p:nvGraphicFramePr>
          <p:cNvPr id="4" name="">
            <a:extLst xmlns:a="http://schemas.openxmlformats.org/drawingml/2006/main">
              <a:ext uri="{FF2B5EF4-FFF2-40B4-BE49-F238E27FC236}">
                <a16:creationId xmlns:a16="http://schemas.microsoft.com/office/drawing/2014/main" id="{382F5920-BE94-4EE4-944C-296058A61DAB}"/>
              </a:ext>
            </a:extLst>
          </p:cNvPr>
          <p:cNvGraphicFramePr/>
          <p:nvPr/>
        </p:nvGraphicFramePr>
        <p:xfrm>
          <a:off xmlns:a="http://schemas.openxmlformats.org/drawingml/2006/main" x="685800" y="1809750"/>
          <a:ext xmlns:a="http://schemas.openxmlformats.org/drawingml/2006/main" cx="10820400" cy="3333750"/>
        </p:xfrm>
        <a:graphic xmlns:a="http://schemas.openxmlformats.org/drawingml/2006/main">
          <a:graphicData uri="http://schemas.openxmlformats.org/drawingml/2006/table">
            <a:tbl>
              <a:tblPr firstRow="1" bandRow="0"/>
              <a:tblGrid>
                <a:gridCol w="2095500"/>
                <a:gridCol w="3333750"/>
                <a:gridCol w="2476500"/>
                <a:gridCol w="2914650"/>
              </a:tblGrid>
              <a:tr h="476250">
                <a:tc>
                  <a:txBody>
                    <a:bodyPr>
                      <a:noAutofit/>
                    </a:bodyPr>
                    <a:lstStyle/>
                    <a:p>
                      <a:r>
                        <a:rPr sz="2025" b="1">
                          <a:solidFill>
                            <a:srgbClr val="FFFFFF"/>
                          </a:solidFill>
                          <a:latin typeface="Arial"/>
                          <a:ea typeface="Arial"/>
                          <a:cs typeface="Arial"/>
                        </a:rPr>
                        <a:t>Página</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Marco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Presente</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Estado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476250">
                <a:tc>
                  <a:txBody>
                    <a:bodyPr>
                      <a:noAutofit/>
                    </a:bodyPr>
                    <a:lstStyle/>
                    <a:p>
                      <a:r>
                        <a:rPr sz="2025" b="0">
                          <a:solidFill>
                            <a:srgbClr val="20334B"/>
                          </a:solidFill>
                          <a:latin typeface="Arial"/>
                          <a:ea typeface="Arial"/>
                          <a:cs typeface="Arial"/>
                        </a:rPr>
                        <a:t>P0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Sin marco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FFFFF"/>
                    </a:solidFill>
                  </a:tcPr>
                </a:tc>
              </a:tr>
              <a:tr h="476250">
                <a:tc>
                  <a:txBody>
                    <a:bodyPr>
                      <a:noAutofit/>
                    </a:bodyPr>
                    <a:lstStyle/>
                    <a:p>
                      <a:r>
                        <a:rPr sz="2025" b="0">
                          <a:solidFill>
                            <a:srgbClr val="20334B"/>
                          </a:solidFill>
                          <a:latin typeface="Arial"/>
                          <a:ea typeface="Arial"/>
                          <a:cs typeface="Arial"/>
                        </a:rPr>
                        <a:t>P1</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Sin marco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2F5F9"/>
                    </a:solidFill>
                  </a:tcPr>
                </a:tc>
              </a:tr>
              <a:tr h="476250">
                <a:tc>
                  <a:txBody>
                    <a:bodyPr>
                      <a:noAutofit/>
                    </a:bodyPr>
                    <a:lstStyle/>
                    <a:p>
                      <a:r>
                        <a:rPr sz="2025" b="0">
                          <a:solidFill>
                            <a:srgbClr val="20334B"/>
                          </a:solidFill>
                          <a:latin typeface="Arial"/>
                          <a:ea typeface="Arial"/>
                          <a:cs typeface="Arial"/>
                        </a:rPr>
                        <a:t>P2</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Sin marco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FFFFF"/>
                    </a:solidFill>
                  </a:tcPr>
                </a:tc>
              </a:tr>
              <a:tr h="476250">
                <a:tc>
                  <a:txBody>
                    <a:bodyPr>
                      <a:noAutofit/>
                    </a:bodyPr>
                    <a:lstStyle/>
                    <a:p>
                      <a:r>
                        <a:rPr sz="2025" b="0">
                          <a:solidFill>
                            <a:srgbClr val="20334B"/>
                          </a:solidFill>
                          <a:latin typeface="Arial"/>
                          <a:ea typeface="Arial"/>
                          <a:cs typeface="Arial"/>
                        </a:rPr>
                        <a:t>P3</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Sin marco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2F5F9"/>
                    </a:solidFill>
                  </a:tcPr>
                </a:tc>
              </a:tr>
              <a:tr h="476250">
                <a:tc>
                  <a:txBody>
                    <a:bodyPr>
                      <a:noAutofit/>
                    </a:bodyPr>
                    <a:lstStyle/>
                    <a:p>
                      <a:r>
                        <a:rPr sz="2025" b="0">
                          <a:solidFill>
                            <a:srgbClr val="20334B"/>
                          </a:solidFill>
                          <a:latin typeface="Arial"/>
                          <a:ea typeface="Arial"/>
                          <a:cs typeface="Arial"/>
                        </a:rPr>
                        <a:t>P4</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Sin marco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FFFFF"/>
                    </a:solidFill>
                  </a:tcPr>
                </a:tc>
              </a:tr>
              <a:tr h="476250">
                <a:tc>
                  <a:txBody>
                    <a:bodyPr>
                      <a:noAutofit/>
                    </a:bodyPr>
                    <a:lstStyle/>
                    <a:p>
                      <a:r>
                        <a:rPr sz="2025" b="0">
                          <a:solidFill>
                            <a:srgbClr val="20334B"/>
                          </a:solidFill>
                          <a:latin typeface="Arial"/>
                          <a:ea typeface="Arial"/>
                          <a:cs typeface="Arial"/>
                        </a:rPr>
                        <a:t>P5</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Sin marco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C86790E6-A8ED-48E2-9761-E1253D13C976}"/>
              </a:ext>
            </a:extLst>
          </p:cNvPr>
          <p:cNvSpPr>
            <a:spLocks xmlns:a="http://schemas.openxmlformats.org/drawingml/2006/main" noGrp="1"/>
          </p:cNvSpPr>
          <p:nvPr/>
        </p:nvSpPr>
        <p:spPr>
          <a:xfrm xmlns:a="http://schemas.openxmlformats.org/drawingml/2006/main">
            <a:off x="742950" y="55816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a:solidFill>
                  <a:srgbClr val="C63D44"/>
                </a:solidFill>
                <a:latin typeface="Arial"/>
                <a:ea typeface="Arial"/>
                <a:cs typeface="Arial"/>
              </a:defRPr>
            </a:defPPr>
            <a:lvl1pPr>
              <a:defRPr sz="2250">
                <a:solidFill>
                  <a:srgbClr val="C63D44"/>
                </a:solidFill>
                <a:latin typeface="Arial"/>
                <a:ea typeface="Arial"/>
                <a:cs typeface="Arial"/>
              </a:defRPr>
            </a:lvl1pPr>
            <a:lvl2pPr>
              <a:defRPr sz="2250">
                <a:solidFill>
                  <a:srgbClr val="C63D44"/>
                </a:solidFill>
                <a:latin typeface="Arial"/>
                <a:ea typeface="Arial"/>
                <a:cs typeface="Arial"/>
              </a:defRPr>
            </a:lvl2pPr>
            <a:lvl3pPr>
              <a:defRPr sz="2250">
                <a:solidFill>
                  <a:srgbClr val="C63D44"/>
                </a:solidFill>
                <a:latin typeface="Arial"/>
                <a:ea typeface="Arial"/>
                <a:cs typeface="Arial"/>
              </a:defRPr>
            </a:lvl3pPr>
            <a:lvl4pPr>
              <a:defRPr sz="2250">
                <a:solidFill>
                  <a:srgbClr val="C63D44"/>
                </a:solidFill>
                <a:latin typeface="Arial"/>
                <a:ea typeface="Arial"/>
                <a:cs typeface="Arial"/>
              </a:defRPr>
            </a:lvl4pPr>
            <a:lvl5pPr>
              <a:defRPr sz="2250">
                <a:solidFill>
                  <a:srgbClr val="C63D44"/>
                </a:solidFill>
                <a:latin typeface="Arial"/>
                <a:ea typeface="Arial"/>
                <a:cs typeface="Arial"/>
              </a:defRPr>
            </a:lvl5pPr>
            <a:lvl6pPr>
              <a:defRPr sz="2250">
                <a:solidFill>
                  <a:srgbClr val="C63D44"/>
                </a:solidFill>
                <a:latin typeface="Arial"/>
                <a:ea typeface="Arial"/>
                <a:cs typeface="Arial"/>
              </a:defRPr>
            </a:lvl6pPr>
            <a:lvl7pPr>
              <a:defRPr sz="2250">
                <a:solidFill>
                  <a:srgbClr val="C63D44"/>
                </a:solidFill>
                <a:latin typeface="Arial"/>
                <a:ea typeface="Arial"/>
                <a:cs typeface="Arial"/>
              </a:defRPr>
            </a:lvl7pPr>
            <a:lvl8pPr>
              <a:defRPr sz="2250">
                <a:solidFill>
                  <a:srgbClr val="C63D44"/>
                </a:solidFill>
                <a:latin typeface="Arial"/>
                <a:ea typeface="Arial"/>
                <a:cs typeface="Arial"/>
              </a:defRPr>
            </a:lvl8pPr>
            <a:lvl9pPr>
              <a:defRPr sz="2250">
                <a:solidFill>
                  <a:srgbClr val="C63D44"/>
                </a:solidFill>
                <a:latin typeface="Arial"/>
                <a:ea typeface="Arial"/>
                <a:cs typeface="Arial"/>
              </a:defRPr>
            </a:lvl9pPr>
          </a:lstStyle>
          <a:p xmlns:a="http://schemas.openxmlformats.org/drawingml/2006/main">
            <a:pPr>
              <a:defRPr sz="2250">
                <a:solidFill>
                  <a:srgbClr val="C63D44"/>
                </a:solidFill>
                <a:latin typeface="Arial"/>
                <a:ea typeface="Arial"/>
                <a:cs typeface="Arial"/>
              </a:defRPr>
            </a:pPr>
            <a:r>
              <a:rPr sz="2250">
                <a:solidFill>
                  <a:srgbClr val="C63D44"/>
                </a:solidFill>
                <a:latin typeface="Arial"/>
                <a:ea typeface="Arial"/>
                <a:cs typeface="Arial"/>
              </a:rPr>
              <a:t>4 marcos libres. Ninguna página ocupa RAM.</a:t>
            </a:r>
          </a:p>
        </p:txBody>
      </p:sp>
    </p:spTree>
    <p:extLst>
      <p:ext uri="{BB962C8B-B14F-4D97-AF65-F5344CB8AC3E}">
        <p14:creationId xmlns:p14="http://schemas.microsoft.com/office/powerpoint/2010/main" val="4122027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95F0B6-43FE-4689-AEE5-A00C08D6AF9A}"/>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Page Fault paso a paso</a:t>
            </a:r>
          </a:p>
        </p:txBody>
      </p:sp>
      <p:sp>
        <p:nvSpPr>
          <p:cNvPr id="2" name="">
            <a:extLst xmlns:a="http://schemas.openxmlformats.org/drawingml/2006/main">
              <a:ext uri="{FF2B5EF4-FFF2-40B4-BE49-F238E27FC236}">
                <a16:creationId xmlns:a16="http://schemas.microsoft.com/office/drawing/2014/main" id="{C6927F44-7435-4CBF-851B-B8E2077D791B}"/>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P0 está ausente. La carga se confirma en el paso 6.</a:t>
            </a:r>
          </a:p>
        </p:txBody>
      </p:sp>
      <p:sp>
        <p:nvSpPr>
          <p:cNvPr id="3" name="">
            <a:extLst xmlns:a="http://schemas.openxmlformats.org/drawingml/2006/main">
              <a:ext uri="{FF2B5EF4-FFF2-40B4-BE49-F238E27FC236}">
                <a16:creationId xmlns:a16="http://schemas.microsoft.com/office/drawing/2014/main" id="{95DA45AE-C268-4800-A4AF-D9B3C0E7EAD6}"/>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Lester Emilio Pedro Juan     15:00 a 18:00     9 de 24</a:t>
            </a:r>
          </a:p>
        </p:txBody>
      </p:sp>
      <p:graphicFrame>
        <p:nvGraphicFramePr>
          <p:cNvPr id="4" name="">
            <a:extLst xmlns:a="http://schemas.openxmlformats.org/drawingml/2006/main">
              <a:ext uri="{FF2B5EF4-FFF2-40B4-BE49-F238E27FC236}">
                <a16:creationId xmlns:a16="http://schemas.microsoft.com/office/drawing/2014/main" id="{D762A132-17A7-44EF-8EEB-4AF77C45190E}"/>
              </a:ext>
            </a:extLst>
          </p:cNvPr>
          <p:cNvGraphicFramePr/>
          <p:nvPr/>
        </p:nvGraphicFramePr>
        <p:xfrm>
          <a:off xmlns:a="http://schemas.openxmlformats.org/drawingml/2006/main" x="685800" y="1771650"/>
          <a:ext xmlns:a="http://schemas.openxmlformats.org/drawingml/2006/main" cx="10820400" cy="4000500"/>
        </p:xfrm>
        <a:graphic xmlns:a="http://schemas.openxmlformats.org/drawingml/2006/main">
          <a:graphicData uri="http://schemas.openxmlformats.org/drawingml/2006/table">
            <a:tbl>
              <a:tblPr firstRow="1" bandRow="0"/>
              <a:tblGrid>
                <a:gridCol w="1524000"/>
                <a:gridCol w="9296400"/>
              </a:tblGrid>
              <a:tr h="444500">
                <a:tc>
                  <a:txBody>
                    <a:bodyPr>
                      <a:noAutofit/>
                    </a:bodyPr>
                    <a:lstStyle/>
                    <a:p>
                      <a:r>
                        <a:rPr sz="1875" b="1">
                          <a:solidFill>
                            <a:srgbClr val="FFFFFF"/>
                          </a:solidFill>
                          <a:latin typeface="Arial"/>
                          <a:ea typeface="Arial"/>
                          <a:cs typeface="Arial"/>
                        </a:rPr>
                        <a:t>Paso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1875" b="1">
                          <a:solidFill>
                            <a:srgbClr val="FFFFFF"/>
                          </a:solidFill>
                          <a:latin typeface="Arial"/>
                          <a:ea typeface="Arial"/>
                          <a:cs typeface="Arial"/>
                        </a:rPr>
                        <a:t>Qué ocurre</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444500">
                <a:tc>
                  <a:txBody>
                    <a:bodyPr>
                      <a:noAutofit/>
                    </a:bodyPr>
                    <a:lstStyle/>
                    <a:p>
                      <a:r>
                        <a:rPr sz="1875" b="0">
                          <a:solidFill>
                            <a:srgbClr val="20334B"/>
                          </a:solidFill>
                          <a:latin typeface="Arial"/>
                          <a:ea typeface="Arial"/>
                          <a:cs typeface="Arial"/>
                        </a:rPr>
                        <a:t>1</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La CPU solicita P0</a:t>
                      </a:r>
                    </a:p>
                  </a:txBody>
                  <a:tcPr marL="133350" marR="133350" marT="85725" marB="76200">
                    <a:lnR w="9525">
                      <a:solidFill>
                        <a:srgbClr val="D9D9D9"/>
                      </a:solidFill>
                      <a:prstDash val="solid"/>
                    </a:lnR>
                    <a:lnB w="9525">
                      <a:solidFill>
                        <a:srgbClr val="D9D9D9"/>
                      </a:solidFill>
                      <a:prstDash val="solid"/>
                    </a:lnB>
                    <a:solidFill>
                      <a:srgbClr val="FFFFFF"/>
                    </a:solidFill>
                  </a:tcPr>
                </a:tc>
              </a:tr>
              <a:tr h="444500">
                <a:tc>
                  <a:txBody>
                    <a:bodyPr>
                      <a:noAutofit/>
                    </a:bodyPr>
                    <a:lstStyle/>
                    <a:p>
                      <a:r>
                        <a:rPr sz="1875" b="0">
                          <a:solidFill>
                            <a:srgbClr val="20334B"/>
                          </a:solidFill>
                          <a:latin typeface="Arial"/>
                          <a:ea typeface="Arial"/>
                          <a:cs typeface="Arial"/>
                        </a:rPr>
                        <a:t>2</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Consulta la tabla de páginas</a:t>
                      </a:r>
                    </a:p>
                  </a:txBody>
                  <a:tcPr marL="133350" marR="133350" marT="85725" marB="76200">
                    <a:lnR w="9525">
                      <a:solidFill>
                        <a:srgbClr val="D9D9D9"/>
                      </a:solidFill>
                      <a:prstDash val="solid"/>
                    </a:lnR>
                    <a:lnB w="9525">
                      <a:solidFill>
                        <a:srgbClr val="D9D9D9"/>
                      </a:solidFill>
                      <a:prstDash val="solid"/>
                    </a:lnB>
                    <a:solidFill>
                      <a:srgbClr val="F2F5F9"/>
                    </a:solidFill>
                  </a:tcPr>
                </a:tc>
              </a:tr>
              <a:tr h="444500">
                <a:tc>
                  <a:txBody>
                    <a:bodyPr>
                      <a:noAutofit/>
                    </a:bodyPr>
                    <a:lstStyle/>
                    <a:p>
                      <a:r>
                        <a:rPr sz="1875" b="0">
                          <a:solidFill>
                            <a:srgbClr val="20334B"/>
                          </a:solidFill>
                          <a:latin typeface="Arial"/>
                          <a:ea typeface="Arial"/>
                          <a:cs typeface="Arial"/>
                        </a:rPr>
                        <a:t>3</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Comprueba que P0 está ausente</a:t>
                      </a:r>
                    </a:p>
                  </a:txBody>
                  <a:tcPr marL="133350" marR="133350" marT="85725" marB="76200">
                    <a:lnR w="9525">
                      <a:solidFill>
                        <a:srgbClr val="D9D9D9"/>
                      </a:solidFill>
                      <a:prstDash val="solid"/>
                    </a:lnR>
                    <a:lnB w="9525">
                      <a:solidFill>
                        <a:srgbClr val="D9D9D9"/>
                      </a:solidFill>
                      <a:prstDash val="solid"/>
                    </a:lnB>
                    <a:solidFill>
                      <a:srgbClr val="FFFFFF"/>
                    </a:solidFill>
                  </a:tcPr>
                </a:tc>
              </a:tr>
              <a:tr h="444500">
                <a:tc>
                  <a:txBody>
                    <a:bodyPr>
                      <a:noAutofit/>
                    </a:bodyPr>
                    <a:lstStyle/>
                    <a:p>
                      <a:r>
                        <a:rPr sz="1875" b="0">
                          <a:solidFill>
                            <a:srgbClr val="20334B"/>
                          </a:solidFill>
                          <a:latin typeface="Arial"/>
                          <a:ea typeface="Arial"/>
                          <a:cs typeface="Arial"/>
                        </a:rPr>
                        <a:t>4</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Identifica el Page Fault</a:t>
                      </a:r>
                    </a:p>
                  </a:txBody>
                  <a:tcPr marL="133350" marR="133350" marT="85725" marB="76200">
                    <a:lnR w="9525">
                      <a:solidFill>
                        <a:srgbClr val="D9D9D9"/>
                      </a:solidFill>
                      <a:prstDash val="solid"/>
                    </a:lnR>
                    <a:lnB w="9525">
                      <a:solidFill>
                        <a:srgbClr val="D9D9D9"/>
                      </a:solidFill>
                      <a:prstDash val="solid"/>
                    </a:lnB>
                    <a:solidFill>
                      <a:srgbClr val="F2F5F9"/>
                    </a:solidFill>
                  </a:tcPr>
                </a:tc>
              </a:tr>
              <a:tr h="444500">
                <a:tc>
                  <a:txBody>
                    <a:bodyPr>
                      <a:noAutofit/>
                    </a:bodyPr>
                    <a:lstStyle/>
                    <a:p>
                      <a:r>
                        <a:rPr sz="1875" b="0">
                          <a:solidFill>
                            <a:srgbClr val="20334B"/>
                          </a:solidFill>
                          <a:latin typeface="Arial"/>
                          <a:ea typeface="Arial"/>
                          <a:cs typeface="Arial"/>
                        </a:rPr>
                        <a:t>5</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Busca un marco libre</a:t>
                      </a:r>
                    </a:p>
                  </a:txBody>
                  <a:tcPr marL="133350" marR="133350" marT="85725" marB="76200">
                    <a:lnR w="9525">
                      <a:solidFill>
                        <a:srgbClr val="D9D9D9"/>
                      </a:solidFill>
                      <a:prstDash val="solid"/>
                    </a:lnR>
                    <a:lnB w="9525">
                      <a:solidFill>
                        <a:srgbClr val="D9D9D9"/>
                      </a:solidFill>
                      <a:prstDash val="solid"/>
                    </a:lnB>
                    <a:solidFill>
                      <a:srgbClr val="FFFFFF"/>
                    </a:solidFill>
                  </a:tcPr>
                </a:tc>
              </a:tr>
              <a:tr h="444500">
                <a:tc>
                  <a:txBody>
                    <a:bodyPr>
                      <a:noAutofit/>
                    </a:bodyPr>
                    <a:lstStyle/>
                    <a:p>
                      <a:r>
                        <a:rPr sz="1875" b="0">
                          <a:solidFill>
                            <a:srgbClr val="20334B"/>
                          </a:solidFill>
                          <a:latin typeface="Arial"/>
                          <a:ea typeface="Arial"/>
                          <a:cs typeface="Arial"/>
                        </a:rPr>
                        <a:t>6</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Carga P0 en el marco 0</a:t>
                      </a:r>
                    </a:p>
                  </a:txBody>
                  <a:tcPr marL="133350" marR="133350" marT="85725" marB="76200">
                    <a:lnR w="9525">
                      <a:solidFill>
                        <a:srgbClr val="D9D9D9"/>
                      </a:solidFill>
                      <a:prstDash val="solid"/>
                    </a:lnR>
                    <a:lnB w="9525">
                      <a:solidFill>
                        <a:srgbClr val="D9D9D9"/>
                      </a:solidFill>
                      <a:prstDash val="solid"/>
                    </a:lnB>
                    <a:solidFill>
                      <a:srgbClr val="F2F5F9"/>
                    </a:solidFill>
                  </a:tcPr>
                </a:tc>
              </a:tr>
              <a:tr h="444500">
                <a:tc>
                  <a:txBody>
                    <a:bodyPr>
                      <a:noAutofit/>
                    </a:bodyPr>
                    <a:lstStyle/>
                    <a:p>
                      <a:r>
                        <a:rPr sz="1875" b="0">
                          <a:solidFill>
                            <a:srgbClr val="20334B"/>
                          </a:solidFill>
                          <a:latin typeface="Arial"/>
                          <a:ea typeface="Arial"/>
                          <a:cs typeface="Arial"/>
                        </a:rPr>
                        <a:t>7</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Explica la actualización de la tabla</a:t>
                      </a:r>
                    </a:p>
                  </a:txBody>
                  <a:tcPr marL="133350" marR="133350" marT="85725" marB="76200">
                    <a:lnR w="9525">
                      <a:solidFill>
                        <a:srgbClr val="D9D9D9"/>
                      </a:solidFill>
                      <a:prstDash val="solid"/>
                    </a:lnR>
                    <a:lnB w="9525">
                      <a:solidFill>
                        <a:srgbClr val="D9D9D9"/>
                      </a:solidFill>
                      <a:prstDash val="solid"/>
                    </a:lnB>
                    <a:solidFill>
                      <a:srgbClr val="FFFFFF"/>
                    </a:solidFill>
                  </a:tcPr>
                </a:tc>
              </a:tr>
              <a:tr h="444500">
                <a:tc>
                  <a:txBody>
                    <a:bodyPr>
                      <a:noAutofit/>
                    </a:bodyPr>
                    <a:lstStyle/>
                    <a:p>
                      <a:r>
                        <a:rPr sz="1875" b="0">
                          <a:solidFill>
                            <a:srgbClr val="20334B"/>
                          </a:solidFill>
                          <a:latin typeface="Arial"/>
                          <a:ea typeface="Arial"/>
                          <a:cs typeface="Arial"/>
                        </a:rPr>
                        <a:t>8</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Completa el acceso</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Tree>
    <p:extLst>
      <p:ext uri="{BB962C8B-B14F-4D97-AF65-F5344CB8AC3E}">
        <p14:creationId xmlns:p14="http://schemas.microsoft.com/office/powerpoint/2010/main" val="13523218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7C160C-D6FE-4044-91D6-BDF3B76D6B82}"/>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Carga de los cuatro marcos</a:t>
            </a:r>
          </a:p>
        </p:txBody>
      </p:sp>
      <p:sp>
        <p:nvSpPr>
          <p:cNvPr id="2" name="">
            <a:extLst xmlns:a="http://schemas.openxmlformats.org/drawingml/2006/main">
              <a:ext uri="{FF2B5EF4-FFF2-40B4-BE49-F238E27FC236}">
                <a16:creationId xmlns:a16="http://schemas.microsoft.com/office/drawing/2014/main" id="{23E99423-DE58-4F5A-8363-4FB79C410973}"/>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Orden de solicitudes P0, P1, P3, P2</a:t>
            </a:r>
          </a:p>
        </p:txBody>
      </p:sp>
      <p:sp>
        <p:nvSpPr>
          <p:cNvPr id="3" name="">
            <a:extLst xmlns:a="http://schemas.openxmlformats.org/drawingml/2006/main">
              <a:ext uri="{FF2B5EF4-FFF2-40B4-BE49-F238E27FC236}">
                <a16:creationId xmlns:a16="http://schemas.microsoft.com/office/drawing/2014/main" id="{D5EFC6F4-95C6-4BEB-9C25-33E05E52E104}"/>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Lester Emilio Pedro Juan     18:00 a 21:00     10 de 24</a:t>
            </a:r>
          </a:p>
        </p:txBody>
      </p:sp>
      <p:graphicFrame>
        <p:nvGraphicFramePr>
          <p:cNvPr id="4" name="">
            <a:extLst xmlns:a="http://schemas.openxmlformats.org/drawingml/2006/main">
              <a:ext uri="{FF2B5EF4-FFF2-40B4-BE49-F238E27FC236}">
                <a16:creationId xmlns:a16="http://schemas.microsoft.com/office/drawing/2014/main" id="{227A315B-100B-42D5-87AB-0CA52C58A62F}"/>
              </a:ext>
            </a:extLst>
          </p:cNvPr>
          <p:cNvGraphicFramePr/>
          <p:nvPr/>
        </p:nvGraphicFramePr>
        <p:xfrm>
          <a:off xmlns:a="http://schemas.openxmlformats.org/drawingml/2006/main" x="685800" y="2000250"/>
          <a:ext xmlns:a="http://schemas.openxmlformats.org/drawingml/2006/main" cx="10820400" cy="3048000"/>
        </p:xfrm>
        <a:graphic xmlns:a="http://schemas.openxmlformats.org/drawingml/2006/main">
          <a:graphicData uri="http://schemas.openxmlformats.org/drawingml/2006/table">
            <a:tbl>
              <a:tblPr firstRow="1" bandRow="0"/>
              <a:tblGrid>
                <a:gridCol w="2667000"/>
                <a:gridCol w="2095500"/>
                <a:gridCol w="3429000"/>
                <a:gridCol w="2628900"/>
              </a:tblGrid>
              <a:tr h="609600">
                <a:tc>
                  <a:txBody>
                    <a:bodyPr>
                      <a:noAutofit/>
                    </a:bodyPr>
                    <a:lstStyle/>
                    <a:p>
                      <a:r>
                        <a:rPr sz="2100" b="1">
                          <a:solidFill>
                            <a:srgbClr val="FFFFFF"/>
                          </a:solidFill>
                          <a:latin typeface="Arial"/>
                          <a:ea typeface="Arial"/>
                          <a:cs typeface="Arial"/>
                        </a:rPr>
                        <a:t>Solicitud</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Marco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RAM usada KB</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Faults</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09600">
                <a:tc>
                  <a:txBody>
                    <a:bodyPr>
                      <a:noAutofit/>
                    </a:bodyPr>
                    <a:lstStyle/>
                    <a:p>
                      <a:r>
                        <a:rPr sz="2100" b="0">
                          <a:solidFill>
                            <a:srgbClr val="20334B"/>
                          </a:solidFill>
                          <a:latin typeface="Arial"/>
                          <a:ea typeface="Arial"/>
                          <a:cs typeface="Arial"/>
                        </a:rPr>
                        <a:t>P0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1</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1</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100" b="0">
                          <a:solidFill>
                            <a:srgbClr val="20334B"/>
                          </a:solidFill>
                          <a:latin typeface="Arial"/>
                          <a:ea typeface="Arial"/>
                          <a:cs typeface="Arial"/>
                        </a:rPr>
                        <a:t>P1</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1</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2</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2</a:t>
                      </a:r>
                    </a:p>
                  </a:txBody>
                  <a:tcPr marL="133350" marR="133350" marT="85725" marB="76200">
                    <a:lnR w="9525">
                      <a:solidFill>
                        <a:srgbClr val="D9D9D9"/>
                      </a:solidFill>
                      <a:prstDash val="solid"/>
                    </a:lnR>
                    <a:lnB w="9525">
                      <a:solidFill>
                        <a:srgbClr val="D9D9D9"/>
                      </a:solidFill>
                      <a:prstDash val="solid"/>
                    </a:lnB>
                    <a:solidFill>
                      <a:srgbClr val="F2F5F9"/>
                    </a:solidFill>
                  </a:tcPr>
                </a:tc>
              </a:tr>
              <a:tr h="609600">
                <a:tc>
                  <a:txBody>
                    <a:bodyPr>
                      <a:noAutofit/>
                    </a:bodyPr>
                    <a:lstStyle/>
                    <a:p>
                      <a:r>
                        <a:rPr sz="2100" b="0">
                          <a:solidFill>
                            <a:srgbClr val="20334B"/>
                          </a:solidFill>
                          <a:latin typeface="Arial"/>
                          <a:ea typeface="Arial"/>
                          <a:cs typeface="Arial"/>
                        </a:rPr>
                        <a:t>P3</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2</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3</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3</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100" b="0">
                          <a:solidFill>
                            <a:srgbClr val="20334B"/>
                          </a:solidFill>
                          <a:latin typeface="Arial"/>
                          <a:ea typeface="Arial"/>
                          <a:cs typeface="Arial"/>
                        </a:rPr>
                        <a:t>P2</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3</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4</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4</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3760CEDF-08CA-4F4C-8DCC-A20A42FF2FEE}"/>
              </a:ext>
            </a:extLst>
          </p:cNvPr>
          <p:cNvSpPr>
            <a:spLocks xmlns:a="http://schemas.openxmlformats.org/drawingml/2006/main" noGrp="1"/>
          </p:cNvSpPr>
          <p:nvPr/>
        </p:nvSpPr>
        <p:spPr>
          <a:xfrm xmlns:a="http://schemas.openxmlformats.org/drawingml/2006/main">
            <a:off x="742950" y="55054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C63D44"/>
                </a:solidFill>
                <a:latin typeface="Arial"/>
                <a:ea typeface="Arial"/>
                <a:cs typeface="Arial"/>
              </a:defRPr>
            </a:defPPr>
            <a:lvl1pPr>
              <a:defRPr sz="2325">
                <a:solidFill>
                  <a:srgbClr val="C63D44"/>
                </a:solidFill>
                <a:latin typeface="Arial"/>
                <a:ea typeface="Arial"/>
                <a:cs typeface="Arial"/>
              </a:defRPr>
            </a:lvl1pPr>
            <a:lvl2pPr>
              <a:defRPr sz="2325">
                <a:solidFill>
                  <a:srgbClr val="C63D44"/>
                </a:solidFill>
                <a:latin typeface="Arial"/>
                <a:ea typeface="Arial"/>
                <a:cs typeface="Arial"/>
              </a:defRPr>
            </a:lvl2pPr>
            <a:lvl3pPr>
              <a:defRPr sz="2325">
                <a:solidFill>
                  <a:srgbClr val="C63D44"/>
                </a:solidFill>
                <a:latin typeface="Arial"/>
                <a:ea typeface="Arial"/>
                <a:cs typeface="Arial"/>
              </a:defRPr>
            </a:lvl3pPr>
            <a:lvl4pPr>
              <a:defRPr sz="2325">
                <a:solidFill>
                  <a:srgbClr val="C63D44"/>
                </a:solidFill>
                <a:latin typeface="Arial"/>
                <a:ea typeface="Arial"/>
                <a:cs typeface="Arial"/>
              </a:defRPr>
            </a:lvl4pPr>
            <a:lvl5pPr>
              <a:defRPr sz="2325">
                <a:solidFill>
                  <a:srgbClr val="C63D44"/>
                </a:solidFill>
                <a:latin typeface="Arial"/>
                <a:ea typeface="Arial"/>
                <a:cs typeface="Arial"/>
              </a:defRPr>
            </a:lvl5pPr>
            <a:lvl6pPr>
              <a:defRPr sz="2325">
                <a:solidFill>
                  <a:srgbClr val="C63D44"/>
                </a:solidFill>
                <a:latin typeface="Arial"/>
                <a:ea typeface="Arial"/>
                <a:cs typeface="Arial"/>
              </a:defRPr>
            </a:lvl6pPr>
            <a:lvl7pPr>
              <a:defRPr sz="2325">
                <a:solidFill>
                  <a:srgbClr val="C63D44"/>
                </a:solidFill>
                <a:latin typeface="Arial"/>
                <a:ea typeface="Arial"/>
                <a:cs typeface="Arial"/>
              </a:defRPr>
            </a:lvl7pPr>
            <a:lvl8pPr>
              <a:defRPr sz="2325">
                <a:solidFill>
                  <a:srgbClr val="C63D44"/>
                </a:solidFill>
                <a:latin typeface="Arial"/>
                <a:ea typeface="Arial"/>
                <a:cs typeface="Arial"/>
              </a:defRPr>
            </a:lvl8pPr>
            <a:lvl9pPr>
              <a:defRPr sz="2325">
                <a:solidFill>
                  <a:srgbClr val="C63D44"/>
                </a:solidFill>
                <a:latin typeface="Arial"/>
                <a:ea typeface="Arial"/>
                <a:cs typeface="Arial"/>
              </a:defRPr>
            </a:lvl9pPr>
          </a:lstStyle>
          <a:p xmlns:a="http://schemas.openxmlformats.org/drawingml/2006/main">
            <a:pPr>
              <a:defRPr sz="2325">
                <a:solidFill>
                  <a:srgbClr val="C63D44"/>
                </a:solidFill>
                <a:latin typeface="Arial"/>
                <a:ea typeface="Arial"/>
                <a:cs typeface="Arial"/>
              </a:defRPr>
            </a:pPr>
            <a:r>
              <a:rPr sz="2325">
                <a:solidFill>
                  <a:srgbClr val="C63D44"/>
                </a:solidFill>
                <a:latin typeface="Arial"/>
                <a:ea typeface="Arial"/>
                <a:cs typeface="Arial"/>
              </a:rPr>
              <a:t>P3 ocupa el marco 2. P4 y P5 siguen en disco.</a:t>
            </a:r>
          </a:p>
        </p:txBody>
      </p:sp>
    </p:spTree>
    <p:extLst>
      <p:ext uri="{BB962C8B-B14F-4D97-AF65-F5344CB8AC3E}">
        <p14:creationId xmlns:p14="http://schemas.microsoft.com/office/powerpoint/2010/main" val="2418587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00FC51-086A-4AB7-894F-4DF742B49737}"/>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Page Hit con la RAM llena</a:t>
            </a:r>
          </a:p>
        </p:txBody>
      </p:sp>
      <p:sp>
        <p:nvSpPr>
          <p:cNvPr id="2" name="">
            <a:extLst xmlns:a="http://schemas.openxmlformats.org/drawingml/2006/main">
              <a:ext uri="{FF2B5EF4-FFF2-40B4-BE49-F238E27FC236}">
                <a16:creationId xmlns:a16="http://schemas.microsoft.com/office/drawing/2014/main" id="{B0F89501-D5E5-4412-A5F0-FB1DE3FF6002}"/>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Volvemos a solicitar P0, que ya está en el marco 0.</a:t>
            </a:r>
          </a:p>
        </p:txBody>
      </p:sp>
      <p:sp>
        <p:nvSpPr>
          <p:cNvPr id="3" name="">
            <a:extLst xmlns:a="http://schemas.openxmlformats.org/drawingml/2006/main">
              <a:ext uri="{FF2B5EF4-FFF2-40B4-BE49-F238E27FC236}">
                <a16:creationId xmlns:a16="http://schemas.microsoft.com/office/drawing/2014/main" id="{1A27D492-A3EC-40AF-82A1-94C589AA6DBF}"/>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Lester Emilio Pedro Juan     21:00 a 24:00     11 de 24</a:t>
            </a:r>
          </a:p>
        </p:txBody>
      </p:sp>
      <p:graphicFrame>
        <p:nvGraphicFramePr>
          <p:cNvPr id="4" name="">
            <a:extLst xmlns:a="http://schemas.openxmlformats.org/drawingml/2006/main">
              <a:ext uri="{FF2B5EF4-FFF2-40B4-BE49-F238E27FC236}">
                <a16:creationId xmlns:a16="http://schemas.microsoft.com/office/drawing/2014/main" id="{CA45E0B6-431E-4737-8D72-EBB257CCC620}"/>
              </a:ext>
            </a:extLst>
          </p:cNvPr>
          <p:cNvGraphicFramePr/>
          <p:nvPr/>
        </p:nvGraphicFramePr>
        <p:xfrm>
          <a:off xmlns:a="http://schemas.openxmlformats.org/drawingml/2006/main" x="685800" y="2000250"/>
          <a:ext xmlns:a="http://schemas.openxmlformats.org/drawingml/2006/main" cx="10820400" cy="2667000"/>
        </p:xfrm>
        <a:graphic xmlns:a="http://schemas.openxmlformats.org/drawingml/2006/main">
          <a:graphicData uri="http://schemas.openxmlformats.org/drawingml/2006/table">
            <a:tbl>
              <a:tblPr firstRow="1" bandRow="0"/>
              <a:tblGrid>
                <a:gridCol w="5905500"/>
                <a:gridCol w="4914900"/>
              </a:tblGrid>
              <a:tr h="666750">
                <a:tc>
                  <a:txBody>
                    <a:bodyPr>
                      <a:noAutofit/>
                    </a:bodyPr>
                    <a:lstStyle/>
                    <a:p>
                      <a:r>
                        <a:rPr sz="2250" b="1">
                          <a:solidFill>
                            <a:srgbClr val="FFFFFF"/>
                          </a:solidFill>
                          <a:latin typeface="Arial"/>
                          <a:ea typeface="Arial"/>
                          <a:cs typeface="Arial"/>
                        </a:rPr>
                        <a:t>Indicador</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250" b="1">
                          <a:solidFill>
                            <a:srgbClr val="FFFFFF"/>
                          </a:solidFill>
                          <a:latin typeface="Arial"/>
                          <a:ea typeface="Arial"/>
                          <a:cs typeface="Arial"/>
                        </a:rPr>
                        <a:t>Resultado tras el Hit</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66750">
                <a:tc>
                  <a:txBody>
                    <a:bodyPr>
                      <a:noAutofit/>
                    </a:bodyPr>
                    <a:lstStyle/>
                    <a:p>
                      <a:r>
                        <a:rPr sz="2250" b="0">
                          <a:solidFill>
                            <a:srgbClr val="20334B"/>
                          </a:solidFill>
                          <a:latin typeface="Arial"/>
                          <a:ea typeface="Arial"/>
                          <a:cs typeface="Arial"/>
                        </a:rPr>
                        <a:t>RAM utilizada</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250" b="0">
                          <a:solidFill>
                            <a:srgbClr val="20334B"/>
                          </a:solidFill>
                          <a:latin typeface="Arial"/>
                          <a:ea typeface="Arial"/>
                          <a:cs typeface="Arial"/>
                        </a:rPr>
                        <a:t>4 KB</a:t>
                      </a:r>
                    </a:p>
                  </a:txBody>
                  <a:tcPr marL="133350" marR="133350" marT="85725" marB="76200">
                    <a:lnR w="9525">
                      <a:solidFill>
                        <a:srgbClr val="D9D9D9"/>
                      </a:solidFill>
                      <a:prstDash val="solid"/>
                    </a:lnR>
                    <a:lnB w="9525">
                      <a:solidFill>
                        <a:srgbClr val="D9D9D9"/>
                      </a:solidFill>
                      <a:prstDash val="solid"/>
                    </a:lnB>
                    <a:solidFill>
                      <a:srgbClr val="FFFFFF"/>
                    </a:solidFill>
                  </a:tcPr>
                </a:tc>
              </a:tr>
              <a:tr h="666750">
                <a:tc>
                  <a:txBody>
                    <a:bodyPr>
                      <a:noAutofit/>
                    </a:bodyPr>
                    <a:lstStyle/>
                    <a:p>
                      <a:r>
                        <a:rPr sz="2250" b="0">
                          <a:solidFill>
                            <a:srgbClr val="20334B"/>
                          </a:solidFill>
                          <a:latin typeface="Arial"/>
                          <a:ea typeface="Arial"/>
                          <a:cs typeface="Arial"/>
                        </a:rPr>
                        <a:t>Marcos ocupados</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250" b="0">
                          <a:solidFill>
                            <a:srgbClr val="20334B"/>
                          </a:solidFill>
                          <a:latin typeface="Arial"/>
                          <a:ea typeface="Arial"/>
                          <a:cs typeface="Arial"/>
                        </a:rPr>
                        <a:t>4</a:t>
                      </a:r>
                    </a:p>
                  </a:txBody>
                  <a:tcPr marL="133350" marR="133350" marT="85725" marB="76200">
                    <a:lnR w="9525">
                      <a:solidFill>
                        <a:srgbClr val="D9D9D9"/>
                      </a:solidFill>
                      <a:prstDash val="solid"/>
                    </a:lnR>
                    <a:lnB w="9525">
                      <a:solidFill>
                        <a:srgbClr val="D9D9D9"/>
                      </a:solidFill>
                      <a:prstDash val="solid"/>
                    </a:lnB>
                    <a:solidFill>
                      <a:srgbClr val="F2F5F9"/>
                    </a:solidFill>
                  </a:tcPr>
                </a:tc>
              </a:tr>
              <a:tr h="666750">
                <a:tc>
                  <a:txBody>
                    <a:bodyPr>
                      <a:noAutofit/>
                    </a:bodyPr>
                    <a:lstStyle/>
                    <a:p>
                      <a:r>
                        <a:rPr sz="2250" b="0">
                          <a:solidFill>
                            <a:srgbClr val="20334B"/>
                          </a:solidFill>
                          <a:latin typeface="Arial"/>
                          <a:ea typeface="Arial"/>
                          <a:cs typeface="Arial"/>
                        </a:rPr>
                        <a:t>Page Faults acumulados</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250" b="0">
                          <a:solidFill>
                            <a:srgbClr val="20334B"/>
                          </a:solidFill>
                          <a:latin typeface="Arial"/>
                          <a:ea typeface="Arial"/>
                          <a:cs typeface="Arial"/>
                        </a:rPr>
                        <a:t>4</a:t>
                      </a:r>
                    </a:p>
                  </a:txBody>
                  <a:tcPr marL="133350" marR="133350" marT="85725" marB="76200">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ACCE999-8253-4B06-81F8-C34AB1BCDCE9}"/>
              </a:ext>
            </a:extLst>
          </p:cNvPr>
          <p:cNvSpPr>
            <a:spLocks xmlns:a="http://schemas.openxmlformats.org/drawingml/2006/main" noGrp="1"/>
          </p:cNvSpPr>
          <p:nvPr/>
        </p:nvSpPr>
        <p:spPr>
          <a:xfrm xmlns:a="http://schemas.openxmlformats.org/drawingml/2006/main">
            <a:off x="742950" y="511492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a:solidFill>
                  <a:srgbClr val="25724D"/>
                </a:solidFill>
                <a:latin typeface="Arial"/>
                <a:ea typeface="Arial"/>
                <a:cs typeface="Arial"/>
              </a:defRPr>
            </a:defPPr>
            <a:lvl1pPr>
              <a:defRPr sz="2475">
                <a:solidFill>
                  <a:srgbClr val="25724D"/>
                </a:solidFill>
                <a:latin typeface="Arial"/>
                <a:ea typeface="Arial"/>
                <a:cs typeface="Arial"/>
              </a:defRPr>
            </a:lvl1pPr>
            <a:lvl2pPr>
              <a:defRPr sz="2475">
                <a:solidFill>
                  <a:srgbClr val="25724D"/>
                </a:solidFill>
                <a:latin typeface="Arial"/>
                <a:ea typeface="Arial"/>
                <a:cs typeface="Arial"/>
              </a:defRPr>
            </a:lvl2pPr>
            <a:lvl3pPr>
              <a:defRPr sz="2475">
                <a:solidFill>
                  <a:srgbClr val="25724D"/>
                </a:solidFill>
                <a:latin typeface="Arial"/>
                <a:ea typeface="Arial"/>
                <a:cs typeface="Arial"/>
              </a:defRPr>
            </a:lvl3pPr>
            <a:lvl4pPr>
              <a:defRPr sz="2475">
                <a:solidFill>
                  <a:srgbClr val="25724D"/>
                </a:solidFill>
                <a:latin typeface="Arial"/>
                <a:ea typeface="Arial"/>
                <a:cs typeface="Arial"/>
              </a:defRPr>
            </a:lvl4pPr>
            <a:lvl5pPr>
              <a:defRPr sz="2475">
                <a:solidFill>
                  <a:srgbClr val="25724D"/>
                </a:solidFill>
                <a:latin typeface="Arial"/>
                <a:ea typeface="Arial"/>
                <a:cs typeface="Arial"/>
              </a:defRPr>
            </a:lvl5pPr>
            <a:lvl6pPr>
              <a:defRPr sz="2475">
                <a:solidFill>
                  <a:srgbClr val="25724D"/>
                </a:solidFill>
                <a:latin typeface="Arial"/>
                <a:ea typeface="Arial"/>
                <a:cs typeface="Arial"/>
              </a:defRPr>
            </a:lvl6pPr>
            <a:lvl7pPr>
              <a:defRPr sz="2475">
                <a:solidFill>
                  <a:srgbClr val="25724D"/>
                </a:solidFill>
                <a:latin typeface="Arial"/>
                <a:ea typeface="Arial"/>
                <a:cs typeface="Arial"/>
              </a:defRPr>
            </a:lvl7pPr>
            <a:lvl8pPr>
              <a:defRPr sz="2475">
                <a:solidFill>
                  <a:srgbClr val="25724D"/>
                </a:solidFill>
                <a:latin typeface="Arial"/>
                <a:ea typeface="Arial"/>
                <a:cs typeface="Arial"/>
              </a:defRPr>
            </a:lvl8pPr>
            <a:lvl9pPr>
              <a:defRPr sz="2475">
                <a:solidFill>
                  <a:srgbClr val="25724D"/>
                </a:solidFill>
                <a:latin typeface="Arial"/>
                <a:ea typeface="Arial"/>
                <a:cs typeface="Arial"/>
              </a:defRPr>
            </a:lvl9pPr>
          </a:lstStyle>
          <a:p xmlns:a="http://schemas.openxmlformats.org/drawingml/2006/main">
            <a:pPr>
              <a:defRPr sz="2475">
                <a:solidFill>
                  <a:srgbClr val="25724D"/>
                </a:solidFill>
                <a:latin typeface="Arial"/>
                <a:ea typeface="Arial"/>
                <a:cs typeface="Arial"/>
              </a:defRPr>
            </a:pPr>
            <a:r>
              <a:rPr sz="2475">
                <a:solidFill>
                  <a:srgbClr val="25724D"/>
                </a:solidFill>
                <a:latin typeface="Arial"/>
                <a:ea typeface="Arial"/>
                <a:cs typeface="Arial"/>
              </a:rPr>
              <a:t>El Hit conserva la antigüedad de carga de P0.</a:t>
            </a:r>
          </a:p>
        </p:txBody>
      </p:sp>
      <p:sp>
        <p:nvSpPr>
          <p:cNvPr id="6" name="">
            <a:extLst xmlns:a="http://schemas.openxmlformats.org/drawingml/2006/main">
              <a:ext uri="{FF2B5EF4-FFF2-40B4-BE49-F238E27FC236}">
                <a16:creationId xmlns:a16="http://schemas.microsoft.com/office/drawing/2014/main" id="{72AED2A7-973A-4915-9766-BB931B3619DB}"/>
              </a:ext>
            </a:extLst>
          </p:cNvPr>
          <p:cNvSpPr>
            <a:spLocks xmlns:a="http://schemas.openxmlformats.org/drawingml/2006/main" noGrp="1"/>
          </p:cNvSpPr>
          <p:nvPr/>
        </p:nvSpPr>
        <p:spPr>
          <a:xfrm xmlns:a="http://schemas.openxmlformats.org/drawingml/2006/main">
            <a:off x="742950" y="57340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20334B"/>
                </a:solidFill>
                <a:latin typeface="Arial"/>
                <a:ea typeface="Arial"/>
                <a:cs typeface="Arial"/>
              </a:defRPr>
            </a:defPPr>
            <a:lvl1pPr>
              <a:defRPr sz="1950">
                <a:solidFill>
                  <a:srgbClr val="20334B"/>
                </a:solidFill>
                <a:latin typeface="Arial"/>
                <a:ea typeface="Arial"/>
                <a:cs typeface="Arial"/>
              </a:defRPr>
            </a:lvl1pPr>
            <a:lvl2pPr>
              <a:defRPr sz="1950">
                <a:solidFill>
                  <a:srgbClr val="20334B"/>
                </a:solidFill>
                <a:latin typeface="Arial"/>
                <a:ea typeface="Arial"/>
                <a:cs typeface="Arial"/>
              </a:defRPr>
            </a:lvl2pPr>
            <a:lvl3pPr>
              <a:defRPr sz="1950">
                <a:solidFill>
                  <a:srgbClr val="20334B"/>
                </a:solidFill>
                <a:latin typeface="Arial"/>
                <a:ea typeface="Arial"/>
                <a:cs typeface="Arial"/>
              </a:defRPr>
            </a:lvl3pPr>
            <a:lvl4pPr>
              <a:defRPr sz="1950">
                <a:solidFill>
                  <a:srgbClr val="20334B"/>
                </a:solidFill>
                <a:latin typeface="Arial"/>
                <a:ea typeface="Arial"/>
                <a:cs typeface="Arial"/>
              </a:defRPr>
            </a:lvl4pPr>
            <a:lvl5pPr>
              <a:defRPr sz="1950">
                <a:solidFill>
                  <a:srgbClr val="20334B"/>
                </a:solidFill>
                <a:latin typeface="Arial"/>
                <a:ea typeface="Arial"/>
                <a:cs typeface="Arial"/>
              </a:defRPr>
            </a:lvl5pPr>
            <a:lvl6pPr>
              <a:defRPr sz="1950">
                <a:solidFill>
                  <a:srgbClr val="20334B"/>
                </a:solidFill>
                <a:latin typeface="Arial"/>
                <a:ea typeface="Arial"/>
                <a:cs typeface="Arial"/>
              </a:defRPr>
            </a:lvl6pPr>
            <a:lvl7pPr>
              <a:defRPr sz="1950">
                <a:solidFill>
                  <a:srgbClr val="20334B"/>
                </a:solidFill>
                <a:latin typeface="Arial"/>
                <a:ea typeface="Arial"/>
                <a:cs typeface="Arial"/>
              </a:defRPr>
            </a:lvl7pPr>
            <a:lvl8pPr>
              <a:defRPr sz="1950">
                <a:solidFill>
                  <a:srgbClr val="20334B"/>
                </a:solidFill>
                <a:latin typeface="Arial"/>
                <a:ea typeface="Arial"/>
                <a:cs typeface="Arial"/>
              </a:defRPr>
            </a:lvl8pPr>
            <a:lvl9pPr>
              <a:defRPr sz="1950">
                <a:solidFill>
                  <a:srgbClr val="20334B"/>
                </a:solidFill>
                <a:latin typeface="Arial"/>
                <a:ea typeface="Arial"/>
                <a:cs typeface="Arial"/>
              </a:defRPr>
            </a:lvl9pPr>
          </a:lstStyle>
          <a:p xmlns:a="http://schemas.openxmlformats.org/drawingml/2006/main">
            <a:pPr>
              <a:defRPr sz="1950">
                <a:solidFill>
                  <a:srgbClr val="20334B"/>
                </a:solidFill>
                <a:latin typeface="Arial"/>
                <a:ea typeface="Arial"/>
                <a:cs typeface="Arial"/>
              </a:defRPr>
            </a:pPr>
            <a:r>
              <a:rPr sz="1950">
                <a:solidFill>
                  <a:srgbClr val="20334B"/>
                </a:solidFill>
                <a:latin typeface="Arial"/>
                <a:ea typeface="Arial"/>
                <a:cs typeface="Arial"/>
              </a:rPr>
              <a:t>El contador acumulado se comprueba en Inicio.</a:t>
            </a:r>
          </a:p>
        </p:txBody>
      </p:sp>
    </p:spTree>
    <p:extLst>
      <p:ext uri="{BB962C8B-B14F-4D97-AF65-F5344CB8AC3E}">
        <p14:creationId xmlns:p14="http://schemas.microsoft.com/office/powerpoint/2010/main" val="18297775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B2443E-F892-418C-BFAC-1F213CF18BC5}"/>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RAM llena y reemplazo FIFO</a:t>
            </a:r>
          </a:p>
        </p:txBody>
      </p:sp>
      <p:sp>
        <p:nvSpPr>
          <p:cNvPr id="2" name="">
            <a:extLst xmlns:a="http://schemas.openxmlformats.org/drawingml/2006/main">
              <a:ext uri="{FF2B5EF4-FFF2-40B4-BE49-F238E27FC236}">
                <a16:creationId xmlns:a16="http://schemas.microsoft.com/office/drawing/2014/main" id="{3FB201E5-8C88-4403-8ADE-C882FBBC241C}"/>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Solicitamos P4 después del Hit de P0.</a:t>
            </a:r>
          </a:p>
        </p:txBody>
      </p:sp>
      <p:sp>
        <p:nvSpPr>
          <p:cNvPr id="3" name="">
            <a:extLst xmlns:a="http://schemas.openxmlformats.org/drawingml/2006/main">
              <a:ext uri="{FF2B5EF4-FFF2-40B4-BE49-F238E27FC236}">
                <a16:creationId xmlns:a16="http://schemas.microsoft.com/office/drawing/2014/main" id="{21614BD1-450F-4377-B907-42B32C4DD590}"/>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Deivid Alberto Guerra Carpio     24:00 a 27:00     12 de 24</a:t>
            </a:r>
          </a:p>
        </p:txBody>
      </p:sp>
      <p:graphicFrame>
        <p:nvGraphicFramePr>
          <p:cNvPr id="4" name="">
            <a:extLst xmlns:a="http://schemas.openxmlformats.org/drawingml/2006/main">
              <a:ext uri="{FF2B5EF4-FFF2-40B4-BE49-F238E27FC236}">
                <a16:creationId xmlns:a16="http://schemas.microsoft.com/office/drawing/2014/main" id="{7F233BBE-21AF-429A-97B2-705A4CC93EC9}"/>
              </a:ext>
            </a:extLst>
          </p:cNvPr>
          <p:cNvGraphicFramePr/>
          <p:nvPr/>
        </p:nvGraphicFramePr>
        <p:xfrm>
          <a:off xmlns:a="http://schemas.openxmlformats.org/drawingml/2006/main" x="685800" y="2000250"/>
          <a:ext xmlns:a="http://schemas.openxmlformats.org/drawingml/2006/main" cx="10820400" cy="3048000"/>
        </p:xfrm>
        <a:graphic xmlns:a="http://schemas.openxmlformats.org/drawingml/2006/main">
          <a:graphicData uri="http://schemas.openxmlformats.org/drawingml/2006/table">
            <a:tbl>
              <a:tblPr firstRow="1" bandRow="0"/>
              <a:tblGrid>
                <a:gridCol w="2000250"/>
                <a:gridCol w="4410075"/>
                <a:gridCol w="4410075"/>
              </a:tblGrid>
              <a:tr h="609600">
                <a:tc>
                  <a:txBody>
                    <a:bodyPr>
                      <a:noAutofit/>
                    </a:bodyPr>
                    <a:lstStyle/>
                    <a:p>
                      <a:r>
                        <a:rPr sz="2100" b="1">
                          <a:solidFill>
                            <a:srgbClr val="FFFFFF"/>
                          </a:solidFill>
                          <a:latin typeface="Arial"/>
                          <a:ea typeface="Arial"/>
                          <a:cs typeface="Arial"/>
                        </a:rPr>
                        <a:t>Marco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Antes de solicitar P4</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Después de solicitar P4</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09600">
                <a:tc>
                  <a:txBody>
                    <a:bodyPr>
                      <a:noAutofit/>
                    </a:bodyPr>
                    <a:lstStyle/>
                    <a:p>
                      <a:r>
                        <a:rPr sz="2100" b="0">
                          <a:solidFill>
                            <a:srgbClr val="20334B"/>
                          </a:solidFill>
                          <a:latin typeface="Arial"/>
                          <a:ea typeface="Arial"/>
                          <a:cs typeface="Arial"/>
                        </a:rPr>
                        <a:t>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P0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P4</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100" b="0">
                          <a:solidFill>
                            <a:srgbClr val="20334B"/>
                          </a:solidFill>
                          <a:latin typeface="Arial"/>
                          <a:ea typeface="Arial"/>
                          <a:cs typeface="Arial"/>
                        </a:rPr>
                        <a:t>1</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P1</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P1</a:t>
                      </a:r>
                    </a:p>
                  </a:txBody>
                  <a:tcPr marL="133350" marR="133350" marT="85725" marB="76200">
                    <a:lnR w="9525">
                      <a:solidFill>
                        <a:srgbClr val="D9D9D9"/>
                      </a:solidFill>
                      <a:prstDash val="solid"/>
                    </a:lnR>
                    <a:lnB w="9525">
                      <a:solidFill>
                        <a:srgbClr val="D9D9D9"/>
                      </a:solidFill>
                      <a:prstDash val="solid"/>
                    </a:lnB>
                    <a:solidFill>
                      <a:srgbClr val="F2F5F9"/>
                    </a:solidFill>
                  </a:tcPr>
                </a:tc>
              </a:tr>
              <a:tr h="609600">
                <a:tc>
                  <a:txBody>
                    <a:bodyPr>
                      <a:noAutofit/>
                    </a:bodyPr>
                    <a:lstStyle/>
                    <a:p>
                      <a:r>
                        <a:rPr sz="2100" b="0">
                          <a:solidFill>
                            <a:srgbClr val="20334B"/>
                          </a:solidFill>
                          <a:latin typeface="Arial"/>
                          <a:ea typeface="Arial"/>
                          <a:cs typeface="Arial"/>
                        </a:rPr>
                        <a:t>2</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P3</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P3</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100" b="0">
                          <a:solidFill>
                            <a:srgbClr val="20334B"/>
                          </a:solidFill>
                          <a:latin typeface="Arial"/>
                          <a:ea typeface="Arial"/>
                          <a:cs typeface="Arial"/>
                        </a:rPr>
                        <a:t>3</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P2</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P2</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339EE323-5286-47DC-A8F8-6ABDD8AE08E0}"/>
              </a:ext>
            </a:extLst>
          </p:cNvPr>
          <p:cNvSpPr>
            <a:spLocks xmlns:a="http://schemas.openxmlformats.org/drawingml/2006/main" noGrp="1"/>
          </p:cNvSpPr>
          <p:nvPr/>
        </p:nvSpPr>
        <p:spPr>
          <a:xfrm xmlns:a="http://schemas.openxmlformats.org/drawingml/2006/main">
            <a:off x="742950" y="54959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a:solidFill>
                  <a:srgbClr val="C63D44"/>
                </a:solidFill>
                <a:latin typeface="Arial"/>
                <a:ea typeface="Arial"/>
                <a:cs typeface="Arial"/>
              </a:defRPr>
            </a:defPPr>
            <a:lvl1pPr>
              <a:defRPr sz="2475">
                <a:solidFill>
                  <a:srgbClr val="C63D44"/>
                </a:solidFill>
                <a:latin typeface="Arial"/>
                <a:ea typeface="Arial"/>
                <a:cs typeface="Arial"/>
              </a:defRPr>
            </a:lvl1pPr>
            <a:lvl2pPr>
              <a:defRPr sz="2475">
                <a:solidFill>
                  <a:srgbClr val="C63D44"/>
                </a:solidFill>
                <a:latin typeface="Arial"/>
                <a:ea typeface="Arial"/>
                <a:cs typeface="Arial"/>
              </a:defRPr>
            </a:lvl2pPr>
            <a:lvl3pPr>
              <a:defRPr sz="2475">
                <a:solidFill>
                  <a:srgbClr val="C63D44"/>
                </a:solidFill>
                <a:latin typeface="Arial"/>
                <a:ea typeface="Arial"/>
                <a:cs typeface="Arial"/>
              </a:defRPr>
            </a:lvl3pPr>
            <a:lvl4pPr>
              <a:defRPr sz="2475">
                <a:solidFill>
                  <a:srgbClr val="C63D44"/>
                </a:solidFill>
                <a:latin typeface="Arial"/>
                <a:ea typeface="Arial"/>
                <a:cs typeface="Arial"/>
              </a:defRPr>
            </a:lvl4pPr>
            <a:lvl5pPr>
              <a:defRPr sz="2475">
                <a:solidFill>
                  <a:srgbClr val="C63D44"/>
                </a:solidFill>
                <a:latin typeface="Arial"/>
                <a:ea typeface="Arial"/>
                <a:cs typeface="Arial"/>
              </a:defRPr>
            </a:lvl5pPr>
            <a:lvl6pPr>
              <a:defRPr sz="2475">
                <a:solidFill>
                  <a:srgbClr val="C63D44"/>
                </a:solidFill>
                <a:latin typeface="Arial"/>
                <a:ea typeface="Arial"/>
                <a:cs typeface="Arial"/>
              </a:defRPr>
            </a:lvl6pPr>
            <a:lvl7pPr>
              <a:defRPr sz="2475">
                <a:solidFill>
                  <a:srgbClr val="C63D44"/>
                </a:solidFill>
                <a:latin typeface="Arial"/>
                <a:ea typeface="Arial"/>
                <a:cs typeface="Arial"/>
              </a:defRPr>
            </a:lvl7pPr>
            <a:lvl8pPr>
              <a:defRPr sz="2475">
                <a:solidFill>
                  <a:srgbClr val="C63D44"/>
                </a:solidFill>
                <a:latin typeface="Arial"/>
                <a:ea typeface="Arial"/>
                <a:cs typeface="Arial"/>
              </a:defRPr>
            </a:lvl8pPr>
            <a:lvl9pPr>
              <a:defRPr sz="2475">
                <a:solidFill>
                  <a:srgbClr val="C63D44"/>
                </a:solidFill>
                <a:latin typeface="Arial"/>
                <a:ea typeface="Arial"/>
                <a:cs typeface="Arial"/>
              </a:defRPr>
            </a:lvl9pPr>
          </a:lstStyle>
          <a:p xmlns:a="http://schemas.openxmlformats.org/drawingml/2006/main">
            <a:pPr>
              <a:defRPr sz="2475">
                <a:solidFill>
                  <a:srgbClr val="C63D44"/>
                </a:solidFill>
                <a:latin typeface="Arial"/>
                <a:ea typeface="Arial"/>
                <a:cs typeface="Arial"/>
              </a:defRPr>
            </a:pPr>
            <a:r>
              <a:rPr sz="2475">
                <a:solidFill>
                  <a:srgbClr val="C63D44"/>
                </a:solidFill>
                <a:latin typeface="Arial"/>
                <a:ea typeface="Arial"/>
                <a:cs typeface="Arial"/>
              </a:rPr>
              <a:t>Sale P0 y entra P4. Faults acumulados 5.</a:t>
            </a:r>
          </a:p>
        </p:txBody>
      </p:sp>
    </p:spTree>
    <p:extLst>
      <p:ext uri="{BB962C8B-B14F-4D97-AF65-F5344CB8AC3E}">
        <p14:creationId xmlns:p14="http://schemas.microsoft.com/office/powerpoint/2010/main" val="20314685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AAD965-0DB3-40B4-89D0-BC7F11041969}"/>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Traducción de la dirección 3500</a:t>
            </a:r>
          </a:p>
        </p:txBody>
      </p:sp>
      <p:sp>
        <p:nvSpPr>
          <p:cNvPr id="2" name="">
            <a:extLst xmlns:a="http://schemas.openxmlformats.org/drawingml/2006/main">
              <a:ext uri="{FF2B5EF4-FFF2-40B4-BE49-F238E27FC236}">
                <a16:creationId xmlns:a16="http://schemas.microsoft.com/office/drawing/2014/main" id="{8CCF7781-5A38-4B2E-B98D-1660A57EAC29}"/>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Página de 1024 bytes. P3 está en el marco 2.</a:t>
            </a:r>
          </a:p>
        </p:txBody>
      </p:sp>
      <p:sp>
        <p:nvSpPr>
          <p:cNvPr id="3" name="">
            <a:extLst xmlns:a="http://schemas.openxmlformats.org/drawingml/2006/main">
              <a:ext uri="{FF2B5EF4-FFF2-40B4-BE49-F238E27FC236}">
                <a16:creationId xmlns:a16="http://schemas.microsoft.com/office/drawing/2014/main" id="{7B6C6430-9359-4CE7-B6A7-5487B9B9BB8A}"/>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Deivid Alberto Guerra Carpio     27:00 a 30:00     13 de 24</a:t>
            </a:r>
          </a:p>
        </p:txBody>
      </p:sp>
      <p:graphicFrame>
        <p:nvGraphicFramePr>
          <p:cNvPr id="4" name="">
            <a:extLst xmlns:a="http://schemas.openxmlformats.org/drawingml/2006/main">
              <a:ext uri="{FF2B5EF4-FFF2-40B4-BE49-F238E27FC236}">
                <a16:creationId xmlns:a16="http://schemas.microsoft.com/office/drawing/2014/main" id="{6960B960-1D2D-491E-B031-007E53BD0B44}"/>
              </a:ext>
            </a:extLst>
          </p:cNvPr>
          <p:cNvGraphicFramePr/>
          <p:nvPr/>
        </p:nvGraphicFramePr>
        <p:xfrm>
          <a:off xmlns:a="http://schemas.openxmlformats.org/drawingml/2006/main" x="685800" y="1924050"/>
          <a:ext xmlns:a="http://schemas.openxmlformats.org/drawingml/2006/main" cx="10820400" cy="2857500"/>
        </p:xfrm>
        <a:graphic xmlns:a="http://schemas.openxmlformats.org/drawingml/2006/main">
          <a:graphicData uri="http://schemas.openxmlformats.org/drawingml/2006/table">
            <a:tbl>
              <a:tblPr firstRow="1" bandRow="0"/>
              <a:tblGrid>
                <a:gridCol w="3476625"/>
                <a:gridCol w="7343775"/>
              </a:tblGrid>
              <a:tr h="571500">
                <a:tc>
                  <a:txBody>
                    <a:bodyPr>
                      <a:noAutofit/>
                    </a:bodyPr>
                    <a:lstStyle/>
                    <a:p>
                      <a:r>
                        <a:rPr sz="2025" b="1">
                          <a:solidFill>
                            <a:srgbClr val="FFFFFF"/>
                          </a:solidFill>
                          <a:latin typeface="Arial"/>
                          <a:ea typeface="Arial"/>
                          <a:cs typeface="Arial"/>
                        </a:rPr>
                        <a:t>Componente</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Cálculo o valor</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571500">
                <a:tc>
                  <a:txBody>
                    <a:bodyPr>
                      <a:noAutofit/>
                    </a:bodyPr>
                    <a:lstStyle/>
                    <a:p>
                      <a:r>
                        <a:rPr sz="2025" b="0">
                          <a:solidFill>
                            <a:srgbClr val="20334B"/>
                          </a:solidFill>
                          <a:latin typeface="Arial"/>
                          <a:ea typeface="Arial"/>
                          <a:cs typeface="Arial"/>
                        </a:rPr>
                        <a:t>Página</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Parte entera de 3500 ÷ 1024 = 3</a:t>
                      </a:r>
                    </a:p>
                  </a:txBody>
                  <a:tcPr marL="133350" marR="133350" marT="85725" marB="76200">
                    <a:lnR w="9525">
                      <a:solidFill>
                        <a:srgbClr val="D9D9D9"/>
                      </a:solidFill>
                      <a:prstDash val="solid"/>
                    </a:lnR>
                    <a:lnB w="9525">
                      <a:solidFill>
                        <a:srgbClr val="D9D9D9"/>
                      </a:solidFill>
                      <a:prstDash val="solid"/>
                    </a:lnB>
                    <a:solidFill>
                      <a:srgbClr val="FFFFFF"/>
                    </a:solidFill>
                  </a:tcPr>
                </a:tc>
              </a:tr>
              <a:tr h="571500">
                <a:tc>
                  <a:txBody>
                    <a:bodyPr>
                      <a:noAutofit/>
                    </a:bodyPr>
                    <a:lstStyle/>
                    <a:p>
                      <a:r>
                        <a:rPr sz="2025" b="0">
                          <a:solidFill>
                            <a:srgbClr val="20334B"/>
                          </a:solidFill>
                          <a:latin typeface="Arial"/>
                          <a:ea typeface="Arial"/>
                          <a:cs typeface="Arial"/>
                        </a:rPr>
                        <a:t>Offset</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3500 - 3072 = 428 bytes</a:t>
                      </a:r>
                    </a:p>
                  </a:txBody>
                  <a:tcPr marL="133350" marR="133350" marT="85725" marB="76200">
                    <a:lnR w="9525">
                      <a:solidFill>
                        <a:srgbClr val="D9D9D9"/>
                      </a:solidFill>
                      <a:prstDash val="solid"/>
                    </a:lnR>
                    <a:lnB w="9525">
                      <a:solidFill>
                        <a:srgbClr val="D9D9D9"/>
                      </a:solidFill>
                      <a:prstDash val="solid"/>
                    </a:lnB>
                    <a:solidFill>
                      <a:srgbClr val="F2F5F9"/>
                    </a:solidFill>
                  </a:tcPr>
                </a:tc>
              </a:tr>
              <a:tr h="571500">
                <a:tc>
                  <a:txBody>
                    <a:bodyPr>
                      <a:noAutofit/>
                    </a:bodyPr>
                    <a:lstStyle/>
                    <a:p>
                      <a:r>
                        <a:rPr sz="2025" b="0">
                          <a:solidFill>
                            <a:srgbClr val="20334B"/>
                          </a:solidFill>
                          <a:latin typeface="Arial"/>
                          <a:ea typeface="Arial"/>
                          <a:cs typeface="Arial"/>
                        </a:rPr>
                        <a:t>Marco actual</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P3 está en el marco 2</a:t>
                      </a:r>
                    </a:p>
                  </a:txBody>
                  <a:tcPr marL="133350" marR="133350" marT="85725" marB="76200">
                    <a:lnR w="9525">
                      <a:solidFill>
                        <a:srgbClr val="D9D9D9"/>
                      </a:solidFill>
                      <a:prstDash val="solid"/>
                    </a:lnR>
                    <a:lnB w="9525">
                      <a:solidFill>
                        <a:srgbClr val="D9D9D9"/>
                      </a:solidFill>
                      <a:prstDash val="solid"/>
                    </a:lnB>
                    <a:solidFill>
                      <a:srgbClr val="FFFFFF"/>
                    </a:solidFill>
                  </a:tcPr>
                </a:tc>
              </a:tr>
              <a:tr h="571500">
                <a:tc>
                  <a:txBody>
                    <a:bodyPr>
                      <a:noAutofit/>
                    </a:bodyPr>
                    <a:lstStyle/>
                    <a:p>
                      <a:r>
                        <a:rPr sz="2025" b="0">
                          <a:solidFill>
                            <a:srgbClr val="20334B"/>
                          </a:solidFill>
                          <a:latin typeface="Arial"/>
                          <a:ea typeface="Arial"/>
                          <a:cs typeface="Arial"/>
                        </a:rPr>
                        <a:t>Inicio del marco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2 × 1024 = 2048</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866B9CF9-2B20-4595-9031-A6D072DD239D}"/>
              </a:ext>
            </a:extLst>
          </p:cNvPr>
          <p:cNvSpPr>
            <a:spLocks xmlns:a="http://schemas.openxmlformats.org/drawingml/2006/main" noGrp="1"/>
          </p:cNvSpPr>
          <p:nvPr/>
        </p:nvSpPr>
        <p:spPr>
          <a:xfrm xmlns:a="http://schemas.openxmlformats.org/drawingml/2006/main">
            <a:off x="742950" y="5295900"/>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C63D44"/>
                </a:solidFill>
                <a:latin typeface="Arial"/>
                <a:ea typeface="Arial"/>
                <a:cs typeface="Arial"/>
              </a:defRPr>
            </a:defPPr>
            <a:lvl1pPr>
              <a:defRPr sz="2850" b="1">
                <a:solidFill>
                  <a:srgbClr val="C63D44"/>
                </a:solidFill>
                <a:latin typeface="Arial"/>
                <a:ea typeface="Arial"/>
                <a:cs typeface="Arial"/>
              </a:defRPr>
            </a:lvl1pPr>
            <a:lvl2pPr>
              <a:defRPr sz="2850" b="1">
                <a:solidFill>
                  <a:srgbClr val="C63D44"/>
                </a:solidFill>
                <a:latin typeface="Arial"/>
                <a:ea typeface="Arial"/>
                <a:cs typeface="Arial"/>
              </a:defRPr>
            </a:lvl2pPr>
            <a:lvl3pPr>
              <a:defRPr sz="2850" b="1">
                <a:solidFill>
                  <a:srgbClr val="C63D44"/>
                </a:solidFill>
                <a:latin typeface="Arial"/>
                <a:ea typeface="Arial"/>
                <a:cs typeface="Arial"/>
              </a:defRPr>
            </a:lvl3pPr>
            <a:lvl4pPr>
              <a:defRPr sz="2850" b="1">
                <a:solidFill>
                  <a:srgbClr val="C63D44"/>
                </a:solidFill>
                <a:latin typeface="Arial"/>
                <a:ea typeface="Arial"/>
                <a:cs typeface="Arial"/>
              </a:defRPr>
            </a:lvl4pPr>
            <a:lvl5pPr>
              <a:defRPr sz="2850" b="1">
                <a:solidFill>
                  <a:srgbClr val="C63D44"/>
                </a:solidFill>
                <a:latin typeface="Arial"/>
                <a:ea typeface="Arial"/>
                <a:cs typeface="Arial"/>
              </a:defRPr>
            </a:lvl5pPr>
            <a:lvl6pPr>
              <a:defRPr sz="2850" b="1">
                <a:solidFill>
                  <a:srgbClr val="C63D44"/>
                </a:solidFill>
                <a:latin typeface="Arial"/>
                <a:ea typeface="Arial"/>
                <a:cs typeface="Arial"/>
              </a:defRPr>
            </a:lvl6pPr>
            <a:lvl7pPr>
              <a:defRPr sz="2850" b="1">
                <a:solidFill>
                  <a:srgbClr val="C63D44"/>
                </a:solidFill>
                <a:latin typeface="Arial"/>
                <a:ea typeface="Arial"/>
                <a:cs typeface="Arial"/>
              </a:defRPr>
            </a:lvl7pPr>
            <a:lvl8pPr>
              <a:defRPr sz="2850" b="1">
                <a:solidFill>
                  <a:srgbClr val="C63D44"/>
                </a:solidFill>
                <a:latin typeface="Arial"/>
                <a:ea typeface="Arial"/>
                <a:cs typeface="Arial"/>
              </a:defRPr>
            </a:lvl8pPr>
            <a:lvl9pPr>
              <a:defRPr sz="2850" b="1">
                <a:solidFill>
                  <a:srgbClr val="C63D44"/>
                </a:solidFill>
                <a:latin typeface="Arial"/>
                <a:ea typeface="Arial"/>
                <a:cs typeface="Arial"/>
              </a:defRPr>
            </a:lvl9pPr>
          </a:lstStyle>
          <a:p xmlns:a="http://schemas.openxmlformats.org/drawingml/2006/main">
            <a:pPr>
              <a:defRPr sz="2850" b="1">
                <a:solidFill>
                  <a:srgbClr val="C63D44"/>
                </a:solidFill>
                <a:latin typeface="Arial"/>
                <a:ea typeface="Arial"/>
                <a:cs typeface="Arial"/>
              </a:defRPr>
            </a:pPr>
            <a:r>
              <a:rPr sz="2850" b="1">
                <a:solidFill>
                  <a:srgbClr val="C63D44"/>
                </a:solidFill>
                <a:latin typeface="Arial"/>
                <a:ea typeface="Arial"/>
                <a:cs typeface="Arial"/>
              </a:rPr>
              <a:t>Dirección física = 2048 + 428 = 2476 bytes</a:t>
            </a:r>
          </a:p>
        </p:txBody>
      </p:sp>
    </p:spTree>
    <p:extLst>
      <p:ext uri="{BB962C8B-B14F-4D97-AF65-F5344CB8AC3E}">
        <p14:creationId xmlns:p14="http://schemas.microsoft.com/office/powerpoint/2010/main" val="7184477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B52591-1ABA-427E-A137-4134E38CF0D6}"/>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Traducción con una página ausente</a:t>
            </a:r>
          </a:p>
        </p:txBody>
      </p:sp>
      <p:sp>
        <p:nvSpPr>
          <p:cNvPr id="2" name="">
            <a:extLst xmlns:a="http://schemas.openxmlformats.org/drawingml/2006/main">
              <a:ext uri="{FF2B5EF4-FFF2-40B4-BE49-F238E27FC236}">
                <a16:creationId xmlns:a16="http://schemas.microsoft.com/office/drawing/2014/main" id="{2349A37D-7617-414A-9549-FF197E45117E}"/>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Consultamos la dirección lógica 100 después de expulsar P0.</a:t>
            </a:r>
          </a:p>
        </p:txBody>
      </p:sp>
      <p:sp>
        <p:nvSpPr>
          <p:cNvPr id="3" name="">
            <a:extLst xmlns:a="http://schemas.openxmlformats.org/drawingml/2006/main">
              <a:ext uri="{FF2B5EF4-FFF2-40B4-BE49-F238E27FC236}">
                <a16:creationId xmlns:a16="http://schemas.microsoft.com/office/drawing/2014/main" id="{4D596695-6CA5-46B6-A7C3-69653FEB37D3}"/>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Deivid Alberto Guerra Carpio     30:00 a 33:00     14 de 24</a:t>
            </a:r>
          </a:p>
        </p:txBody>
      </p:sp>
      <p:graphicFrame>
        <p:nvGraphicFramePr>
          <p:cNvPr id="4" name="">
            <a:extLst xmlns:a="http://schemas.openxmlformats.org/drawingml/2006/main">
              <a:ext uri="{FF2B5EF4-FFF2-40B4-BE49-F238E27FC236}">
                <a16:creationId xmlns:a16="http://schemas.microsoft.com/office/drawing/2014/main" id="{DB3E28D8-D461-43D2-8171-A7710CFEB3E2}"/>
              </a:ext>
            </a:extLst>
          </p:cNvPr>
          <p:cNvGraphicFramePr/>
          <p:nvPr/>
        </p:nvGraphicFramePr>
        <p:xfrm>
          <a:off xmlns:a="http://schemas.openxmlformats.org/drawingml/2006/main" x="685800" y="2019300"/>
          <a:ext xmlns:a="http://schemas.openxmlformats.org/drawingml/2006/main" cx="10820400" cy="2428875"/>
        </p:xfrm>
        <a:graphic xmlns:a="http://schemas.openxmlformats.org/drawingml/2006/main">
          <a:graphicData uri="http://schemas.openxmlformats.org/drawingml/2006/table">
            <a:tbl>
              <a:tblPr firstRow="1" bandRow="0"/>
              <a:tblGrid>
                <a:gridCol w="4762500"/>
                <a:gridCol w="6057900"/>
              </a:tblGrid>
              <a:tr h="607219">
                <a:tc>
                  <a:txBody>
                    <a:bodyPr>
                      <a:noAutofit/>
                    </a:bodyPr>
                    <a:lstStyle/>
                    <a:p>
                      <a:r>
                        <a:rPr sz="2175" b="1">
                          <a:solidFill>
                            <a:srgbClr val="FFFFFF"/>
                          </a:solidFill>
                          <a:latin typeface="Arial"/>
                          <a:ea typeface="Arial"/>
                          <a:cs typeface="Arial"/>
                        </a:rPr>
                        <a:t>Componente</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75" b="1">
                          <a:solidFill>
                            <a:srgbClr val="FFFFFF"/>
                          </a:solidFill>
                          <a:latin typeface="Arial"/>
                          <a:ea typeface="Arial"/>
                          <a:cs typeface="Arial"/>
                        </a:rPr>
                        <a:t>Resultado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07219">
                <a:tc>
                  <a:txBody>
                    <a:bodyPr>
                      <a:noAutofit/>
                    </a:bodyPr>
                    <a:lstStyle/>
                    <a:p>
                      <a:r>
                        <a:rPr sz="2175" b="0">
                          <a:solidFill>
                            <a:srgbClr val="20334B"/>
                          </a:solidFill>
                          <a:latin typeface="Arial"/>
                          <a:ea typeface="Arial"/>
                          <a:cs typeface="Arial"/>
                        </a:rPr>
                        <a:t>Página y offset</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P0 y 100 bytes</a:t>
                      </a:r>
                    </a:p>
                  </a:txBody>
                  <a:tcPr marL="133350" marR="133350" marT="85725" marB="76200">
                    <a:lnR w="9525">
                      <a:solidFill>
                        <a:srgbClr val="D9D9D9"/>
                      </a:solidFill>
                      <a:prstDash val="solid"/>
                    </a:lnR>
                    <a:lnB w="9525">
                      <a:solidFill>
                        <a:srgbClr val="D9D9D9"/>
                      </a:solidFill>
                      <a:prstDash val="solid"/>
                    </a:lnB>
                    <a:solidFill>
                      <a:srgbClr val="FFFFFF"/>
                    </a:solidFill>
                  </a:tcPr>
                </a:tc>
              </a:tr>
              <a:tr h="607219">
                <a:tc>
                  <a:txBody>
                    <a:bodyPr>
                      <a:noAutofit/>
                    </a:bodyPr>
                    <a:lstStyle/>
                    <a:p>
                      <a:r>
                        <a:rPr sz="2175" b="0">
                          <a:solidFill>
                            <a:srgbClr val="20334B"/>
                          </a:solidFill>
                          <a:latin typeface="Arial"/>
                          <a:ea typeface="Arial"/>
                          <a:cs typeface="Arial"/>
                        </a:rPr>
                        <a:t>Ubicación de P0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75" b="0">
                          <a:solidFill>
                            <a:srgbClr val="20334B"/>
                          </a:solidFill>
                          <a:latin typeface="Arial"/>
                          <a:ea typeface="Arial"/>
                          <a:cs typeface="Arial"/>
                        </a:rPr>
                        <a:t>DISCO</a:t>
                      </a:r>
                    </a:p>
                  </a:txBody>
                  <a:tcPr marL="133350" marR="133350" marT="85725" marB="76200">
                    <a:lnR w="9525">
                      <a:solidFill>
                        <a:srgbClr val="D9D9D9"/>
                      </a:solidFill>
                      <a:prstDash val="solid"/>
                    </a:lnR>
                    <a:lnB w="9525">
                      <a:solidFill>
                        <a:srgbClr val="D9D9D9"/>
                      </a:solidFill>
                      <a:prstDash val="solid"/>
                    </a:lnB>
                    <a:solidFill>
                      <a:srgbClr val="F2F5F9"/>
                    </a:solidFill>
                  </a:tcPr>
                </a:tc>
              </a:tr>
              <a:tr h="607219">
                <a:tc>
                  <a:txBody>
                    <a:bodyPr>
                      <a:noAutofit/>
                    </a:bodyPr>
                    <a:lstStyle/>
                    <a:p>
                      <a:r>
                        <a:rPr sz="2175" b="0">
                          <a:solidFill>
                            <a:srgbClr val="20334B"/>
                          </a:solidFill>
                          <a:latin typeface="Arial"/>
                          <a:ea typeface="Arial"/>
                          <a:cs typeface="Arial"/>
                        </a:rPr>
                        <a:t>Marco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Sin asignación</a:t>
                      </a:r>
                    </a:p>
                  </a:txBody>
                  <a:tcPr marL="133350" marR="133350" marT="85725" marB="76200">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F31B50-9C1E-45FD-9ECE-31E3674DFC84}"/>
              </a:ext>
            </a:extLst>
          </p:cNvPr>
          <p:cNvSpPr>
            <a:spLocks xmlns:a="http://schemas.openxmlformats.org/drawingml/2006/main" noGrp="1"/>
          </p:cNvSpPr>
          <p:nvPr/>
        </p:nvSpPr>
        <p:spPr>
          <a:xfrm xmlns:a="http://schemas.openxmlformats.org/drawingml/2006/main">
            <a:off x="742950" y="4810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C63D44"/>
                </a:solidFill>
                <a:latin typeface="Arial"/>
                <a:ea typeface="Arial"/>
                <a:cs typeface="Arial"/>
              </a:defRPr>
            </a:defPPr>
            <a:lvl1pPr>
              <a:defRPr sz="3225" b="1">
                <a:solidFill>
                  <a:srgbClr val="C63D44"/>
                </a:solidFill>
                <a:latin typeface="Arial"/>
                <a:ea typeface="Arial"/>
                <a:cs typeface="Arial"/>
              </a:defRPr>
            </a:lvl1pPr>
            <a:lvl2pPr>
              <a:defRPr sz="3225" b="1">
                <a:solidFill>
                  <a:srgbClr val="C63D44"/>
                </a:solidFill>
                <a:latin typeface="Arial"/>
                <a:ea typeface="Arial"/>
                <a:cs typeface="Arial"/>
              </a:defRPr>
            </a:lvl2pPr>
            <a:lvl3pPr>
              <a:defRPr sz="3225" b="1">
                <a:solidFill>
                  <a:srgbClr val="C63D44"/>
                </a:solidFill>
                <a:latin typeface="Arial"/>
                <a:ea typeface="Arial"/>
                <a:cs typeface="Arial"/>
              </a:defRPr>
            </a:lvl3pPr>
            <a:lvl4pPr>
              <a:defRPr sz="3225" b="1">
                <a:solidFill>
                  <a:srgbClr val="C63D44"/>
                </a:solidFill>
                <a:latin typeface="Arial"/>
                <a:ea typeface="Arial"/>
                <a:cs typeface="Arial"/>
              </a:defRPr>
            </a:lvl4pPr>
            <a:lvl5pPr>
              <a:defRPr sz="3225" b="1">
                <a:solidFill>
                  <a:srgbClr val="C63D44"/>
                </a:solidFill>
                <a:latin typeface="Arial"/>
                <a:ea typeface="Arial"/>
                <a:cs typeface="Arial"/>
              </a:defRPr>
            </a:lvl5pPr>
            <a:lvl6pPr>
              <a:defRPr sz="3225" b="1">
                <a:solidFill>
                  <a:srgbClr val="C63D44"/>
                </a:solidFill>
                <a:latin typeface="Arial"/>
                <a:ea typeface="Arial"/>
                <a:cs typeface="Arial"/>
              </a:defRPr>
            </a:lvl6pPr>
            <a:lvl7pPr>
              <a:defRPr sz="3225" b="1">
                <a:solidFill>
                  <a:srgbClr val="C63D44"/>
                </a:solidFill>
                <a:latin typeface="Arial"/>
                <a:ea typeface="Arial"/>
                <a:cs typeface="Arial"/>
              </a:defRPr>
            </a:lvl7pPr>
            <a:lvl8pPr>
              <a:defRPr sz="3225" b="1">
                <a:solidFill>
                  <a:srgbClr val="C63D44"/>
                </a:solidFill>
                <a:latin typeface="Arial"/>
                <a:ea typeface="Arial"/>
                <a:cs typeface="Arial"/>
              </a:defRPr>
            </a:lvl8pPr>
            <a:lvl9pPr>
              <a:defRPr sz="3225" b="1">
                <a:solidFill>
                  <a:srgbClr val="C63D44"/>
                </a:solidFill>
                <a:latin typeface="Arial"/>
                <a:ea typeface="Arial"/>
                <a:cs typeface="Arial"/>
              </a:defRPr>
            </a:lvl9pPr>
          </a:lstStyle>
          <a:p xmlns:a="http://schemas.openxmlformats.org/drawingml/2006/main">
            <a:pPr>
              <a:defRPr sz="3225" b="1">
                <a:solidFill>
                  <a:srgbClr val="C63D44"/>
                </a:solidFill>
                <a:latin typeface="Arial"/>
                <a:ea typeface="Arial"/>
                <a:cs typeface="Arial"/>
              </a:defRPr>
            </a:pPr>
            <a:r>
              <a:rPr sz="3225" b="1">
                <a:solidFill>
                  <a:srgbClr val="C63D44"/>
                </a:solidFill>
                <a:latin typeface="Arial"/>
                <a:ea typeface="Arial"/>
                <a:cs typeface="Arial"/>
              </a:rPr>
              <a:t>Dirección física no disponible</a:t>
            </a:r>
          </a:p>
        </p:txBody>
      </p:sp>
      <p:sp>
        <p:nvSpPr>
          <p:cNvPr id="6" name="">
            <a:extLst xmlns:a="http://schemas.openxmlformats.org/drawingml/2006/main">
              <a:ext uri="{FF2B5EF4-FFF2-40B4-BE49-F238E27FC236}">
                <a16:creationId xmlns:a16="http://schemas.microsoft.com/office/drawing/2014/main" id="{A203512A-D103-4CBD-A16E-34CB5EE551DA}"/>
              </a:ext>
            </a:extLst>
          </p:cNvPr>
          <p:cNvSpPr>
            <a:spLocks xmlns:a="http://schemas.openxmlformats.org/drawingml/2006/main" noGrp="1"/>
          </p:cNvSpPr>
          <p:nvPr/>
        </p:nvSpPr>
        <p:spPr>
          <a:xfrm xmlns:a="http://schemas.openxmlformats.org/drawingml/2006/main">
            <a:off x="742950" y="5610225"/>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20334B"/>
                </a:solidFill>
                <a:latin typeface="Arial"/>
                <a:ea typeface="Arial"/>
                <a:cs typeface="Arial"/>
              </a:defRPr>
            </a:defPPr>
            <a:lvl1pPr>
              <a:defRPr sz="1950">
                <a:solidFill>
                  <a:srgbClr val="20334B"/>
                </a:solidFill>
                <a:latin typeface="Arial"/>
                <a:ea typeface="Arial"/>
                <a:cs typeface="Arial"/>
              </a:defRPr>
            </a:lvl1pPr>
            <a:lvl2pPr>
              <a:defRPr sz="1950">
                <a:solidFill>
                  <a:srgbClr val="20334B"/>
                </a:solidFill>
                <a:latin typeface="Arial"/>
                <a:ea typeface="Arial"/>
                <a:cs typeface="Arial"/>
              </a:defRPr>
            </a:lvl2pPr>
            <a:lvl3pPr>
              <a:defRPr sz="1950">
                <a:solidFill>
                  <a:srgbClr val="20334B"/>
                </a:solidFill>
                <a:latin typeface="Arial"/>
                <a:ea typeface="Arial"/>
                <a:cs typeface="Arial"/>
              </a:defRPr>
            </a:lvl3pPr>
            <a:lvl4pPr>
              <a:defRPr sz="1950">
                <a:solidFill>
                  <a:srgbClr val="20334B"/>
                </a:solidFill>
                <a:latin typeface="Arial"/>
                <a:ea typeface="Arial"/>
                <a:cs typeface="Arial"/>
              </a:defRPr>
            </a:lvl4pPr>
            <a:lvl5pPr>
              <a:defRPr sz="1950">
                <a:solidFill>
                  <a:srgbClr val="20334B"/>
                </a:solidFill>
                <a:latin typeface="Arial"/>
                <a:ea typeface="Arial"/>
                <a:cs typeface="Arial"/>
              </a:defRPr>
            </a:lvl5pPr>
            <a:lvl6pPr>
              <a:defRPr sz="1950">
                <a:solidFill>
                  <a:srgbClr val="20334B"/>
                </a:solidFill>
                <a:latin typeface="Arial"/>
                <a:ea typeface="Arial"/>
                <a:cs typeface="Arial"/>
              </a:defRPr>
            </a:lvl6pPr>
            <a:lvl7pPr>
              <a:defRPr sz="1950">
                <a:solidFill>
                  <a:srgbClr val="20334B"/>
                </a:solidFill>
                <a:latin typeface="Arial"/>
                <a:ea typeface="Arial"/>
                <a:cs typeface="Arial"/>
              </a:defRPr>
            </a:lvl7pPr>
            <a:lvl8pPr>
              <a:defRPr sz="1950">
                <a:solidFill>
                  <a:srgbClr val="20334B"/>
                </a:solidFill>
                <a:latin typeface="Arial"/>
                <a:ea typeface="Arial"/>
                <a:cs typeface="Arial"/>
              </a:defRPr>
            </a:lvl8pPr>
            <a:lvl9pPr>
              <a:defRPr sz="1950">
                <a:solidFill>
                  <a:srgbClr val="20334B"/>
                </a:solidFill>
                <a:latin typeface="Arial"/>
                <a:ea typeface="Arial"/>
                <a:cs typeface="Arial"/>
              </a:defRPr>
            </a:lvl9pPr>
          </a:lstStyle>
          <a:p xmlns:a="http://schemas.openxmlformats.org/drawingml/2006/main">
            <a:pPr>
              <a:defRPr sz="1950">
                <a:solidFill>
                  <a:srgbClr val="20334B"/>
                </a:solidFill>
                <a:latin typeface="Arial"/>
                <a:ea typeface="Arial"/>
                <a:cs typeface="Arial"/>
              </a:defRPr>
            </a:pPr>
            <a:r>
              <a:rPr sz="1950">
                <a:solidFill>
                  <a:srgbClr val="20334B"/>
                </a:solidFill>
                <a:latin typeface="Arial"/>
                <a:ea typeface="Arial"/>
                <a:cs typeface="Arial"/>
              </a:rPr>
              <a:t>Traducir consulta la tabla. La carga se solicita en Paginación.</a:t>
            </a:r>
          </a:p>
        </p:txBody>
      </p:sp>
    </p:spTree>
    <p:extLst>
      <p:ext uri="{BB962C8B-B14F-4D97-AF65-F5344CB8AC3E}">
        <p14:creationId xmlns:p14="http://schemas.microsoft.com/office/powerpoint/2010/main" val="18379301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63D6D3-ED19-46F8-B14A-ED707F34AAE3}"/>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P0 regresa en otro marco</a:t>
            </a:r>
          </a:p>
        </p:txBody>
      </p:sp>
      <p:sp>
        <p:nvSpPr>
          <p:cNvPr id="2" name="">
            <a:extLst xmlns:a="http://schemas.openxmlformats.org/drawingml/2006/main">
              <a:ext uri="{FF2B5EF4-FFF2-40B4-BE49-F238E27FC236}">
                <a16:creationId xmlns:a16="http://schemas.microsoft.com/office/drawing/2014/main" id="{DA939E5C-53B6-42EF-89E0-91BA52E0000C}"/>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Solicitamos P0. FIFO devuelve P1 a secundaria.</a:t>
            </a:r>
          </a:p>
        </p:txBody>
      </p:sp>
      <p:sp>
        <p:nvSpPr>
          <p:cNvPr id="3" name="">
            <a:extLst xmlns:a="http://schemas.openxmlformats.org/drawingml/2006/main">
              <a:ext uri="{FF2B5EF4-FFF2-40B4-BE49-F238E27FC236}">
                <a16:creationId xmlns:a16="http://schemas.microsoft.com/office/drawing/2014/main" id="{2CC7BB71-13D6-431E-B4B7-4C8FB83EAE7C}"/>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Deivid Alberto Guerra Carpio     33:00 a 36:00     15 de 24</a:t>
            </a:r>
          </a:p>
        </p:txBody>
      </p:sp>
      <p:graphicFrame>
        <p:nvGraphicFramePr>
          <p:cNvPr id="4" name="">
            <a:extLst xmlns:a="http://schemas.openxmlformats.org/drawingml/2006/main">
              <a:ext uri="{FF2B5EF4-FFF2-40B4-BE49-F238E27FC236}">
                <a16:creationId xmlns:a16="http://schemas.microsoft.com/office/drawing/2014/main" id="{698BD0A1-1AD0-4CC9-8918-0B5013749288}"/>
              </a:ext>
            </a:extLst>
          </p:cNvPr>
          <p:cNvGraphicFramePr/>
          <p:nvPr/>
        </p:nvGraphicFramePr>
        <p:xfrm>
          <a:off xmlns:a="http://schemas.openxmlformats.org/drawingml/2006/main" x="685800" y="1857375"/>
          <a:ext xmlns:a="http://schemas.openxmlformats.org/drawingml/2006/main" cx="10820400" cy="2857500"/>
        </p:xfrm>
        <a:graphic xmlns:a="http://schemas.openxmlformats.org/drawingml/2006/main">
          <a:graphicData uri="http://schemas.openxmlformats.org/drawingml/2006/table">
            <a:tbl>
              <a:tblPr firstRow="1" bandRow="0"/>
              <a:tblGrid>
                <a:gridCol w="5286375"/>
                <a:gridCol w="5534025"/>
              </a:tblGrid>
              <a:tr h="571500">
                <a:tc>
                  <a:txBody>
                    <a:bodyPr>
                      <a:noAutofit/>
                    </a:bodyPr>
                    <a:lstStyle/>
                    <a:p>
                      <a:r>
                        <a:rPr sz="2175" b="1">
                          <a:solidFill>
                            <a:srgbClr val="FFFFFF"/>
                          </a:solidFill>
                          <a:latin typeface="Arial"/>
                          <a:ea typeface="Arial"/>
                          <a:cs typeface="Arial"/>
                        </a:rPr>
                        <a:t>Elemento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75" b="1">
                          <a:solidFill>
                            <a:srgbClr val="FFFFFF"/>
                          </a:solidFill>
                          <a:latin typeface="Arial"/>
                          <a:ea typeface="Arial"/>
                          <a:cs typeface="Arial"/>
                        </a:rPr>
                        <a:t>Resultado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571500">
                <a:tc>
                  <a:txBody>
                    <a:bodyPr>
                      <a:noAutofit/>
                    </a:bodyPr>
                    <a:lstStyle/>
                    <a:p>
                      <a:r>
                        <a:rPr sz="2175" b="0">
                          <a:solidFill>
                            <a:srgbClr val="20334B"/>
                          </a:solidFill>
                          <a:latin typeface="Arial"/>
                          <a:ea typeface="Arial"/>
                          <a:cs typeface="Arial"/>
                        </a:rPr>
                        <a:t>Página que entra</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P0</a:t>
                      </a:r>
                    </a:p>
                  </a:txBody>
                  <a:tcPr marL="133350" marR="133350" marT="85725" marB="76200">
                    <a:lnR w="9525">
                      <a:solidFill>
                        <a:srgbClr val="D9D9D9"/>
                      </a:solidFill>
                      <a:prstDash val="solid"/>
                    </a:lnR>
                    <a:lnB w="9525">
                      <a:solidFill>
                        <a:srgbClr val="D9D9D9"/>
                      </a:solidFill>
                      <a:prstDash val="solid"/>
                    </a:lnB>
                    <a:solidFill>
                      <a:srgbClr val="FFFFFF"/>
                    </a:solidFill>
                  </a:tcPr>
                </a:tc>
              </a:tr>
              <a:tr h="571500">
                <a:tc>
                  <a:txBody>
                    <a:bodyPr>
                      <a:noAutofit/>
                    </a:bodyPr>
                    <a:lstStyle/>
                    <a:p>
                      <a:r>
                        <a:rPr sz="2175" b="0">
                          <a:solidFill>
                            <a:srgbClr val="20334B"/>
                          </a:solidFill>
                          <a:latin typeface="Arial"/>
                          <a:ea typeface="Arial"/>
                          <a:cs typeface="Arial"/>
                        </a:rPr>
                        <a:t>Página que sale</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75" b="0">
                          <a:solidFill>
                            <a:srgbClr val="20334B"/>
                          </a:solidFill>
                          <a:latin typeface="Arial"/>
                          <a:ea typeface="Arial"/>
                          <a:cs typeface="Arial"/>
                        </a:rPr>
                        <a:t>P1</a:t>
                      </a:r>
                    </a:p>
                  </a:txBody>
                  <a:tcPr marL="133350" marR="133350" marT="85725" marB="76200">
                    <a:lnR w="9525">
                      <a:solidFill>
                        <a:srgbClr val="D9D9D9"/>
                      </a:solidFill>
                      <a:prstDash val="solid"/>
                    </a:lnR>
                    <a:lnB w="9525">
                      <a:solidFill>
                        <a:srgbClr val="D9D9D9"/>
                      </a:solidFill>
                      <a:prstDash val="solid"/>
                    </a:lnB>
                    <a:solidFill>
                      <a:srgbClr val="F2F5F9"/>
                    </a:solidFill>
                  </a:tcPr>
                </a:tc>
              </a:tr>
              <a:tr h="571500">
                <a:tc>
                  <a:txBody>
                    <a:bodyPr>
                      <a:noAutofit/>
                    </a:bodyPr>
                    <a:lstStyle/>
                    <a:p>
                      <a:r>
                        <a:rPr sz="2175" b="0">
                          <a:solidFill>
                            <a:srgbClr val="20334B"/>
                          </a:solidFill>
                          <a:latin typeface="Arial"/>
                          <a:ea typeface="Arial"/>
                          <a:cs typeface="Arial"/>
                        </a:rPr>
                        <a:t>Marco de P0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1</a:t>
                      </a:r>
                    </a:p>
                  </a:txBody>
                  <a:tcPr marL="133350" marR="133350" marT="85725" marB="76200">
                    <a:lnR w="9525">
                      <a:solidFill>
                        <a:srgbClr val="D9D9D9"/>
                      </a:solidFill>
                      <a:prstDash val="solid"/>
                    </a:lnR>
                    <a:lnB w="9525">
                      <a:solidFill>
                        <a:srgbClr val="D9D9D9"/>
                      </a:solidFill>
                      <a:prstDash val="solid"/>
                    </a:lnB>
                    <a:solidFill>
                      <a:srgbClr val="FFFFFF"/>
                    </a:solidFill>
                  </a:tcPr>
                </a:tc>
              </a:tr>
              <a:tr h="571500">
                <a:tc>
                  <a:txBody>
                    <a:bodyPr>
                      <a:noAutofit/>
                    </a:bodyPr>
                    <a:lstStyle/>
                    <a:p>
                      <a:r>
                        <a:rPr sz="2175" b="0">
                          <a:solidFill>
                            <a:srgbClr val="20334B"/>
                          </a:solidFill>
                          <a:latin typeface="Arial"/>
                          <a:ea typeface="Arial"/>
                          <a:cs typeface="Arial"/>
                        </a:rPr>
                        <a:t>Faults acumulados</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75" b="0">
                          <a:solidFill>
                            <a:srgbClr val="20334B"/>
                          </a:solidFill>
                          <a:latin typeface="Arial"/>
                          <a:ea typeface="Arial"/>
                          <a:cs typeface="Arial"/>
                        </a:rPr>
                        <a:t>6</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A9FE0E45-4244-41CD-A8B1-B90D17627AE3}"/>
              </a:ext>
            </a:extLst>
          </p:cNvPr>
          <p:cNvSpPr>
            <a:spLocks xmlns:a="http://schemas.openxmlformats.org/drawingml/2006/main" noGrp="1"/>
          </p:cNvSpPr>
          <p:nvPr/>
        </p:nvSpPr>
        <p:spPr>
          <a:xfrm xmlns:a="http://schemas.openxmlformats.org/drawingml/2006/main">
            <a:off x="742950" y="510540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1">
                <a:solidFill>
                  <a:srgbClr val="C63D44"/>
                </a:solidFill>
                <a:latin typeface="Arial"/>
                <a:ea typeface="Arial"/>
                <a:cs typeface="Arial"/>
              </a:defRPr>
            </a:defPPr>
            <a:lvl1pPr>
              <a:defRPr sz="2925" b="1">
                <a:solidFill>
                  <a:srgbClr val="C63D44"/>
                </a:solidFill>
                <a:latin typeface="Arial"/>
                <a:ea typeface="Arial"/>
                <a:cs typeface="Arial"/>
              </a:defRPr>
            </a:lvl1pPr>
            <a:lvl2pPr>
              <a:defRPr sz="2925" b="1">
                <a:solidFill>
                  <a:srgbClr val="C63D44"/>
                </a:solidFill>
                <a:latin typeface="Arial"/>
                <a:ea typeface="Arial"/>
                <a:cs typeface="Arial"/>
              </a:defRPr>
            </a:lvl2pPr>
            <a:lvl3pPr>
              <a:defRPr sz="2925" b="1">
                <a:solidFill>
                  <a:srgbClr val="C63D44"/>
                </a:solidFill>
                <a:latin typeface="Arial"/>
                <a:ea typeface="Arial"/>
                <a:cs typeface="Arial"/>
              </a:defRPr>
            </a:lvl3pPr>
            <a:lvl4pPr>
              <a:defRPr sz="2925" b="1">
                <a:solidFill>
                  <a:srgbClr val="C63D44"/>
                </a:solidFill>
                <a:latin typeface="Arial"/>
                <a:ea typeface="Arial"/>
                <a:cs typeface="Arial"/>
              </a:defRPr>
            </a:lvl4pPr>
            <a:lvl5pPr>
              <a:defRPr sz="2925" b="1">
                <a:solidFill>
                  <a:srgbClr val="C63D44"/>
                </a:solidFill>
                <a:latin typeface="Arial"/>
                <a:ea typeface="Arial"/>
                <a:cs typeface="Arial"/>
              </a:defRPr>
            </a:lvl5pPr>
            <a:lvl6pPr>
              <a:defRPr sz="2925" b="1">
                <a:solidFill>
                  <a:srgbClr val="C63D44"/>
                </a:solidFill>
                <a:latin typeface="Arial"/>
                <a:ea typeface="Arial"/>
                <a:cs typeface="Arial"/>
              </a:defRPr>
            </a:lvl6pPr>
            <a:lvl7pPr>
              <a:defRPr sz="2925" b="1">
                <a:solidFill>
                  <a:srgbClr val="C63D44"/>
                </a:solidFill>
                <a:latin typeface="Arial"/>
                <a:ea typeface="Arial"/>
                <a:cs typeface="Arial"/>
              </a:defRPr>
            </a:lvl7pPr>
            <a:lvl8pPr>
              <a:defRPr sz="2925" b="1">
                <a:solidFill>
                  <a:srgbClr val="C63D44"/>
                </a:solidFill>
                <a:latin typeface="Arial"/>
                <a:ea typeface="Arial"/>
                <a:cs typeface="Arial"/>
              </a:defRPr>
            </a:lvl8pPr>
            <a:lvl9pPr>
              <a:defRPr sz="2925" b="1">
                <a:solidFill>
                  <a:srgbClr val="C63D44"/>
                </a:solidFill>
                <a:latin typeface="Arial"/>
                <a:ea typeface="Arial"/>
                <a:cs typeface="Arial"/>
              </a:defRPr>
            </a:lvl9pPr>
          </a:lstStyle>
          <a:p xmlns:a="http://schemas.openxmlformats.org/drawingml/2006/main">
            <a:pPr>
              <a:defRPr sz="2925" b="1">
                <a:solidFill>
                  <a:srgbClr val="C63D44"/>
                </a:solidFill>
                <a:latin typeface="Arial"/>
                <a:ea typeface="Arial"/>
                <a:cs typeface="Arial"/>
              </a:defRPr>
            </a:pPr>
            <a:r>
              <a:rPr sz="2925" b="1">
                <a:solidFill>
                  <a:srgbClr val="C63D44"/>
                </a:solidFill>
                <a:latin typeface="Arial"/>
                <a:ea typeface="Arial"/>
                <a:cs typeface="Arial"/>
              </a:rPr>
              <a:t>Física = 1 × 1024 + 100 = 1124 bytes</a:t>
            </a:r>
          </a:p>
        </p:txBody>
      </p:sp>
      <p:sp>
        <p:nvSpPr>
          <p:cNvPr id="6" name="">
            <a:extLst xmlns:a="http://schemas.openxmlformats.org/drawingml/2006/main">
              <a:ext uri="{FF2B5EF4-FFF2-40B4-BE49-F238E27FC236}">
                <a16:creationId xmlns:a16="http://schemas.microsoft.com/office/drawing/2014/main" id="{CC2A615F-9603-46F1-83AF-09219A81E43C}"/>
              </a:ext>
            </a:extLst>
          </p:cNvPr>
          <p:cNvSpPr>
            <a:spLocks xmlns:a="http://schemas.openxmlformats.org/drawingml/2006/main" noGrp="1"/>
          </p:cNvSpPr>
          <p:nvPr/>
        </p:nvSpPr>
        <p:spPr>
          <a:xfrm xmlns:a="http://schemas.openxmlformats.org/drawingml/2006/main">
            <a:off x="742950" y="58007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20334B"/>
                </a:solidFill>
                <a:latin typeface="Arial"/>
                <a:ea typeface="Arial"/>
                <a:cs typeface="Arial"/>
              </a:defRPr>
            </a:defPPr>
            <a:lvl1pPr>
              <a:defRPr sz="1950">
                <a:solidFill>
                  <a:srgbClr val="20334B"/>
                </a:solidFill>
                <a:latin typeface="Arial"/>
                <a:ea typeface="Arial"/>
                <a:cs typeface="Arial"/>
              </a:defRPr>
            </a:lvl1pPr>
            <a:lvl2pPr>
              <a:defRPr sz="1950">
                <a:solidFill>
                  <a:srgbClr val="20334B"/>
                </a:solidFill>
                <a:latin typeface="Arial"/>
                <a:ea typeface="Arial"/>
                <a:cs typeface="Arial"/>
              </a:defRPr>
            </a:lvl2pPr>
            <a:lvl3pPr>
              <a:defRPr sz="1950">
                <a:solidFill>
                  <a:srgbClr val="20334B"/>
                </a:solidFill>
                <a:latin typeface="Arial"/>
                <a:ea typeface="Arial"/>
                <a:cs typeface="Arial"/>
              </a:defRPr>
            </a:lvl3pPr>
            <a:lvl4pPr>
              <a:defRPr sz="1950">
                <a:solidFill>
                  <a:srgbClr val="20334B"/>
                </a:solidFill>
                <a:latin typeface="Arial"/>
                <a:ea typeface="Arial"/>
                <a:cs typeface="Arial"/>
              </a:defRPr>
            </a:lvl4pPr>
            <a:lvl5pPr>
              <a:defRPr sz="1950">
                <a:solidFill>
                  <a:srgbClr val="20334B"/>
                </a:solidFill>
                <a:latin typeface="Arial"/>
                <a:ea typeface="Arial"/>
                <a:cs typeface="Arial"/>
              </a:defRPr>
            </a:lvl5pPr>
            <a:lvl6pPr>
              <a:defRPr sz="1950">
                <a:solidFill>
                  <a:srgbClr val="20334B"/>
                </a:solidFill>
                <a:latin typeface="Arial"/>
                <a:ea typeface="Arial"/>
                <a:cs typeface="Arial"/>
              </a:defRPr>
            </a:lvl6pPr>
            <a:lvl7pPr>
              <a:defRPr sz="1950">
                <a:solidFill>
                  <a:srgbClr val="20334B"/>
                </a:solidFill>
                <a:latin typeface="Arial"/>
                <a:ea typeface="Arial"/>
                <a:cs typeface="Arial"/>
              </a:defRPr>
            </a:lvl7pPr>
            <a:lvl8pPr>
              <a:defRPr sz="1950">
                <a:solidFill>
                  <a:srgbClr val="20334B"/>
                </a:solidFill>
                <a:latin typeface="Arial"/>
                <a:ea typeface="Arial"/>
                <a:cs typeface="Arial"/>
              </a:defRPr>
            </a:lvl8pPr>
            <a:lvl9pPr>
              <a:defRPr sz="1950">
                <a:solidFill>
                  <a:srgbClr val="20334B"/>
                </a:solidFill>
                <a:latin typeface="Arial"/>
                <a:ea typeface="Arial"/>
                <a:cs typeface="Arial"/>
              </a:defRPr>
            </a:lvl9pPr>
          </a:lstStyle>
          <a:p xmlns:a="http://schemas.openxmlformats.org/drawingml/2006/main">
            <a:pPr>
              <a:defRPr sz="1950">
                <a:solidFill>
                  <a:srgbClr val="20334B"/>
                </a:solidFill>
                <a:latin typeface="Arial"/>
                <a:ea typeface="Arial"/>
                <a:cs typeface="Arial"/>
              </a:defRPr>
            </a:pPr>
            <a:r>
              <a:rPr sz="1950">
                <a:solidFill>
                  <a:srgbClr val="20334B"/>
                </a:solidFill>
                <a:latin typeface="Arial"/>
                <a:ea typeface="Arial"/>
                <a:cs typeface="Arial"/>
              </a:rPr>
              <a:t>7 solicitudes completadas. 6 Faults y 1 Hit.</a:t>
            </a:r>
          </a:p>
        </p:txBody>
      </p:sp>
    </p:spTree>
    <p:extLst>
      <p:ext uri="{BB962C8B-B14F-4D97-AF65-F5344CB8AC3E}">
        <p14:creationId xmlns:p14="http://schemas.microsoft.com/office/powerpoint/2010/main" val="65633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0EF287-A7FC-4613-ACB9-15C80803F4D2}"/>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Segmentación y nuevo escenario</a:t>
            </a:r>
          </a:p>
        </p:txBody>
      </p:sp>
      <p:sp>
        <p:nvSpPr>
          <p:cNvPr id="2" name="">
            <a:extLst xmlns:a="http://schemas.openxmlformats.org/drawingml/2006/main">
              <a:ext uri="{FF2B5EF4-FFF2-40B4-BE49-F238E27FC236}">
                <a16:creationId xmlns:a16="http://schemas.microsoft.com/office/drawing/2014/main" id="{D7C167A8-E80E-42F4-B2DD-DC78AB2BD18A}"/>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Cada segmento tiene una base y un tamaño propios.</a:t>
            </a:r>
          </a:p>
        </p:txBody>
      </p:sp>
      <p:sp>
        <p:nvSpPr>
          <p:cNvPr id="3" name="">
            <a:extLst xmlns:a="http://schemas.openxmlformats.org/drawingml/2006/main">
              <a:ext uri="{FF2B5EF4-FFF2-40B4-BE49-F238E27FC236}">
                <a16:creationId xmlns:a16="http://schemas.microsoft.com/office/drawing/2014/main" id="{E126EAC4-6E4C-4FBA-BBE5-CE70F509FE38}"/>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Rebeca Alizon Najarro Duarte     36:00 a 39:00     16 de 24</a:t>
            </a:r>
          </a:p>
        </p:txBody>
      </p:sp>
      <p:graphicFrame>
        <p:nvGraphicFramePr>
          <p:cNvPr id="4" name="">
            <a:extLst xmlns:a="http://schemas.openxmlformats.org/drawingml/2006/main">
              <a:ext uri="{FF2B5EF4-FFF2-40B4-BE49-F238E27FC236}">
                <a16:creationId xmlns:a16="http://schemas.microsoft.com/office/drawing/2014/main" id="{18A29E09-90DA-4404-B703-47C1C2F6F63D}"/>
              </a:ext>
            </a:extLst>
          </p:cNvPr>
          <p:cNvGraphicFramePr/>
          <p:nvPr/>
        </p:nvGraphicFramePr>
        <p:xfrm>
          <a:off xmlns:a="http://schemas.openxmlformats.org/drawingml/2006/main" x="685800" y="2019300"/>
          <a:ext xmlns:a="http://schemas.openxmlformats.org/drawingml/2006/main" cx="10820400" cy="3048000"/>
        </p:xfrm>
        <a:graphic xmlns:a="http://schemas.openxmlformats.org/drawingml/2006/main">
          <a:graphicData uri="http://schemas.openxmlformats.org/drawingml/2006/table">
            <a:tbl>
              <a:tblPr firstRow="1" bandRow="0"/>
              <a:tblGrid>
                <a:gridCol w="3048000"/>
                <a:gridCol w="2286000"/>
                <a:gridCol w="5486400"/>
              </a:tblGrid>
              <a:tr h="609600">
                <a:tc>
                  <a:txBody>
                    <a:bodyPr>
                      <a:noAutofit/>
                    </a:bodyPr>
                    <a:lstStyle/>
                    <a:p>
                      <a:r>
                        <a:rPr sz="1875" b="1">
                          <a:solidFill>
                            <a:srgbClr val="FFFFFF"/>
                          </a:solidFill>
                          <a:latin typeface="Arial"/>
                          <a:ea typeface="Arial"/>
                          <a:cs typeface="Arial"/>
                        </a:rPr>
                        <a:t>Formulario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1875" b="1">
                          <a:solidFill>
                            <a:srgbClr val="FFFFFF"/>
                          </a:solidFill>
                          <a:latin typeface="Arial"/>
                          <a:ea typeface="Arial"/>
                          <a:cs typeface="Arial"/>
                        </a:rPr>
                        <a:t>Campo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1875" b="1">
                          <a:solidFill>
                            <a:srgbClr val="FFFFFF"/>
                          </a:solidFill>
                          <a:latin typeface="Arial"/>
                          <a:ea typeface="Arial"/>
                          <a:cs typeface="Arial"/>
                        </a:rPr>
                        <a:t>Valor</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09600">
                <a:tc>
                  <a:txBody>
                    <a:bodyPr>
                      <a:noAutofit/>
                    </a:bodyPr>
                    <a:lstStyle/>
                    <a:p>
                      <a:r>
                        <a:rPr sz="1875" b="0">
                          <a:solidFill>
                            <a:srgbClr val="20334B"/>
                          </a:solidFill>
                          <a:latin typeface="Arial"/>
                          <a:ea typeface="Arial"/>
                          <a:cs typeface="Arial"/>
                        </a:rPr>
                        <a:t>Nuevo escenario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Nombre</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Exposición G3 Segmentación 01</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1875" b="0">
                          <a:solidFill>
                            <a:srgbClr val="20334B"/>
                          </a:solidFill>
                          <a:latin typeface="Arial"/>
                          <a:ea typeface="Arial"/>
                          <a:cs typeface="Arial"/>
                        </a:rPr>
                        <a:t>Nuevo escenario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RAM total</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16 KB</a:t>
                      </a:r>
                    </a:p>
                  </a:txBody>
                  <a:tcPr marL="133350" marR="133350" marT="85725" marB="76200">
                    <a:lnR w="9525">
                      <a:solidFill>
                        <a:srgbClr val="D9D9D9"/>
                      </a:solidFill>
                      <a:prstDash val="solid"/>
                    </a:lnR>
                    <a:lnB w="9525">
                      <a:solidFill>
                        <a:srgbClr val="D9D9D9"/>
                      </a:solidFill>
                      <a:prstDash val="solid"/>
                    </a:lnB>
                    <a:solidFill>
                      <a:srgbClr val="F2F5F9"/>
                    </a:solidFill>
                  </a:tcPr>
                </a:tc>
              </a:tr>
              <a:tr h="609600">
                <a:tc>
                  <a:txBody>
                    <a:bodyPr>
                      <a:noAutofit/>
                    </a:bodyPr>
                    <a:lstStyle/>
                    <a:p>
                      <a:r>
                        <a:rPr sz="1875" b="0">
                          <a:solidFill>
                            <a:srgbClr val="20334B"/>
                          </a:solidFill>
                          <a:latin typeface="Arial"/>
                          <a:ea typeface="Arial"/>
                          <a:cs typeface="Arial"/>
                        </a:rPr>
                        <a:t>Crear proceso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Nombre</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1875" b="0">
                          <a:solidFill>
                            <a:srgbClr val="20334B"/>
                          </a:solidFill>
                          <a:latin typeface="Arial"/>
                          <a:ea typeface="Arial"/>
                          <a:cs typeface="Arial"/>
                        </a:rPr>
                        <a:t>Editor</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1875" b="0">
                          <a:solidFill>
                            <a:srgbClr val="20334B"/>
                          </a:solidFill>
                          <a:latin typeface="Arial"/>
                          <a:ea typeface="Arial"/>
                          <a:cs typeface="Arial"/>
                        </a:rPr>
                        <a:t>Crear proceso</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Tamaño</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1875" b="0">
                          <a:solidFill>
                            <a:srgbClr val="20334B"/>
                          </a:solidFill>
                          <a:latin typeface="Arial"/>
                          <a:ea typeface="Arial"/>
                          <a:cs typeface="Arial"/>
                        </a:rPr>
                        <a:t>4 KB</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C518024D-68BB-49FC-972D-752B1DBCE1C8}"/>
              </a:ext>
            </a:extLst>
          </p:cNvPr>
          <p:cNvSpPr>
            <a:spLocks xmlns:a="http://schemas.openxmlformats.org/drawingml/2006/main" noGrp="1"/>
          </p:cNvSpPr>
          <p:nvPr/>
        </p:nvSpPr>
        <p:spPr>
          <a:xfrm xmlns:a="http://schemas.openxmlformats.org/drawingml/2006/main">
            <a:off x="742950" y="55245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a:solidFill>
                  <a:srgbClr val="C63D44"/>
                </a:solidFill>
                <a:latin typeface="Arial"/>
                <a:ea typeface="Arial"/>
                <a:cs typeface="Arial"/>
              </a:defRPr>
            </a:defPPr>
            <a:lvl1pPr>
              <a:defRPr sz="2175">
                <a:solidFill>
                  <a:srgbClr val="C63D44"/>
                </a:solidFill>
                <a:latin typeface="Arial"/>
                <a:ea typeface="Arial"/>
                <a:cs typeface="Arial"/>
              </a:defRPr>
            </a:lvl1pPr>
            <a:lvl2pPr>
              <a:defRPr sz="2175">
                <a:solidFill>
                  <a:srgbClr val="C63D44"/>
                </a:solidFill>
                <a:latin typeface="Arial"/>
                <a:ea typeface="Arial"/>
                <a:cs typeface="Arial"/>
              </a:defRPr>
            </a:lvl2pPr>
            <a:lvl3pPr>
              <a:defRPr sz="2175">
                <a:solidFill>
                  <a:srgbClr val="C63D44"/>
                </a:solidFill>
                <a:latin typeface="Arial"/>
                <a:ea typeface="Arial"/>
                <a:cs typeface="Arial"/>
              </a:defRPr>
            </a:lvl3pPr>
            <a:lvl4pPr>
              <a:defRPr sz="2175">
                <a:solidFill>
                  <a:srgbClr val="C63D44"/>
                </a:solidFill>
                <a:latin typeface="Arial"/>
                <a:ea typeface="Arial"/>
                <a:cs typeface="Arial"/>
              </a:defRPr>
            </a:lvl4pPr>
            <a:lvl5pPr>
              <a:defRPr sz="2175">
                <a:solidFill>
                  <a:srgbClr val="C63D44"/>
                </a:solidFill>
                <a:latin typeface="Arial"/>
                <a:ea typeface="Arial"/>
                <a:cs typeface="Arial"/>
              </a:defRPr>
            </a:lvl5pPr>
            <a:lvl6pPr>
              <a:defRPr sz="2175">
                <a:solidFill>
                  <a:srgbClr val="C63D44"/>
                </a:solidFill>
                <a:latin typeface="Arial"/>
                <a:ea typeface="Arial"/>
                <a:cs typeface="Arial"/>
              </a:defRPr>
            </a:lvl6pPr>
            <a:lvl7pPr>
              <a:defRPr sz="2175">
                <a:solidFill>
                  <a:srgbClr val="C63D44"/>
                </a:solidFill>
                <a:latin typeface="Arial"/>
                <a:ea typeface="Arial"/>
                <a:cs typeface="Arial"/>
              </a:defRPr>
            </a:lvl7pPr>
            <a:lvl8pPr>
              <a:defRPr sz="2175">
                <a:solidFill>
                  <a:srgbClr val="C63D44"/>
                </a:solidFill>
                <a:latin typeface="Arial"/>
                <a:ea typeface="Arial"/>
                <a:cs typeface="Arial"/>
              </a:defRPr>
            </a:lvl8pPr>
            <a:lvl9pPr>
              <a:defRPr sz="2175">
                <a:solidFill>
                  <a:srgbClr val="C63D44"/>
                </a:solidFill>
                <a:latin typeface="Arial"/>
                <a:ea typeface="Arial"/>
                <a:cs typeface="Arial"/>
              </a:defRPr>
            </a:lvl9pPr>
          </a:lstStyle>
          <a:p xmlns:a="http://schemas.openxmlformats.org/drawingml/2006/main">
            <a:pPr>
              <a:defRPr sz="2175">
                <a:solidFill>
                  <a:srgbClr val="C63D44"/>
                </a:solidFill>
                <a:latin typeface="Arial"/>
                <a:ea typeface="Arial"/>
                <a:cs typeface="Arial"/>
              </a:defRPr>
            </a:pPr>
            <a:r>
              <a:rPr sz="2175">
                <a:solidFill>
                  <a:srgbClr val="C63D44"/>
                </a:solidFill>
                <a:latin typeface="Arial"/>
                <a:ea typeface="Arial"/>
                <a:cs typeface="Arial"/>
              </a:rPr>
              <a:t>Código, Datos, Stack y Heap tienen tamaños diferentes.</a:t>
            </a:r>
          </a:p>
        </p:txBody>
      </p:sp>
    </p:spTree>
    <p:extLst>
      <p:ext uri="{BB962C8B-B14F-4D97-AF65-F5344CB8AC3E}">
        <p14:creationId xmlns:p14="http://schemas.microsoft.com/office/powerpoint/2010/main" val="373835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566960-2030-4B4B-8CDB-B643F4CAE366}"/>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Tabla de segmentos de Editor</a:t>
            </a:r>
          </a:p>
        </p:txBody>
      </p:sp>
      <p:sp>
        <p:nvSpPr>
          <p:cNvPr id="2" name="">
            <a:extLst xmlns:a="http://schemas.openxmlformats.org/drawingml/2006/main">
              <a:ext uri="{FF2B5EF4-FFF2-40B4-BE49-F238E27FC236}">
                <a16:creationId xmlns:a16="http://schemas.microsoft.com/office/drawing/2014/main" id="{2C702589-3795-444A-BA0E-639AB944FA43}"/>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Las bases y los tamaños se ingresan en bytes.</a:t>
            </a:r>
          </a:p>
        </p:txBody>
      </p:sp>
      <p:sp>
        <p:nvSpPr>
          <p:cNvPr id="3" name="">
            <a:extLst xmlns:a="http://schemas.openxmlformats.org/drawingml/2006/main">
              <a:ext uri="{FF2B5EF4-FFF2-40B4-BE49-F238E27FC236}">
                <a16:creationId xmlns:a16="http://schemas.microsoft.com/office/drawing/2014/main" id="{EE2ED018-4AA6-4DF8-A2CD-ED5871BCD35E}"/>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Rebeca Alizon Najarro Duarte     39:00 a 42:00     17 de 24</a:t>
            </a:r>
          </a:p>
        </p:txBody>
      </p:sp>
      <p:graphicFrame>
        <p:nvGraphicFramePr>
          <p:cNvPr id="4" name="">
            <a:extLst xmlns:a="http://schemas.openxmlformats.org/drawingml/2006/main">
              <a:ext uri="{FF2B5EF4-FFF2-40B4-BE49-F238E27FC236}">
                <a16:creationId xmlns:a16="http://schemas.microsoft.com/office/drawing/2014/main" id="{646D6495-C634-4F17-86A5-6470D9BF3140}"/>
              </a:ext>
            </a:extLst>
          </p:cNvPr>
          <p:cNvGraphicFramePr/>
          <p:nvPr/>
        </p:nvGraphicFramePr>
        <p:xfrm>
          <a:off xmlns:a="http://schemas.openxmlformats.org/drawingml/2006/main" x="685800" y="2000250"/>
          <a:ext xmlns:a="http://schemas.openxmlformats.org/drawingml/2006/main" cx="10820400" cy="3048000"/>
        </p:xfrm>
        <a:graphic xmlns:a="http://schemas.openxmlformats.org/drawingml/2006/main">
          <a:graphicData uri="http://schemas.openxmlformats.org/drawingml/2006/table">
            <a:tbl>
              <a:tblPr firstRow="1" bandRow="0"/>
              <a:tblGrid>
                <a:gridCol w="3143250"/>
                <a:gridCol w="2190750"/>
                <a:gridCol w="2190750"/>
                <a:gridCol w="3295650"/>
              </a:tblGrid>
              <a:tr h="609600">
                <a:tc>
                  <a:txBody>
                    <a:bodyPr>
                      <a:noAutofit/>
                    </a:bodyPr>
                    <a:lstStyle/>
                    <a:p>
                      <a:r>
                        <a:rPr sz="2100" b="1">
                          <a:solidFill>
                            <a:srgbClr val="FFFFFF"/>
                          </a:solidFill>
                          <a:latin typeface="Arial"/>
                          <a:ea typeface="Arial"/>
                          <a:cs typeface="Arial"/>
                        </a:rPr>
                        <a:t>Segmento</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Base</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Tamaño</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00" b="1">
                          <a:solidFill>
                            <a:srgbClr val="FFFFFF"/>
                          </a:solidFill>
                          <a:latin typeface="Arial"/>
                          <a:ea typeface="Arial"/>
                          <a:cs typeface="Arial"/>
                        </a:rPr>
                        <a:t>Última dirección</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09600">
                <a:tc>
                  <a:txBody>
                    <a:bodyPr>
                      <a:noAutofit/>
                    </a:bodyPr>
                    <a:lstStyle/>
                    <a:p>
                      <a:r>
                        <a:rPr sz="2100" b="0">
                          <a:solidFill>
                            <a:srgbClr val="20334B"/>
                          </a:solidFill>
                          <a:latin typeface="Arial"/>
                          <a:ea typeface="Arial"/>
                          <a:cs typeface="Arial"/>
                        </a:rPr>
                        <a:t>Código S0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1000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1200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2199</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100" b="0">
                          <a:solidFill>
                            <a:srgbClr val="20334B"/>
                          </a:solidFill>
                          <a:latin typeface="Arial"/>
                          <a:ea typeface="Arial"/>
                          <a:cs typeface="Arial"/>
                        </a:rPr>
                        <a:t>Datos S1</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4000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800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4799</a:t>
                      </a:r>
                    </a:p>
                  </a:txBody>
                  <a:tcPr marL="133350" marR="133350" marT="85725" marB="76200">
                    <a:lnR w="9525">
                      <a:solidFill>
                        <a:srgbClr val="D9D9D9"/>
                      </a:solidFill>
                      <a:prstDash val="solid"/>
                    </a:lnR>
                    <a:lnB w="9525">
                      <a:solidFill>
                        <a:srgbClr val="D9D9D9"/>
                      </a:solidFill>
                      <a:prstDash val="solid"/>
                    </a:lnB>
                    <a:solidFill>
                      <a:srgbClr val="F2F5F9"/>
                    </a:solidFill>
                  </a:tcPr>
                </a:tc>
              </a:tr>
              <a:tr h="609600">
                <a:tc>
                  <a:txBody>
                    <a:bodyPr>
                      <a:noAutofit/>
                    </a:bodyPr>
                    <a:lstStyle/>
                    <a:p>
                      <a:r>
                        <a:rPr sz="2100" b="0">
                          <a:solidFill>
                            <a:srgbClr val="20334B"/>
                          </a:solidFill>
                          <a:latin typeface="Arial"/>
                          <a:ea typeface="Arial"/>
                          <a:cs typeface="Arial"/>
                        </a:rPr>
                        <a:t>Stack S2</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7000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600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00" b="0">
                          <a:solidFill>
                            <a:srgbClr val="20334B"/>
                          </a:solidFill>
                          <a:latin typeface="Arial"/>
                          <a:ea typeface="Arial"/>
                          <a:cs typeface="Arial"/>
                        </a:rPr>
                        <a:t>7599</a:t>
                      </a:r>
                    </a:p>
                  </a:txBody>
                  <a:tcPr marL="133350" marR="133350" marT="85725" marB="76200">
                    <a:lnR w="9525">
                      <a:solidFill>
                        <a:srgbClr val="D9D9D9"/>
                      </a:solidFill>
                      <a:prstDash val="solid"/>
                    </a:lnR>
                    <a:lnB w="9525">
                      <a:solidFill>
                        <a:srgbClr val="D9D9D9"/>
                      </a:solidFill>
                      <a:prstDash val="solid"/>
                    </a:lnB>
                    <a:solidFill>
                      <a:srgbClr val="FFFFFF"/>
                    </a:solidFill>
                  </a:tcPr>
                </a:tc>
              </a:tr>
              <a:tr h="609600">
                <a:tc>
                  <a:txBody>
                    <a:bodyPr>
                      <a:noAutofit/>
                    </a:bodyPr>
                    <a:lstStyle/>
                    <a:p>
                      <a:r>
                        <a:rPr sz="2100" b="0">
                          <a:solidFill>
                            <a:srgbClr val="20334B"/>
                          </a:solidFill>
                          <a:latin typeface="Arial"/>
                          <a:ea typeface="Arial"/>
                          <a:cs typeface="Arial"/>
                        </a:rPr>
                        <a:t>Heap S3</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9000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1000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00" b="0">
                          <a:solidFill>
                            <a:srgbClr val="20334B"/>
                          </a:solidFill>
                          <a:latin typeface="Arial"/>
                          <a:ea typeface="Arial"/>
                          <a:cs typeface="Arial"/>
                        </a:rPr>
                        <a:t>9999</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A628D387-1629-4563-BAF1-2DD9E488C632}"/>
              </a:ext>
            </a:extLst>
          </p:cNvPr>
          <p:cNvSpPr>
            <a:spLocks xmlns:a="http://schemas.openxmlformats.org/drawingml/2006/main" noGrp="1"/>
          </p:cNvSpPr>
          <p:nvPr/>
        </p:nvSpPr>
        <p:spPr>
          <a:xfrm xmlns:a="http://schemas.openxmlformats.org/drawingml/2006/main">
            <a:off x="742950" y="550545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C63D44"/>
                </a:solidFill>
                <a:latin typeface="Arial"/>
                <a:ea typeface="Arial"/>
                <a:cs typeface="Arial"/>
              </a:defRPr>
            </a:defPPr>
            <a:lvl1pPr>
              <a:defRPr sz="2325">
                <a:solidFill>
                  <a:srgbClr val="C63D44"/>
                </a:solidFill>
                <a:latin typeface="Arial"/>
                <a:ea typeface="Arial"/>
                <a:cs typeface="Arial"/>
              </a:defRPr>
            </a:lvl1pPr>
            <a:lvl2pPr>
              <a:defRPr sz="2325">
                <a:solidFill>
                  <a:srgbClr val="C63D44"/>
                </a:solidFill>
                <a:latin typeface="Arial"/>
                <a:ea typeface="Arial"/>
                <a:cs typeface="Arial"/>
              </a:defRPr>
            </a:lvl2pPr>
            <a:lvl3pPr>
              <a:defRPr sz="2325">
                <a:solidFill>
                  <a:srgbClr val="C63D44"/>
                </a:solidFill>
                <a:latin typeface="Arial"/>
                <a:ea typeface="Arial"/>
                <a:cs typeface="Arial"/>
              </a:defRPr>
            </a:lvl3pPr>
            <a:lvl4pPr>
              <a:defRPr sz="2325">
                <a:solidFill>
                  <a:srgbClr val="C63D44"/>
                </a:solidFill>
                <a:latin typeface="Arial"/>
                <a:ea typeface="Arial"/>
                <a:cs typeface="Arial"/>
              </a:defRPr>
            </a:lvl4pPr>
            <a:lvl5pPr>
              <a:defRPr sz="2325">
                <a:solidFill>
                  <a:srgbClr val="C63D44"/>
                </a:solidFill>
                <a:latin typeface="Arial"/>
                <a:ea typeface="Arial"/>
                <a:cs typeface="Arial"/>
              </a:defRPr>
            </a:lvl5pPr>
            <a:lvl6pPr>
              <a:defRPr sz="2325">
                <a:solidFill>
                  <a:srgbClr val="C63D44"/>
                </a:solidFill>
                <a:latin typeface="Arial"/>
                <a:ea typeface="Arial"/>
                <a:cs typeface="Arial"/>
              </a:defRPr>
            </a:lvl6pPr>
            <a:lvl7pPr>
              <a:defRPr sz="2325">
                <a:solidFill>
                  <a:srgbClr val="C63D44"/>
                </a:solidFill>
                <a:latin typeface="Arial"/>
                <a:ea typeface="Arial"/>
                <a:cs typeface="Arial"/>
              </a:defRPr>
            </a:lvl7pPr>
            <a:lvl8pPr>
              <a:defRPr sz="2325">
                <a:solidFill>
                  <a:srgbClr val="C63D44"/>
                </a:solidFill>
                <a:latin typeface="Arial"/>
                <a:ea typeface="Arial"/>
                <a:cs typeface="Arial"/>
              </a:defRPr>
            </a:lvl8pPr>
            <a:lvl9pPr>
              <a:defRPr sz="2325">
                <a:solidFill>
                  <a:srgbClr val="C63D44"/>
                </a:solidFill>
                <a:latin typeface="Arial"/>
                <a:ea typeface="Arial"/>
                <a:cs typeface="Arial"/>
              </a:defRPr>
            </a:lvl9pPr>
          </a:lstStyle>
          <a:p xmlns:a="http://schemas.openxmlformats.org/drawingml/2006/main">
            <a:pPr>
              <a:defRPr sz="2325">
                <a:solidFill>
                  <a:srgbClr val="C63D44"/>
                </a:solidFill>
                <a:latin typeface="Arial"/>
                <a:ea typeface="Arial"/>
                <a:cs typeface="Arial"/>
              </a:defRPr>
            </a:pPr>
            <a:r>
              <a:rPr sz="2325">
                <a:solidFill>
                  <a:srgbClr val="C63D44"/>
                </a:solidFill>
                <a:latin typeface="Arial"/>
                <a:ea typeface="Arial"/>
                <a:cs typeface="Arial"/>
              </a:rPr>
              <a:t>RAM ocupada 3600 bytes. Disponible 12784 bytes.</a:t>
            </a:r>
          </a:p>
        </p:txBody>
      </p:sp>
    </p:spTree>
    <p:extLst>
      <p:ext uri="{BB962C8B-B14F-4D97-AF65-F5344CB8AC3E}">
        <p14:creationId xmlns:p14="http://schemas.microsoft.com/office/powerpoint/2010/main" val="8608449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FAA3B6-5596-4E35-A4BE-F57EB40DC7B0}"/>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Accesos dentro del segmento Código</a:t>
            </a:r>
          </a:p>
        </p:txBody>
      </p:sp>
      <p:sp>
        <p:nvSpPr>
          <p:cNvPr id="2" name="">
            <a:extLst xmlns:a="http://schemas.openxmlformats.org/drawingml/2006/main">
              <a:ext uri="{FF2B5EF4-FFF2-40B4-BE49-F238E27FC236}">
                <a16:creationId xmlns:a16="http://schemas.microsoft.com/office/drawing/2014/main" id="{B66F3941-2D18-4A8B-8348-3A601EF0E4CB}"/>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Base 1000. Tamaño y límite 1200 bytes.</a:t>
            </a:r>
          </a:p>
        </p:txBody>
      </p:sp>
      <p:sp>
        <p:nvSpPr>
          <p:cNvPr id="3" name="">
            <a:extLst xmlns:a="http://schemas.openxmlformats.org/drawingml/2006/main">
              <a:ext uri="{FF2B5EF4-FFF2-40B4-BE49-F238E27FC236}">
                <a16:creationId xmlns:a16="http://schemas.microsoft.com/office/drawing/2014/main" id="{B5B67AA1-950B-4C6D-A9B4-893FACB9E3EE}"/>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Rebeca Alizon Najarro Duarte     42:00 a 45:00     18 de 24</a:t>
            </a:r>
          </a:p>
        </p:txBody>
      </p:sp>
      <p:graphicFrame>
        <p:nvGraphicFramePr>
          <p:cNvPr id="4" name="">
            <a:extLst xmlns:a="http://schemas.openxmlformats.org/drawingml/2006/main">
              <a:ext uri="{FF2B5EF4-FFF2-40B4-BE49-F238E27FC236}">
                <a16:creationId xmlns:a16="http://schemas.microsoft.com/office/drawing/2014/main" id="{28E29500-7C7F-482A-9DEE-B3BAB70DAFED}"/>
              </a:ext>
            </a:extLst>
          </p:cNvPr>
          <p:cNvGraphicFramePr/>
          <p:nvPr/>
        </p:nvGraphicFramePr>
        <p:xfrm>
          <a:off xmlns:a="http://schemas.openxmlformats.org/drawingml/2006/main" x="685800" y="2228850"/>
          <a:ext xmlns:a="http://schemas.openxmlformats.org/drawingml/2006/main" cx="10820400" cy="2286000"/>
        </p:xfrm>
        <a:graphic xmlns:a="http://schemas.openxmlformats.org/drawingml/2006/main">
          <a:graphicData uri="http://schemas.openxmlformats.org/drawingml/2006/table">
            <a:tbl>
              <a:tblPr firstRow="1" bandRow="0"/>
              <a:tblGrid>
                <a:gridCol w="2000250"/>
                <a:gridCol w="3714750"/>
                <a:gridCol w="5105400"/>
              </a:tblGrid>
              <a:tr h="762000">
                <a:tc>
                  <a:txBody>
                    <a:bodyPr>
                      <a:noAutofit/>
                    </a:bodyPr>
                    <a:lstStyle/>
                    <a:p>
                      <a:r>
                        <a:rPr sz="2175" b="1">
                          <a:solidFill>
                            <a:srgbClr val="FFFFFF"/>
                          </a:solidFill>
                          <a:latin typeface="Arial"/>
                          <a:ea typeface="Arial"/>
                          <a:cs typeface="Arial"/>
                        </a:rPr>
                        <a:t>Offset</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75" b="1">
                          <a:solidFill>
                            <a:srgbClr val="FFFFFF"/>
                          </a:solidFill>
                          <a:latin typeface="Arial"/>
                          <a:ea typeface="Arial"/>
                          <a:cs typeface="Arial"/>
                        </a:rPr>
                        <a:t>Comprobación</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175" b="1">
                          <a:solidFill>
                            <a:srgbClr val="FFFFFF"/>
                          </a:solidFill>
                          <a:latin typeface="Arial"/>
                          <a:ea typeface="Arial"/>
                          <a:cs typeface="Arial"/>
                        </a:rPr>
                        <a:t>Dirección física</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762000">
                <a:tc>
                  <a:txBody>
                    <a:bodyPr>
                      <a:noAutofit/>
                    </a:bodyPr>
                    <a:lstStyle/>
                    <a:p>
                      <a:r>
                        <a:rPr sz="2175" b="0">
                          <a:solidFill>
                            <a:srgbClr val="20334B"/>
                          </a:solidFill>
                          <a:latin typeface="Arial"/>
                          <a:ea typeface="Arial"/>
                          <a:cs typeface="Arial"/>
                        </a:rPr>
                        <a:t>100</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100 &lt; 1200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175" b="0">
                          <a:solidFill>
                            <a:srgbClr val="20334B"/>
                          </a:solidFill>
                          <a:latin typeface="Arial"/>
                          <a:ea typeface="Arial"/>
                          <a:cs typeface="Arial"/>
                        </a:rPr>
                        <a:t>1000 + 100 = 1100</a:t>
                      </a:r>
                    </a:p>
                  </a:txBody>
                  <a:tcPr marL="133350" marR="133350" marT="85725" marB="76200">
                    <a:lnR w="9525">
                      <a:solidFill>
                        <a:srgbClr val="D9D9D9"/>
                      </a:solidFill>
                      <a:prstDash val="solid"/>
                    </a:lnR>
                    <a:lnB w="9525">
                      <a:solidFill>
                        <a:srgbClr val="D9D9D9"/>
                      </a:solidFill>
                      <a:prstDash val="solid"/>
                    </a:lnB>
                    <a:solidFill>
                      <a:srgbClr val="FFFFFF"/>
                    </a:solidFill>
                  </a:tcPr>
                </a:tc>
              </a:tr>
              <a:tr h="762000">
                <a:tc>
                  <a:txBody>
                    <a:bodyPr>
                      <a:noAutofit/>
                    </a:bodyPr>
                    <a:lstStyle/>
                    <a:p>
                      <a:r>
                        <a:rPr sz="2175" b="0">
                          <a:solidFill>
                            <a:srgbClr val="20334B"/>
                          </a:solidFill>
                          <a:latin typeface="Arial"/>
                          <a:ea typeface="Arial"/>
                          <a:cs typeface="Arial"/>
                        </a:rPr>
                        <a:t>1199</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175" b="0">
                          <a:solidFill>
                            <a:srgbClr val="20334B"/>
                          </a:solidFill>
                          <a:latin typeface="Arial"/>
                          <a:ea typeface="Arial"/>
                          <a:cs typeface="Arial"/>
                        </a:rPr>
                        <a:t>1199 &lt; 1200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175" b="0">
                          <a:solidFill>
                            <a:srgbClr val="20334B"/>
                          </a:solidFill>
                          <a:latin typeface="Arial"/>
                          <a:ea typeface="Arial"/>
                          <a:cs typeface="Arial"/>
                        </a:rPr>
                        <a:t>1000 + 1199 = 2199</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BA302176-5753-4559-AB59-DB4BB3EF05EB}"/>
              </a:ext>
            </a:extLst>
          </p:cNvPr>
          <p:cNvSpPr>
            <a:spLocks xmlns:a="http://schemas.openxmlformats.org/drawingml/2006/main" noGrp="1"/>
          </p:cNvSpPr>
          <p:nvPr/>
        </p:nvSpPr>
        <p:spPr>
          <a:xfrm xmlns:a="http://schemas.openxmlformats.org/drawingml/2006/main">
            <a:off x="742950" y="5086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1">
                <a:solidFill>
                  <a:srgbClr val="25724D"/>
                </a:solidFill>
                <a:latin typeface="Arial"/>
                <a:ea typeface="Arial"/>
                <a:cs typeface="Arial"/>
              </a:defRPr>
            </a:defPPr>
            <a:lvl1pPr>
              <a:defRPr sz="2925" b="1">
                <a:solidFill>
                  <a:srgbClr val="25724D"/>
                </a:solidFill>
                <a:latin typeface="Arial"/>
                <a:ea typeface="Arial"/>
                <a:cs typeface="Arial"/>
              </a:defRPr>
            </a:lvl1pPr>
            <a:lvl2pPr>
              <a:defRPr sz="2925" b="1">
                <a:solidFill>
                  <a:srgbClr val="25724D"/>
                </a:solidFill>
                <a:latin typeface="Arial"/>
                <a:ea typeface="Arial"/>
                <a:cs typeface="Arial"/>
              </a:defRPr>
            </a:lvl2pPr>
            <a:lvl3pPr>
              <a:defRPr sz="2925" b="1">
                <a:solidFill>
                  <a:srgbClr val="25724D"/>
                </a:solidFill>
                <a:latin typeface="Arial"/>
                <a:ea typeface="Arial"/>
                <a:cs typeface="Arial"/>
              </a:defRPr>
            </a:lvl3pPr>
            <a:lvl4pPr>
              <a:defRPr sz="2925" b="1">
                <a:solidFill>
                  <a:srgbClr val="25724D"/>
                </a:solidFill>
                <a:latin typeface="Arial"/>
                <a:ea typeface="Arial"/>
                <a:cs typeface="Arial"/>
              </a:defRPr>
            </a:lvl4pPr>
            <a:lvl5pPr>
              <a:defRPr sz="2925" b="1">
                <a:solidFill>
                  <a:srgbClr val="25724D"/>
                </a:solidFill>
                <a:latin typeface="Arial"/>
                <a:ea typeface="Arial"/>
                <a:cs typeface="Arial"/>
              </a:defRPr>
            </a:lvl5pPr>
            <a:lvl6pPr>
              <a:defRPr sz="2925" b="1">
                <a:solidFill>
                  <a:srgbClr val="25724D"/>
                </a:solidFill>
                <a:latin typeface="Arial"/>
                <a:ea typeface="Arial"/>
                <a:cs typeface="Arial"/>
              </a:defRPr>
            </a:lvl6pPr>
            <a:lvl7pPr>
              <a:defRPr sz="2925" b="1">
                <a:solidFill>
                  <a:srgbClr val="25724D"/>
                </a:solidFill>
                <a:latin typeface="Arial"/>
                <a:ea typeface="Arial"/>
                <a:cs typeface="Arial"/>
              </a:defRPr>
            </a:lvl7pPr>
            <a:lvl8pPr>
              <a:defRPr sz="2925" b="1">
                <a:solidFill>
                  <a:srgbClr val="25724D"/>
                </a:solidFill>
                <a:latin typeface="Arial"/>
                <a:ea typeface="Arial"/>
                <a:cs typeface="Arial"/>
              </a:defRPr>
            </a:lvl8pPr>
            <a:lvl9pPr>
              <a:defRPr sz="2925" b="1">
                <a:solidFill>
                  <a:srgbClr val="25724D"/>
                </a:solidFill>
                <a:latin typeface="Arial"/>
                <a:ea typeface="Arial"/>
                <a:cs typeface="Arial"/>
              </a:defRPr>
            </a:lvl9pPr>
          </a:lstStyle>
          <a:p xmlns:a="http://schemas.openxmlformats.org/drawingml/2006/main">
            <a:pPr>
              <a:defRPr sz="2925" b="1">
                <a:solidFill>
                  <a:srgbClr val="25724D"/>
                </a:solidFill>
                <a:latin typeface="Arial"/>
                <a:ea typeface="Arial"/>
                <a:cs typeface="Arial"/>
              </a:defRPr>
            </a:pPr>
            <a:r>
              <a:rPr sz="2925" b="1">
                <a:solidFill>
                  <a:srgbClr val="25724D"/>
                </a:solidFill>
                <a:latin typeface="Arial"/>
                <a:ea typeface="Arial"/>
                <a:cs typeface="Arial"/>
              </a:rPr>
              <a:t>Último desplazamiento válido 1199</a:t>
            </a:r>
          </a:p>
        </p:txBody>
      </p:sp>
    </p:spTree>
    <p:extLst>
      <p:ext uri="{BB962C8B-B14F-4D97-AF65-F5344CB8AC3E}">
        <p14:creationId xmlns:p14="http://schemas.microsoft.com/office/powerpoint/2010/main" val="19639655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CE87D2-B429-47F4-AC60-3B9B100D4916}"/>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Acceso fuera del límite</a:t>
            </a:r>
          </a:p>
        </p:txBody>
      </p:sp>
      <p:sp>
        <p:nvSpPr>
          <p:cNvPr id="2" name="">
            <a:extLst xmlns:a="http://schemas.openxmlformats.org/drawingml/2006/main">
              <a:ext uri="{FF2B5EF4-FFF2-40B4-BE49-F238E27FC236}">
                <a16:creationId xmlns:a16="http://schemas.microsoft.com/office/drawing/2014/main" id="{B2BD9A3D-3913-40CF-B6D2-02B5E08BA0AA}"/>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Código conserva su tamaño de 1200 bytes.</a:t>
            </a:r>
          </a:p>
        </p:txBody>
      </p:sp>
      <p:sp>
        <p:nvSpPr>
          <p:cNvPr id="3" name="">
            <a:extLst xmlns:a="http://schemas.openxmlformats.org/drawingml/2006/main">
              <a:ext uri="{FF2B5EF4-FFF2-40B4-BE49-F238E27FC236}">
                <a16:creationId xmlns:a16="http://schemas.microsoft.com/office/drawing/2014/main" id="{F796193B-2F25-48EA-A282-1621265C2D5D}"/>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Rebeca Alizon Najarro Duarte     45:00 a 48:00     19 de 24</a:t>
            </a:r>
          </a:p>
        </p:txBody>
      </p:sp>
      <p:sp>
        <p:nvSpPr>
          <p:cNvPr id="4" name="">
            <a:extLst xmlns:a="http://schemas.openxmlformats.org/drawingml/2006/main">
              <a:ext uri="{FF2B5EF4-FFF2-40B4-BE49-F238E27FC236}">
                <a16:creationId xmlns:a16="http://schemas.microsoft.com/office/drawing/2014/main" id="{301E21FC-0A8D-4108-9D67-25CC5777E11D}"/>
              </a:ext>
            </a:extLst>
          </p:cNvPr>
          <p:cNvSpPr>
            <a:spLocks xmlns:a="http://schemas.openxmlformats.org/drawingml/2006/main" noGrp="1"/>
          </p:cNvSpPr>
          <p:nvPr/>
        </p:nvSpPr>
        <p:spPr>
          <a:xfrm xmlns:a="http://schemas.openxmlformats.org/drawingml/2006/main">
            <a:off x="742950" y="22193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425" b="1">
                <a:solidFill>
                  <a:srgbClr val="C63D44"/>
                </a:solidFill>
                <a:latin typeface="Arial"/>
                <a:ea typeface="Arial"/>
                <a:cs typeface="Arial"/>
              </a:defRPr>
            </a:defPPr>
            <a:lvl1pPr>
              <a:defRPr sz="4425" b="1">
                <a:solidFill>
                  <a:srgbClr val="C63D44"/>
                </a:solidFill>
                <a:latin typeface="Arial"/>
                <a:ea typeface="Arial"/>
                <a:cs typeface="Arial"/>
              </a:defRPr>
            </a:lvl1pPr>
            <a:lvl2pPr>
              <a:defRPr sz="4425" b="1">
                <a:solidFill>
                  <a:srgbClr val="C63D44"/>
                </a:solidFill>
                <a:latin typeface="Arial"/>
                <a:ea typeface="Arial"/>
                <a:cs typeface="Arial"/>
              </a:defRPr>
            </a:lvl2pPr>
            <a:lvl3pPr>
              <a:defRPr sz="4425" b="1">
                <a:solidFill>
                  <a:srgbClr val="C63D44"/>
                </a:solidFill>
                <a:latin typeface="Arial"/>
                <a:ea typeface="Arial"/>
                <a:cs typeface="Arial"/>
              </a:defRPr>
            </a:lvl3pPr>
            <a:lvl4pPr>
              <a:defRPr sz="4425" b="1">
                <a:solidFill>
                  <a:srgbClr val="C63D44"/>
                </a:solidFill>
                <a:latin typeface="Arial"/>
                <a:ea typeface="Arial"/>
                <a:cs typeface="Arial"/>
              </a:defRPr>
            </a:lvl4pPr>
            <a:lvl5pPr>
              <a:defRPr sz="4425" b="1">
                <a:solidFill>
                  <a:srgbClr val="C63D44"/>
                </a:solidFill>
                <a:latin typeface="Arial"/>
                <a:ea typeface="Arial"/>
                <a:cs typeface="Arial"/>
              </a:defRPr>
            </a:lvl5pPr>
            <a:lvl6pPr>
              <a:defRPr sz="4425" b="1">
                <a:solidFill>
                  <a:srgbClr val="C63D44"/>
                </a:solidFill>
                <a:latin typeface="Arial"/>
                <a:ea typeface="Arial"/>
                <a:cs typeface="Arial"/>
              </a:defRPr>
            </a:lvl6pPr>
            <a:lvl7pPr>
              <a:defRPr sz="4425" b="1">
                <a:solidFill>
                  <a:srgbClr val="C63D44"/>
                </a:solidFill>
                <a:latin typeface="Arial"/>
                <a:ea typeface="Arial"/>
                <a:cs typeface="Arial"/>
              </a:defRPr>
            </a:lvl7pPr>
            <a:lvl8pPr>
              <a:defRPr sz="4425" b="1">
                <a:solidFill>
                  <a:srgbClr val="C63D44"/>
                </a:solidFill>
                <a:latin typeface="Arial"/>
                <a:ea typeface="Arial"/>
                <a:cs typeface="Arial"/>
              </a:defRPr>
            </a:lvl8pPr>
            <a:lvl9pPr>
              <a:defRPr sz="4425" b="1">
                <a:solidFill>
                  <a:srgbClr val="C63D44"/>
                </a:solidFill>
                <a:latin typeface="Arial"/>
                <a:ea typeface="Arial"/>
                <a:cs typeface="Arial"/>
              </a:defRPr>
            </a:lvl9pPr>
          </a:lstStyle>
          <a:p xmlns:a="http://schemas.openxmlformats.org/drawingml/2006/main">
            <a:pPr>
              <a:defRPr sz="4425" b="1">
                <a:solidFill>
                  <a:srgbClr val="C63D44"/>
                </a:solidFill>
                <a:latin typeface="Arial"/>
                <a:ea typeface="Arial"/>
                <a:cs typeface="Arial"/>
              </a:defRPr>
            </a:pPr>
            <a:r>
              <a:rPr sz="4425" b="1">
                <a:solidFill>
                  <a:srgbClr val="C63D44"/>
                </a:solidFill>
                <a:latin typeface="Arial"/>
                <a:ea typeface="Arial"/>
                <a:cs typeface="Arial"/>
              </a:rPr>
              <a:t>1200 &lt; 1200 es falso</a:t>
            </a:r>
          </a:p>
        </p:txBody>
      </p:sp>
      <p:sp>
        <p:nvSpPr>
          <p:cNvPr id="5" name="">
            <a:extLst xmlns:a="http://schemas.openxmlformats.org/drawingml/2006/main">
              <a:ext uri="{FF2B5EF4-FFF2-40B4-BE49-F238E27FC236}">
                <a16:creationId xmlns:a16="http://schemas.microsoft.com/office/drawing/2014/main" id="{63EBF737-1AA4-4629-B722-6D72AD5626E2}"/>
              </a:ext>
            </a:extLst>
          </p:cNvPr>
          <p:cNvSpPr>
            <a:spLocks xmlns:a="http://schemas.openxmlformats.org/drawingml/2006/main" noGrp="1"/>
          </p:cNvSpPr>
          <p:nvPr/>
        </p:nvSpPr>
        <p:spPr>
          <a:xfrm xmlns:a="http://schemas.openxmlformats.org/drawingml/2006/main">
            <a:off x="742950" y="32956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C63D44"/>
                </a:solidFill>
                <a:latin typeface="Arial"/>
                <a:ea typeface="Arial"/>
                <a:cs typeface="Arial"/>
              </a:defRPr>
            </a:defPPr>
            <a:lvl1pPr>
              <a:defRPr sz="3600" b="1">
                <a:solidFill>
                  <a:srgbClr val="C63D44"/>
                </a:solidFill>
                <a:latin typeface="Arial"/>
                <a:ea typeface="Arial"/>
                <a:cs typeface="Arial"/>
              </a:defRPr>
            </a:lvl1pPr>
            <a:lvl2pPr>
              <a:defRPr sz="3600" b="1">
                <a:solidFill>
                  <a:srgbClr val="C63D44"/>
                </a:solidFill>
                <a:latin typeface="Arial"/>
                <a:ea typeface="Arial"/>
                <a:cs typeface="Arial"/>
              </a:defRPr>
            </a:lvl2pPr>
            <a:lvl3pPr>
              <a:defRPr sz="3600" b="1">
                <a:solidFill>
                  <a:srgbClr val="C63D44"/>
                </a:solidFill>
                <a:latin typeface="Arial"/>
                <a:ea typeface="Arial"/>
                <a:cs typeface="Arial"/>
              </a:defRPr>
            </a:lvl3pPr>
            <a:lvl4pPr>
              <a:defRPr sz="3600" b="1">
                <a:solidFill>
                  <a:srgbClr val="C63D44"/>
                </a:solidFill>
                <a:latin typeface="Arial"/>
                <a:ea typeface="Arial"/>
                <a:cs typeface="Arial"/>
              </a:defRPr>
            </a:lvl4pPr>
            <a:lvl5pPr>
              <a:defRPr sz="3600" b="1">
                <a:solidFill>
                  <a:srgbClr val="C63D44"/>
                </a:solidFill>
                <a:latin typeface="Arial"/>
                <a:ea typeface="Arial"/>
                <a:cs typeface="Arial"/>
              </a:defRPr>
            </a:lvl5pPr>
            <a:lvl6pPr>
              <a:defRPr sz="3600" b="1">
                <a:solidFill>
                  <a:srgbClr val="C63D44"/>
                </a:solidFill>
                <a:latin typeface="Arial"/>
                <a:ea typeface="Arial"/>
                <a:cs typeface="Arial"/>
              </a:defRPr>
            </a:lvl6pPr>
            <a:lvl7pPr>
              <a:defRPr sz="3600" b="1">
                <a:solidFill>
                  <a:srgbClr val="C63D44"/>
                </a:solidFill>
                <a:latin typeface="Arial"/>
                <a:ea typeface="Arial"/>
                <a:cs typeface="Arial"/>
              </a:defRPr>
            </a:lvl7pPr>
            <a:lvl8pPr>
              <a:defRPr sz="3600" b="1">
                <a:solidFill>
                  <a:srgbClr val="C63D44"/>
                </a:solidFill>
                <a:latin typeface="Arial"/>
                <a:ea typeface="Arial"/>
                <a:cs typeface="Arial"/>
              </a:defRPr>
            </a:lvl8pPr>
            <a:lvl9pPr>
              <a:defRPr sz="3600" b="1">
                <a:solidFill>
                  <a:srgbClr val="C63D44"/>
                </a:solidFill>
                <a:latin typeface="Arial"/>
                <a:ea typeface="Arial"/>
                <a:cs typeface="Arial"/>
              </a:defRPr>
            </a:lvl9pPr>
          </a:lstStyle>
          <a:p xmlns:a="http://schemas.openxmlformats.org/drawingml/2006/main">
            <a:pPr>
              <a:defRPr sz="3600" b="1">
                <a:solidFill>
                  <a:srgbClr val="C63D44"/>
                </a:solidFill>
                <a:latin typeface="Arial"/>
                <a:ea typeface="Arial"/>
                <a:cs typeface="Arial"/>
              </a:defRPr>
            </a:pPr>
            <a:r>
              <a:rPr sz="3600" b="1">
                <a:solidFill>
                  <a:srgbClr val="C63D44"/>
                </a:solidFill>
                <a:latin typeface="Arial"/>
                <a:ea typeface="Arial"/>
                <a:cs typeface="Arial"/>
              </a:rPr>
              <a:t>SEGMENTATION_FAULT</a:t>
            </a:r>
          </a:p>
        </p:txBody>
      </p:sp>
      <p:sp>
        <p:nvSpPr>
          <p:cNvPr id="6" name="">
            <a:extLst xmlns:a="http://schemas.openxmlformats.org/drawingml/2006/main">
              <a:ext uri="{FF2B5EF4-FFF2-40B4-BE49-F238E27FC236}">
                <a16:creationId xmlns:a16="http://schemas.microsoft.com/office/drawing/2014/main" id="{369CBBA8-486F-4796-9804-138D9EEC7741}"/>
              </a:ext>
            </a:extLst>
          </p:cNvPr>
          <p:cNvSpPr>
            <a:spLocks xmlns:a="http://schemas.openxmlformats.org/drawingml/2006/main" noGrp="1"/>
          </p:cNvSpPr>
          <p:nvPr/>
        </p:nvSpPr>
        <p:spPr>
          <a:xfrm xmlns:a="http://schemas.openxmlformats.org/drawingml/2006/main">
            <a:off x="762000" y="43338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a:solidFill>
                  <a:srgbClr val="20334B"/>
                </a:solidFill>
                <a:latin typeface="Arial"/>
                <a:ea typeface="Arial"/>
                <a:cs typeface="Arial"/>
              </a:defRPr>
            </a:defPPr>
            <a:lvl1pPr>
              <a:defRPr sz="2400">
                <a:solidFill>
                  <a:srgbClr val="20334B"/>
                </a:solidFill>
                <a:latin typeface="Arial"/>
                <a:ea typeface="Arial"/>
                <a:cs typeface="Arial"/>
              </a:defRPr>
            </a:lvl1pPr>
            <a:lvl2pPr>
              <a:defRPr sz="2400">
                <a:solidFill>
                  <a:srgbClr val="20334B"/>
                </a:solidFill>
                <a:latin typeface="Arial"/>
                <a:ea typeface="Arial"/>
                <a:cs typeface="Arial"/>
              </a:defRPr>
            </a:lvl2pPr>
            <a:lvl3pPr>
              <a:defRPr sz="2400">
                <a:solidFill>
                  <a:srgbClr val="20334B"/>
                </a:solidFill>
                <a:latin typeface="Arial"/>
                <a:ea typeface="Arial"/>
                <a:cs typeface="Arial"/>
              </a:defRPr>
            </a:lvl3pPr>
            <a:lvl4pPr>
              <a:defRPr sz="2400">
                <a:solidFill>
                  <a:srgbClr val="20334B"/>
                </a:solidFill>
                <a:latin typeface="Arial"/>
                <a:ea typeface="Arial"/>
                <a:cs typeface="Arial"/>
              </a:defRPr>
            </a:lvl4pPr>
            <a:lvl5pPr>
              <a:defRPr sz="2400">
                <a:solidFill>
                  <a:srgbClr val="20334B"/>
                </a:solidFill>
                <a:latin typeface="Arial"/>
                <a:ea typeface="Arial"/>
                <a:cs typeface="Arial"/>
              </a:defRPr>
            </a:lvl5pPr>
            <a:lvl6pPr>
              <a:defRPr sz="2400">
                <a:solidFill>
                  <a:srgbClr val="20334B"/>
                </a:solidFill>
                <a:latin typeface="Arial"/>
                <a:ea typeface="Arial"/>
                <a:cs typeface="Arial"/>
              </a:defRPr>
            </a:lvl6pPr>
            <a:lvl7pPr>
              <a:defRPr sz="2400">
                <a:solidFill>
                  <a:srgbClr val="20334B"/>
                </a:solidFill>
                <a:latin typeface="Arial"/>
                <a:ea typeface="Arial"/>
                <a:cs typeface="Arial"/>
              </a:defRPr>
            </a:lvl7pPr>
            <a:lvl8pPr>
              <a:defRPr sz="2400">
                <a:solidFill>
                  <a:srgbClr val="20334B"/>
                </a:solidFill>
                <a:latin typeface="Arial"/>
                <a:ea typeface="Arial"/>
                <a:cs typeface="Arial"/>
              </a:defRPr>
            </a:lvl8pPr>
            <a:lvl9pPr>
              <a:defRPr sz="2400">
                <a:solidFill>
                  <a:srgbClr val="20334B"/>
                </a:solidFill>
                <a:latin typeface="Arial"/>
                <a:ea typeface="Arial"/>
                <a:cs typeface="Arial"/>
              </a:defRPr>
            </a:lvl9pPr>
          </a:lstStyle>
          <a:p xmlns:a="http://schemas.openxmlformats.org/drawingml/2006/main">
            <a:pPr>
              <a:defRPr sz="2400">
                <a:solidFill>
                  <a:srgbClr val="20334B"/>
                </a:solidFill>
                <a:latin typeface="Arial"/>
                <a:ea typeface="Arial"/>
                <a:cs typeface="Arial"/>
              </a:defRPr>
            </a:pPr>
            <a:r>
              <a:rPr sz="2400">
                <a:solidFill>
                  <a:srgbClr val="20334B"/>
                </a:solidFill>
                <a:latin typeface="Arial"/>
                <a:ea typeface="Arial"/>
                <a:cs typeface="Arial"/>
              </a:rPr>
              <a:t>El acceso no entrega una dirección física válida.</a:t>
            </a:r>
          </a:p>
        </p:txBody>
      </p:sp>
      <p:sp>
        <p:nvSpPr>
          <p:cNvPr id="7" name="">
            <a:extLst xmlns:a="http://schemas.openxmlformats.org/drawingml/2006/main">
              <a:ext uri="{FF2B5EF4-FFF2-40B4-BE49-F238E27FC236}">
                <a16:creationId xmlns:a16="http://schemas.microsoft.com/office/drawing/2014/main" id="{7C98D72A-1950-4AA0-9690-0EF32A3DEBD2}"/>
              </a:ext>
            </a:extLst>
          </p:cNvPr>
          <p:cNvSpPr>
            <a:spLocks xmlns:a="http://schemas.openxmlformats.org/drawingml/2006/main" noGrp="1"/>
          </p:cNvSpPr>
          <p:nvPr/>
        </p:nvSpPr>
        <p:spPr>
          <a:xfrm xmlns:a="http://schemas.openxmlformats.org/drawingml/2006/main">
            <a:off x="762000" y="5314950"/>
            <a:ext cx="10553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a:solidFill>
                  <a:srgbClr val="20334B"/>
                </a:solidFill>
                <a:latin typeface="Arial"/>
                <a:ea typeface="Arial"/>
                <a:cs typeface="Arial"/>
              </a:defRPr>
            </a:defPPr>
            <a:lvl1pPr>
              <a:defRPr sz="2100">
                <a:solidFill>
                  <a:srgbClr val="20334B"/>
                </a:solidFill>
                <a:latin typeface="Arial"/>
                <a:ea typeface="Arial"/>
                <a:cs typeface="Arial"/>
              </a:defRPr>
            </a:lvl1pPr>
            <a:lvl2pPr>
              <a:defRPr sz="2100">
                <a:solidFill>
                  <a:srgbClr val="20334B"/>
                </a:solidFill>
                <a:latin typeface="Arial"/>
                <a:ea typeface="Arial"/>
                <a:cs typeface="Arial"/>
              </a:defRPr>
            </a:lvl2pPr>
            <a:lvl3pPr>
              <a:defRPr sz="2100">
                <a:solidFill>
                  <a:srgbClr val="20334B"/>
                </a:solidFill>
                <a:latin typeface="Arial"/>
                <a:ea typeface="Arial"/>
                <a:cs typeface="Arial"/>
              </a:defRPr>
            </a:lvl3pPr>
            <a:lvl4pPr>
              <a:defRPr sz="2100">
                <a:solidFill>
                  <a:srgbClr val="20334B"/>
                </a:solidFill>
                <a:latin typeface="Arial"/>
                <a:ea typeface="Arial"/>
                <a:cs typeface="Arial"/>
              </a:defRPr>
            </a:lvl4pPr>
            <a:lvl5pPr>
              <a:defRPr sz="2100">
                <a:solidFill>
                  <a:srgbClr val="20334B"/>
                </a:solidFill>
                <a:latin typeface="Arial"/>
                <a:ea typeface="Arial"/>
                <a:cs typeface="Arial"/>
              </a:defRPr>
            </a:lvl5pPr>
            <a:lvl6pPr>
              <a:defRPr sz="2100">
                <a:solidFill>
                  <a:srgbClr val="20334B"/>
                </a:solidFill>
                <a:latin typeface="Arial"/>
                <a:ea typeface="Arial"/>
                <a:cs typeface="Arial"/>
              </a:defRPr>
            </a:lvl6pPr>
            <a:lvl7pPr>
              <a:defRPr sz="2100">
                <a:solidFill>
                  <a:srgbClr val="20334B"/>
                </a:solidFill>
                <a:latin typeface="Arial"/>
                <a:ea typeface="Arial"/>
                <a:cs typeface="Arial"/>
              </a:defRPr>
            </a:lvl7pPr>
            <a:lvl8pPr>
              <a:defRPr sz="2100">
                <a:solidFill>
                  <a:srgbClr val="20334B"/>
                </a:solidFill>
                <a:latin typeface="Arial"/>
                <a:ea typeface="Arial"/>
                <a:cs typeface="Arial"/>
              </a:defRPr>
            </a:lvl8pPr>
            <a:lvl9pPr>
              <a:defRPr sz="2100">
                <a:solidFill>
                  <a:srgbClr val="20334B"/>
                </a:solidFill>
                <a:latin typeface="Arial"/>
                <a:ea typeface="Arial"/>
                <a:cs typeface="Arial"/>
              </a:defRPr>
            </a:lvl9pPr>
          </a:lstStyle>
          <a:p xmlns:a="http://schemas.openxmlformats.org/drawingml/2006/main">
            <a:pPr>
              <a:defRPr sz="2100">
                <a:solidFill>
                  <a:srgbClr val="20334B"/>
                </a:solidFill>
                <a:latin typeface="Arial"/>
                <a:ea typeface="Arial"/>
                <a:cs typeface="Arial"/>
              </a:defRPr>
            </a:pPr>
            <a:r>
              <a:rPr sz="2100">
                <a:solidFill>
                  <a:srgbClr val="20334B"/>
                </a:solidFill>
                <a:latin typeface="Arial"/>
                <a:ea typeface="Arial"/>
                <a:cs typeface="Arial"/>
              </a:rPr>
              <a:t>La región permanece igual y Editor conserva sus segmentos.</a:t>
            </a:r>
          </a:p>
        </p:txBody>
      </p:sp>
    </p:spTree>
    <p:extLst>
      <p:ext uri="{BB962C8B-B14F-4D97-AF65-F5344CB8AC3E}">
        <p14:creationId xmlns:p14="http://schemas.microsoft.com/office/powerpoint/2010/main" val="19132882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B74815-FFB0-4F1C-90DB-9B8278826FEB}"/>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Comparación de una solicitud de 8 KB</a:t>
            </a:r>
          </a:p>
        </p:txBody>
      </p:sp>
      <p:sp>
        <p:nvSpPr>
          <p:cNvPr id="2" name="">
            <a:extLst xmlns:a="http://schemas.openxmlformats.org/drawingml/2006/main">
              <a:ext uri="{FF2B5EF4-FFF2-40B4-BE49-F238E27FC236}">
                <a16:creationId xmlns:a16="http://schemas.microsoft.com/office/drawing/2014/main" id="{30648A7F-06AF-4A04-A543-113A901D5501}"/>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9 KB libres en huecos de 3 y 6 KB. El mayor hueco mide 6 KB.</a:t>
            </a:r>
          </a:p>
        </p:txBody>
      </p:sp>
      <p:sp>
        <p:nvSpPr>
          <p:cNvPr id="3" name="">
            <a:extLst xmlns:a="http://schemas.openxmlformats.org/drawingml/2006/main">
              <a:ext uri="{FF2B5EF4-FFF2-40B4-BE49-F238E27FC236}">
                <a16:creationId xmlns:a16="http://schemas.microsoft.com/office/drawing/2014/main" id="{E46FA139-D442-4A9C-AA86-445AE9EA6072}"/>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Carlos Lopez Urizar     48:00 a 51:00     20 de 24</a:t>
            </a:r>
          </a:p>
        </p:txBody>
      </p:sp>
      <p:graphicFrame>
        <p:nvGraphicFramePr>
          <p:cNvPr id="4" name="">
            <a:extLst xmlns:a="http://schemas.openxmlformats.org/drawingml/2006/main">
              <a:ext uri="{FF2B5EF4-FFF2-40B4-BE49-F238E27FC236}">
                <a16:creationId xmlns:a16="http://schemas.microsoft.com/office/drawing/2014/main" id="{965B9771-7734-4782-8700-12B981BCAA11}"/>
              </a:ext>
            </a:extLst>
          </p:cNvPr>
          <p:cNvGraphicFramePr/>
          <p:nvPr/>
        </p:nvGraphicFramePr>
        <p:xfrm>
          <a:off xmlns:a="http://schemas.openxmlformats.org/drawingml/2006/main" x="685800" y="2095500"/>
          <a:ext xmlns:a="http://schemas.openxmlformats.org/drawingml/2006/main" cx="10820400" cy="2667000"/>
        </p:xfrm>
        <a:graphic xmlns:a="http://schemas.openxmlformats.org/drawingml/2006/main">
          <a:graphicData uri="http://schemas.openxmlformats.org/drawingml/2006/table">
            <a:tbl>
              <a:tblPr firstRow="1" bandRow="0"/>
              <a:tblGrid>
                <a:gridCol w="3238500"/>
                <a:gridCol w="1714500"/>
                <a:gridCol w="2857500"/>
                <a:gridCol w="3009900"/>
              </a:tblGrid>
              <a:tr h="666750">
                <a:tc>
                  <a:txBody>
                    <a:bodyPr>
                      <a:noAutofit/>
                    </a:bodyPr>
                    <a:lstStyle/>
                    <a:p>
                      <a:r>
                        <a:rPr sz="2025" b="1">
                          <a:solidFill>
                            <a:srgbClr val="FFFFFF"/>
                          </a:solidFill>
                          <a:latin typeface="Arial"/>
                          <a:ea typeface="Arial"/>
                          <a:cs typeface="Arial"/>
                        </a:rPr>
                        <a:t>Técnica</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Acepta</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Reserva bytes</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Libre final bytes</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666750">
                <a:tc>
                  <a:txBody>
                    <a:bodyPr>
                      <a:noAutofit/>
                    </a:bodyPr>
                    <a:lstStyle/>
                    <a:p>
                      <a:r>
                        <a:rPr sz="2025" b="0">
                          <a:solidFill>
                            <a:srgbClr val="20334B"/>
                          </a:solidFill>
                          <a:latin typeface="Arial"/>
                          <a:ea typeface="Arial"/>
                          <a:cs typeface="Arial"/>
                        </a:rPr>
                        <a:t>Contigua</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No</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0</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9216</a:t>
                      </a:r>
                    </a:p>
                  </a:txBody>
                  <a:tcPr marL="133350" marR="133350" marT="85725" marB="76200">
                    <a:lnR w="9525">
                      <a:solidFill>
                        <a:srgbClr val="D9D9D9"/>
                      </a:solidFill>
                      <a:prstDash val="solid"/>
                    </a:lnR>
                    <a:lnB w="9525">
                      <a:solidFill>
                        <a:srgbClr val="D9D9D9"/>
                      </a:solidFill>
                      <a:prstDash val="solid"/>
                    </a:lnB>
                    <a:solidFill>
                      <a:srgbClr val="FFFFFF"/>
                    </a:solidFill>
                  </a:tcPr>
                </a:tc>
              </a:tr>
              <a:tr h="666750">
                <a:tc>
                  <a:txBody>
                    <a:bodyPr>
                      <a:noAutofit/>
                    </a:bodyPr>
                    <a:lstStyle/>
                    <a:p>
                      <a:r>
                        <a:rPr sz="2025" b="0">
                          <a:solidFill>
                            <a:srgbClr val="20334B"/>
                          </a:solidFill>
                          <a:latin typeface="Arial"/>
                          <a:ea typeface="Arial"/>
                          <a:cs typeface="Arial"/>
                        </a:rPr>
                        <a:t>Paginación</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Sí</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8192</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1024</a:t>
                      </a:r>
                    </a:p>
                  </a:txBody>
                  <a:tcPr marL="133350" marR="133350" marT="85725" marB="76200">
                    <a:lnR w="9525">
                      <a:solidFill>
                        <a:srgbClr val="D9D9D9"/>
                      </a:solidFill>
                      <a:prstDash val="solid"/>
                    </a:lnR>
                    <a:lnB w="9525">
                      <a:solidFill>
                        <a:srgbClr val="D9D9D9"/>
                      </a:solidFill>
                      <a:prstDash val="solid"/>
                    </a:lnB>
                    <a:solidFill>
                      <a:srgbClr val="F2F5F9"/>
                    </a:solidFill>
                  </a:tcPr>
                </a:tc>
              </a:tr>
              <a:tr h="666750">
                <a:tc>
                  <a:txBody>
                    <a:bodyPr>
                      <a:noAutofit/>
                    </a:bodyPr>
                    <a:lstStyle/>
                    <a:p>
                      <a:r>
                        <a:rPr sz="2025" b="0">
                          <a:solidFill>
                            <a:srgbClr val="20334B"/>
                          </a:solidFill>
                          <a:latin typeface="Arial"/>
                          <a:ea typeface="Arial"/>
                          <a:cs typeface="Arial"/>
                        </a:rPr>
                        <a:t>Segmentación</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Sí</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8192</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1024</a:t>
                      </a:r>
                    </a:p>
                  </a:txBody>
                  <a:tcPr marL="133350" marR="133350" marT="85725" marB="76200">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9EC9B7-5135-4DB6-BE7D-FDE386D319CF}"/>
              </a:ext>
            </a:extLst>
          </p:cNvPr>
          <p:cNvSpPr>
            <a:spLocks xmlns:a="http://schemas.openxmlformats.org/drawingml/2006/main" noGrp="1"/>
          </p:cNvSpPr>
          <p:nvPr/>
        </p:nvSpPr>
        <p:spPr>
          <a:xfrm xmlns:a="http://schemas.openxmlformats.org/drawingml/2006/main">
            <a:off x="742950" y="52197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b="1">
                <a:solidFill>
                  <a:srgbClr val="C63D44"/>
                </a:solidFill>
                <a:latin typeface="Arial"/>
                <a:ea typeface="Arial"/>
                <a:cs typeface="Arial"/>
              </a:defRPr>
            </a:defPPr>
            <a:lvl1pPr>
              <a:defRPr sz="2700" b="1">
                <a:solidFill>
                  <a:srgbClr val="C63D44"/>
                </a:solidFill>
                <a:latin typeface="Arial"/>
                <a:ea typeface="Arial"/>
                <a:cs typeface="Arial"/>
              </a:defRPr>
            </a:lvl1pPr>
            <a:lvl2pPr>
              <a:defRPr sz="2700" b="1">
                <a:solidFill>
                  <a:srgbClr val="C63D44"/>
                </a:solidFill>
                <a:latin typeface="Arial"/>
                <a:ea typeface="Arial"/>
                <a:cs typeface="Arial"/>
              </a:defRPr>
            </a:lvl2pPr>
            <a:lvl3pPr>
              <a:defRPr sz="2700" b="1">
                <a:solidFill>
                  <a:srgbClr val="C63D44"/>
                </a:solidFill>
                <a:latin typeface="Arial"/>
                <a:ea typeface="Arial"/>
                <a:cs typeface="Arial"/>
              </a:defRPr>
            </a:lvl3pPr>
            <a:lvl4pPr>
              <a:defRPr sz="2700" b="1">
                <a:solidFill>
                  <a:srgbClr val="C63D44"/>
                </a:solidFill>
                <a:latin typeface="Arial"/>
                <a:ea typeface="Arial"/>
                <a:cs typeface="Arial"/>
              </a:defRPr>
            </a:lvl4pPr>
            <a:lvl5pPr>
              <a:defRPr sz="2700" b="1">
                <a:solidFill>
                  <a:srgbClr val="C63D44"/>
                </a:solidFill>
                <a:latin typeface="Arial"/>
                <a:ea typeface="Arial"/>
                <a:cs typeface="Arial"/>
              </a:defRPr>
            </a:lvl5pPr>
            <a:lvl6pPr>
              <a:defRPr sz="2700" b="1">
                <a:solidFill>
                  <a:srgbClr val="C63D44"/>
                </a:solidFill>
                <a:latin typeface="Arial"/>
                <a:ea typeface="Arial"/>
                <a:cs typeface="Arial"/>
              </a:defRPr>
            </a:lvl6pPr>
            <a:lvl7pPr>
              <a:defRPr sz="2700" b="1">
                <a:solidFill>
                  <a:srgbClr val="C63D44"/>
                </a:solidFill>
                <a:latin typeface="Arial"/>
                <a:ea typeface="Arial"/>
                <a:cs typeface="Arial"/>
              </a:defRPr>
            </a:lvl7pPr>
            <a:lvl8pPr>
              <a:defRPr sz="2700" b="1">
                <a:solidFill>
                  <a:srgbClr val="C63D44"/>
                </a:solidFill>
                <a:latin typeface="Arial"/>
                <a:ea typeface="Arial"/>
                <a:cs typeface="Arial"/>
              </a:defRPr>
            </a:lvl8pPr>
            <a:lvl9pPr>
              <a:defRPr sz="2700" b="1">
                <a:solidFill>
                  <a:srgbClr val="C63D44"/>
                </a:solidFill>
                <a:latin typeface="Arial"/>
                <a:ea typeface="Arial"/>
                <a:cs typeface="Arial"/>
              </a:defRPr>
            </a:lvl9pPr>
          </a:lstStyle>
          <a:p xmlns:a="http://schemas.openxmlformats.org/drawingml/2006/main">
            <a:pPr>
              <a:defRPr sz="2700" b="1">
                <a:solidFill>
                  <a:srgbClr val="C63D44"/>
                </a:solidFill>
                <a:latin typeface="Arial"/>
                <a:ea typeface="Arial"/>
                <a:cs typeface="Arial"/>
              </a:defRPr>
            </a:pPr>
            <a:r>
              <a:rPr sz="2700" b="1">
                <a:solidFill>
                  <a:srgbClr val="C63D44"/>
                </a:solidFill>
                <a:latin typeface="Arial"/>
                <a:ea typeface="Arial"/>
                <a:cs typeface="Arial"/>
              </a:rPr>
              <a:t>8 KB no caben en un solo hueco de 6 KB.</a:t>
            </a:r>
          </a:p>
        </p:txBody>
      </p:sp>
      <p:sp>
        <p:nvSpPr>
          <p:cNvPr id="6" name="">
            <a:extLst xmlns:a="http://schemas.openxmlformats.org/drawingml/2006/main">
              <a:ext uri="{FF2B5EF4-FFF2-40B4-BE49-F238E27FC236}">
                <a16:creationId xmlns:a16="http://schemas.microsoft.com/office/drawing/2014/main" id="{FB17F424-4318-41F4-9D66-464030E44EAB}"/>
              </a:ext>
            </a:extLst>
          </p:cNvPr>
          <p:cNvSpPr>
            <a:spLocks xmlns:a="http://schemas.openxmlformats.org/drawingml/2006/main" noGrp="1"/>
          </p:cNvSpPr>
          <p:nvPr/>
        </p:nvSpPr>
        <p:spPr>
          <a:xfrm xmlns:a="http://schemas.openxmlformats.org/drawingml/2006/main">
            <a:off x="742950" y="5819775"/>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20334B"/>
                </a:solidFill>
                <a:latin typeface="Arial"/>
                <a:ea typeface="Arial"/>
                <a:cs typeface="Arial"/>
              </a:defRPr>
            </a:defPPr>
            <a:lvl1pPr>
              <a:defRPr sz="1875">
                <a:solidFill>
                  <a:srgbClr val="20334B"/>
                </a:solidFill>
                <a:latin typeface="Arial"/>
                <a:ea typeface="Arial"/>
                <a:cs typeface="Arial"/>
              </a:defRPr>
            </a:lvl1pPr>
            <a:lvl2pPr>
              <a:defRPr sz="1875">
                <a:solidFill>
                  <a:srgbClr val="20334B"/>
                </a:solidFill>
                <a:latin typeface="Arial"/>
                <a:ea typeface="Arial"/>
                <a:cs typeface="Arial"/>
              </a:defRPr>
            </a:lvl2pPr>
            <a:lvl3pPr>
              <a:defRPr sz="1875">
                <a:solidFill>
                  <a:srgbClr val="20334B"/>
                </a:solidFill>
                <a:latin typeface="Arial"/>
                <a:ea typeface="Arial"/>
                <a:cs typeface="Arial"/>
              </a:defRPr>
            </a:lvl3pPr>
            <a:lvl4pPr>
              <a:defRPr sz="1875">
                <a:solidFill>
                  <a:srgbClr val="20334B"/>
                </a:solidFill>
                <a:latin typeface="Arial"/>
                <a:ea typeface="Arial"/>
                <a:cs typeface="Arial"/>
              </a:defRPr>
            </a:lvl4pPr>
            <a:lvl5pPr>
              <a:defRPr sz="1875">
                <a:solidFill>
                  <a:srgbClr val="20334B"/>
                </a:solidFill>
                <a:latin typeface="Arial"/>
                <a:ea typeface="Arial"/>
                <a:cs typeface="Arial"/>
              </a:defRPr>
            </a:lvl5pPr>
            <a:lvl6pPr>
              <a:defRPr sz="1875">
                <a:solidFill>
                  <a:srgbClr val="20334B"/>
                </a:solidFill>
                <a:latin typeface="Arial"/>
                <a:ea typeface="Arial"/>
                <a:cs typeface="Arial"/>
              </a:defRPr>
            </a:lvl6pPr>
            <a:lvl7pPr>
              <a:defRPr sz="1875">
                <a:solidFill>
                  <a:srgbClr val="20334B"/>
                </a:solidFill>
                <a:latin typeface="Arial"/>
                <a:ea typeface="Arial"/>
                <a:cs typeface="Arial"/>
              </a:defRPr>
            </a:lvl7pPr>
            <a:lvl8pPr>
              <a:defRPr sz="1875">
                <a:solidFill>
                  <a:srgbClr val="20334B"/>
                </a:solidFill>
                <a:latin typeface="Arial"/>
                <a:ea typeface="Arial"/>
                <a:cs typeface="Arial"/>
              </a:defRPr>
            </a:lvl8pPr>
            <a:lvl9pPr>
              <a:defRPr sz="1875">
                <a:solidFill>
                  <a:srgbClr val="20334B"/>
                </a:solidFill>
                <a:latin typeface="Arial"/>
                <a:ea typeface="Arial"/>
                <a:cs typeface="Arial"/>
              </a:defRPr>
            </a:lvl9pPr>
          </a:lstStyle>
          <a:p xmlns:a="http://schemas.openxmlformats.org/drawingml/2006/main">
            <a:pPr>
              <a:defRPr sz="1875">
                <a:solidFill>
                  <a:srgbClr val="20334B"/>
                </a:solidFill>
                <a:latin typeface="Arial"/>
                <a:ea typeface="Arial"/>
                <a:cs typeface="Arial"/>
              </a:defRPr>
            </a:pPr>
            <a:r>
              <a:rPr sz="1875">
                <a:solidFill>
                  <a:srgbClr val="20334B"/>
                </a:solidFill>
                <a:latin typeface="Arial"/>
                <a:ea typeface="Arial"/>
                <a:cs typeface="Arial"/>
              </a:rPr>
              <a:t>El comparador es un ejemplo calculado independiente.</a:t>
            </a:r>
          </a:p>
        </p:txBody>
      </p:sp>
    </p:spTree>
    <p:extLst>
      <p:ext uri="{BB962C8B-B14F-4D97-AF65-F5344CB8AC3E}">
        <p14:creationId xmlns:p14="http://schemas.microsoft.com/office/powerpoint/2010/main" val="15181231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377D07-D0C5-4477-B651-50773A98BAFE}"/>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Fragmentación interna con 7500 bytes</a:t>
            </a:r>
          </a:p>
        </p:txBody>
      </p:sp>
      <p:sp>
        <p:nvSpPr>
          <p:cNvPr id="2" name="">
            <a:extLst xmlns:a="http://schemas.openxmlformats.org/drawingml/2006/main">
              <a:ext uri="{FF2B5EF4-FFF2-40B4-BE49-F238E27FC236}">
                <a16:creationId xmlns:a16="http://schemas.microsoft.com/office/drawing/2014/main" id="{94AD9B85-0FAC-4507-AEB4-6073DD56E729}"/>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Paginación utiliza marcos de 1024 bytes.</a:t>
            </a:r>
          </a:p>
        </p:txBody>
      </p:sp>
      <p:sp>
        <p:nvSpPr>
          <p:cNvPr id="3" name="">
            <a:extLst xmlns:a="http://schemas.openxmlformats.org/drawingml/2006/main">
              <a:ext uri="{FF2B5EF4-FFF2-40B4-BE49-F238E27FC236}">
                <a16:creationId xmlns:a16="http://schemas.microsoft.com/office/drawing/2014/main" id="{192C91FD-FE85-4102-9D71-0E69F4E444E3}"/>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Carlos Lopez Urizar     51:00 a 54:00     21 de 24</a:t>
            </a:r>
          </a:p>
        </p:txBody>
      </p:sp>
      <p:graphicFrame>
        <p:nvGraphicFramePr>
          <p:cNvPr id="4" name="">
            <a:extLst xmlns:a="http://schemas.openxmlformats.org/drawingml/2006/main">
              <a:ext uri="{FF2B5EF4-FFF2-40B4-BE49-F238E27FC236}">
                <a16:creationId xmlns:a16="http://schemas.microsoft.com/office/drawing/2014/main" id="{FE2B4061-4DDE-4F44-915C-DA74C8560CFE}"/>
              </a:ext>
            </a:extLst>
          </p:cNvPr>
          <p:cNvGraphicFramePr/>
          <p:nvPr/>
        </p:nvGraphicFramePr>
        <p:xfrm>
          <a:off xmlns:a="http://schemas.openxmlformats.org/drawingml/2006/main" x="685800" y="2114550"/>
          <a:ext xmlns:a="http://schemas.openxmlformats.org/drawingml/2006/main" cx="10820400" cy="2114550"/>
        </p:xfrm>
        <a:graphic xmlns:a="http://schemas.openxmlformats.org/drawingml/2006/main">
          <a:graphicData uri="http://schemas.openxmlformats.org/drawingml/2006/table">
            <a:tbl>
              <a:tblPr firstRow="1" bandRow="0"/>
              <a:tblGrid>
                <a:gridCol w="3333750"/>
                <a:gridCol w="2619375"/>
                <a:gridCol w="2619375"/>
                <a:gridCol w="2247900"/>
              </a:tblGrid>
              <a:tr h="704850">
                <a:tc>
                  <a:txBody>
                    <a:bodyPr>
                      <a:noAutofit/>
                    </a:bodyPr>
                    <a:lstStyle/>
                    <a:p>
                      <a:r>
                        <a:rPr sz="2025" b="1">
                          <a:solidFill>
                            <a:srgbClr val="FFFFFF"/>
                          </a:solidFill>
                          <a:latin typeface="Arial"/>
                          <a:ea typeface="Arial"/>
                          <a:cs typeface="Arial"/>
                        </a:rPr>
                        <a:t>Técnica</a:t>
                      </a:r>
                    </a:p>
                  </a:txBody>
                  <a:tcPr marL="133350" marR="133350" marT="85725" marB="7620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Reserva bytes</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Interna bytes</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c>
                  <a:txBody>
                    <a:bodyPr>
                      <a:noAutofit/>
                    </a:bodyPr>
                    <a:lstStyle/>
                    <a:p>
                      <a:r>
                        <a:rPr sz="2025" b="1">
                          <a:solidFill>
                            <a:srgbClr val="FFFFFF"/>
                          </a:solidFill>
                          <a:latin typeface="Arial"/>
                          <a:ea typeface="Arial"/>
                          <a:cs typeface="Arial"/>
                        </a:rPr>
                        <a:t>Libre bytes</a:t>
                      </a:r>
                    </a:p>
                  </a:txBody>
                  <a:tcPr marL="133350" marR="133350" marT="85725" marB="76200">
                    <a:lnR w="9525">
                      <a:solidFill>
                        <a:srgbClr val="D9D9D9"/>
                      </a:solidFill>
                      <a:prstDash val="solid"/>
                    </a:lnR>
                    <a:lnT w="9525">
                      <a:solidFill>
                        <a:srgbClr val="D9D9D9"/>
                      </a:solidFill>
                      <a:prstDash val="solid"/>
                    </a:lnT>
                    <a:lnB w="9525">
                      <a:solidFill>
                        <a:srgbClr val="D9D9D9"/>
                      </a:solidFill>
                      <a:prstDash val="solid"/>
                    </a:lnB>
                    <a:solidFill>
                      <a:srgbClr val="16324F"/>
                    </a:solidFill>
                  </a:tcPr>
                </a:tc>
              </a:tr>
              <a:tr h="704850">
                <a:tc>
                  <a:txBody>
                    <a:bodyPr>
                      <a:noAutofit/>
                    </a:bodyPr>
                    <a:lstStyle/>
                    <a:p>
                      <a:r>
                        <a:rPr sz="2025" b="0">
                          <a:solidFill>
                            <a:srgbClr val="20334B"/>
                          </a:solidFill>
                          <a:latin typeface="Arial"/>
                          <a:ea typeface="Arial"/>
                          <a:cs typeface="Arial"/>
                        </a:rPr>
                        <a:t>Paginación</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8192</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692</a:t>
                      </a:r>
                    </a:p>
                  </a:txBody>
                  <a:tcPr marL="133350" marR="133350" marT="85725" marB="76200">
                    <a:lnR w="9525">
                      <a:solidFill>
                        <a:srgbClr val="D9D9D9"/>
                      </a:solidFill>
                      <a:prstDash val="solid"/>
                    </a:lnR>
                    <a:lnB w="9525">
                      <a:solidFill>
                        <a:srgbClr val="D9D9D9"/>
                      </a:solidFill>
                      <a:prstDash val="solid"/>
                    </a:lnB>
                    <a:solidFill>
                      <a:srgbClr val="FFFFFF"/>
                    </a:solidFill>
                  </a:tcPr>
                </a:tc>
                <a:tc>
                  <a:txBody>
                    <a:bodyPr>
                      <a:noAutofit/>
                    </a:bodyPr>
                    <a:lstStyle/>
                    <a:p>
                      <a:r>
                        <a:rPr sz="2025" b="0">
                          <a:solidFill>
                            <a:srgbClr val="20334B"/>
                          </a:solidFill>
                          <a:latin typeface="Arial"/>
                          <a:ea typeface="Arial"/>
                          <a:cs typeface="Arial"/>
                        </a:rPr>
                        <a:t>1024</a:t>
                      </a:r>
                    </a:p>
                  </a:txBody>
                  <a:tcPr marL="133350" marR="133350" marT="85725" marB="76200">
                    <a:lnR w="9525">
                      <a:solidFill>
                        <a:srgbClr val="D9D9D9"/>
                      </a:solidFill>
                      <a:prstDash val="solid"/>
                    </a:lnR>
                    <a:lnB w="9525">
                      <a:solidFill>
                        <a:srgbClr val="D9D9D9"/>
                      </a:solidFill>
                      <a:prstDash val="solid"/>
                    </a:lnB>
                    <a:solidFill>
                      <a:srgbClr val="FFFFFF"/>
                    </a:solidFill>
                  </a:tcPr>
                </a:tc>
              </a:tr>
              <a:tr h="704850">
                <a:tc>
                  <a:txBody>
                    <a:bodyPr>
                      <a:noAutofit/>
                    </a:bodyPr>
                    <a:lstStyle/>
                    <a:p>
                      <a:r>
                        <a:rPr sz="2025" b="0">
                          <a:solidFill>
                            <a:srgbClr val="20334B"/>
                          </a:solidFill>
                          <a:latin typeface="Arial"/>
                          <a:ea typeface="Arial"/>
                          <a:cs typeface="Arial"/>
                        </a:rPr>
                        <a:t>Segmentación</a:t>
                      </a:r>
                    </a:p>
                  </a:txBody>
                  <a:tcPr marL="133350" marR="133350" marT="85725" marB="76200">
                    <a:lnL w="9525">
                      <a:solidFill>
                        <a:srgbClr val="D9D9D9"/>
                      </a:solidFill>
                      <a:prstDash val="solid"/>
                    </a:lnL>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7500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0</a:t>
                      </a:r>
                    </a:p>
                  </a:txBody>
                  <a:tcPr marL="133350" marR="133350" marT="85725" marB="76200">
                    <a:lnR w="9525">
                      <a:solidFill>
                        <a:srgbClr val="D9D9D9"/>
                      </a:solidFill>
                      <a:prstDash val="solid"/>
                    </a:lnR>
                    <a:lnB w="9525">
                      <a:solidFill>
                        <a:srgbClr val="D9D9D9"/>
                      </a:solidFill>
                      <a:prstDash val="solid"/>
                    </a:lnB>
                    <a:solidFill>
                      <a:srgbClr val="F2F5F9"/>
                    </a:solidFill>
                  </a:tcPr>
                </a:tc>
                <a:tc>
                  <a:txBody>
                    <a:bodyPr>
                      <a:noAutofit/>
                    </a:bodyPr>
                    <a:lstStyle/>
                    <a:p>
                      <a:r>
                        <a:rPr sz="2025" b="0">
                          <a:solidFill>
                            <a:srgbClr val="20334B"/>
                          </a:solidFill>
                          <a:latin typeface="Arial"/>
                          <a:ea typeface="Arial"/>
                          <a:cs typeface="Arial"/>
                        </a:rPr>
                        <a:t>1716</a:t>
                      </a:r>
                    </a:p>
                  </a:txBody>
                  <a:tcPr marL="133350" marR="133350" marT="85725" marB="76200">
                    <a:lnR w="9525">
                      <a:solidFill>
                        <a:srgbClr val="D9D9D9"/>
                      </a:solidFill>
                      <a:prstDash val="solid"/>
                    </a:lnR>
                    <a:lnB w="9525">
                      <a:solidFill>
                        <a:srgbClr val="D9D9D9"/>
                      </a:solidFill>
                      <a:prstDash val="solid"/>
                    </a:lnB>
                    <a:solidFill>
                      <a:srgbClr val="F2F5F9"/>
                    </a:solidFill>
                  </a:tcPr>
                </a:tc>
              </a:tr>
            </a:tbl>
          </a:graphicData>
        </a:graphic>
      </p:graphicFrame>
      <p:sp>
        <p:nvSpPr>
          <p:cNvPr id="5" name="">
            <a:extLst xmlns:a="http://schemas.openxmlformats.org/drawingml/2006/main">
              <a:ext uri="{FF2B5EF4-FFF2-40B4-BE49-F238E27FC236}">
                <a16:creationId xmlns:a16="http://schemas.microsoft.com/office/drawing/2014/main" id="{CF055DDD-516F-4EBC-93BA-5C30ABBB76C0}"/>
              </a:ext>
            </a:extLst>
          </p:cNvPr>
          <p:cNvSpPr>
            <a:spLocks xmlns:a="http://schemas.openxmlformats.org/drawingml/2006/main" noGrp="1"/>
          </p:cNvSpPr>
          <p:nvPr/>
        </p:nvSpPr>
        <p:spPr>
          <a:xfrm xmlns:a="http://schemas.openxmlformats.org/drawingml/2006/main">
            <a:off x="742950" y="46863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C63D44"/>
                </a:solidFill>
                <a:latin typeface="Arial"/>
                <a:ea typeface="Arial"/>
                <a:cs typeface="Arial"/>
              </a:defRPr>
            </a:defPPr>
            <a:lvl1pPr>
              <a:defRPr sz="3150" b="1">
                <a:solidFill>
                  <a:srgbClr val="C63D44"/>
                </a:solidFill>
                <a:latin typeface="Arial"/>
                <a:ea typeface="Arial"/>
                <a:cs typeface="Arial"/>
              </a:defRPr>
            </a:lvl1pPr>
            <a:lvl2pPr>
              <a:defRPr sz="3150" b="1">
                <a:solidFill>
                  <a:srgbClr val="C63D44"/>
                </a:solidFill>
                <a:latin typeface="Arial"/>
                <a:ea typeface="Arial"/>
                <a:cs typeface="Arial"/>
              </a:defRPr>
            </a:lvl2pPr>
            <a:lvl3pPr>
              <a:defRPr sz="3150" b="1">
                <a:solidFill>
                  <a:srgbClr val="C63D44"/>
                </a:solidFill>
                <a:latin typeface="Arial"/>
                <a:ea typeface="Arial"/>
                <a:cs typeface="Arial"/>
              </a:defRPr>
            </a:lvl3pPr>
            <a:lvl4pPr>
              <a:defRPr sz="3150" b="1">
                <a:solidFill>
                  <a:srgbClr val="C63D44"/>
                </a:solidFill>
                <a:latin typeface="Arial"/>
                <a:ea typeface="Arial"/>
                <a:cs typeface="Arial"/>
              </a:defRPr>
            </a:lvl4pPr>
            <a:lvl5pPr>
              <a:defRPr sz="3150" b="1">
                <a:solidFill>
                  <a:srgbClr val="C63D44"/>
                </a:solidFill>
                <a:latin typeface="Arial"/>
                <a:ea typeface="Arial"/>
                <a:cs typeface="Arial"/>
              </a:defRPr>
            </a:lvl5pPr>
            <a:lvl6pPr>
              <a:defRPr sz="3150" b="1">
                <a:solidFill>
                  <a:srgbClr val="C63D44"/>
                </a:solidFill>
                <a:latin typeface="Arial"/>
                <a:ea typeface="Arial"/>
                <a:cs typeface="Arial"/>
              </a:defRPr>
            </a:lvl6pPr>
            <a:lvl7pPr>
              <a:defRPr sz="3150" b="1">
                <a:solidFill>
                  <a:srgbClr val="C63D44"/>
                </a:solidFill>
                <a:latin typeface="Arial"/>
                <a:ea typeface="Arial"/>
                <a:cs typeface="Arial"/>
              </a:defRPr>
            </a:lvl7pPr>
            <a:lvl8pPr>
              <a:defRPr sz="3150" b="1">
                <a:solidFill>
                  <a:srgbClr val="C63D44"/>
                </a:solidFill>
                <a:latin typeface="Arial"/>
                <a:ea typeface="Arial"/>
                <a:cs typeface="Arial"/>
              </a:defRPr>
            </a:lvl8pPr>
            <a:lvl9pPr>
              <a:defRPr sz="3150" b="1">
                <a:solidFill>
                  <a:srgbClr val="C63D44"/>
                </a:solidFill>
                <a:latin typeface="Arial"/>
                <a:ea typeface="Arial"/>
                <a:cs typeface="Arial"/>
              </a:defRPr>
            </a:lvl9pPr>
          </a:lstStyle>
          <a:p xmlns:a="http://schemas.openxmlformats.org/drawingml/2006/main">
            <a:pPr>
              <a:defRPr sz="3150" b="1">
                <a:solidFill>
                  <a:srgbClr val="C63D44"/>
                </a:solidFill>
                <a:latin typeface="Arial"/>
                <a:ea typeface="Arial"/>
                <a:cs typeface="Arial"/>
              </a:defRPr>
            </a:pPr>
            <a:r>
              <a:rPr sz="3150" b="1">
                <a:solidFill>
                  <a:srgbClr val="C63D44"/>
                </a:solidFill>
                <a:latin typeface="Arial"/>
                <a:ea typeface="Arial"/>
                <a:cs typeface="Arial"/>
              </a:rPr>
              <a:t>8192 - 7500 = 692 bytes de sobrante</a:t>
            </a:r>
          </a:p>
        </p:txBody>
      </p:sp>
      <p:sp>
        <p:nvSpPr>
          <p:cNvPr id="6" name="">
            <a:extLst xmlns:a="http://schemas.openxmlformats.org/drawingml/2006/main">
              <a:ext uri="{FF2B5EF4-FFF2-40B4-BE49-F238E27FC236}">
                <a16:creationId xmlns:a16="http://schemas.microsoft.com/office/drawing/2014/main" id="{BCA558BD-C9DA-4927-B1B6-AE097E2EBA52}"/>
              </a:ext>
            </a:extLst>
          </p:cNvPr>
          <p:cNvSpPr>
            <a:spLocks xmlns:a="http://schemas.openxmlformats.org/drawingml/2006/main" noGrp="1"/>
          </p:cNvSpPr>
          <p:nvPr/>
        </p:nvSpPr>
        <p:spPr>
          <a:xfrm xmlns:a="http://schemas.openxmlformats.org/drawingml/2006/main">
            <a:off x="742950" y="5619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a:solidFill>
                  <a:srgbClr val="20334B"/>
                </a:solidFill>
                <a:latin typeface="Arial"/>
                <a:ea typeface="Arial"/>
                <a:cs typeface="Arial"/>
              </a:defRPr>
            </a:defPPr>
            <a:lvl1pPr>
              <a:defRPr sz="2100">
                <a:solidFill>
                  <a:srgbClr val="20334B"/>
                </a:solidFill>
                <a:latin typeface="Arial"/>
                <a:ea typeface="Arial"/>
                <a:cs typeface="Arial"/>
              </a:defRPr>
            </a:lvl1pPr>
            <a:lvl2pPr>
              <a:defRPr sz="2100">
                <a:solidFill>
                  <a:srgbClr val="20334B"/>
                </a:solidFill>
                <a:latin typeface="Arial"/>
                <a:ea typeface="Arial"/>
                <a:cs typeface="Arial"/>
              </a:defRPr>
            </a:lvl2pPr>
            <a:lvl3pPr>
              <a:defRPr sz="2100">
                <a:solidFill>
                  <a:srgbClr val="20334B"/>
                </a:solidFill>
                <a:latin typeface="Arial"/>
                <a:ea typeface="Arial"/>
                <a:cs typeface="Arial"/>
              </a:defRPr>
            </a:lvl3pPr>
            <a:lvl4pPr>
              <a:defRPr sz="2100">
                <a:solidFill>
                  <a:srgbClr val="20334B"/>
                </a:solidFill>
                <a:latin typeface="Arial"/>
                <a:ea typeface="Arial"/>
                <a:cs typeface="Arial"/>
              </a:defRPr>
            </a:lvl4pPr>
            <a:lvl5pPr>
              <a:defRPr sz="2100">
                <a:solidFill>
                  <a:srgbClr val="20334B"/>
                </a:solidFill>
                <a:latin typeface="Arial"/>
                <a:ea typeface="Arial"/>
                <a:cs typeface="Arial"/>
              </a:defRPr>
            </a:lvl5pPr>
            <a:lvl6pPr>
              <a:defRPr sz="2100">
                <a:solidFill>
                  <a:srgbClr val="20334B"/>
                </a:solidFill>
                <a:latin typeface="Arial"/>
                <a:ea typeface="Arial"/>
                <a:cs typeface="Arial"/>
              </a:defRPr>
            </a:lvl6pPr>
            <a:lvl7pPr>
              <a:defRPr sz="2100">
                <a:solidFill>
                  <a:srgbClr val="20334B"/>
                </a:solidFill>
                <a:latin typeface="Arial"/>
                <a:ea typeface="Arial"/>
                <a:cs typeface="Arial"/>
              </a:defRPr>
            </a:lvl7pPr>
            <a:lvl8pPr>
              <a:defRPr sz="2100">
                <a:solidFill>
                  <a:srgbClr val="20334B"/>
                </a:solidFill>
                <a:latin typeface="Arial"/>
                <a:ea typeface="Arial"/>
                <a:cs typeface="Arial"/>
              </a:defRPr>
            </a:lvl8pPr>
            <a:lvl9pPr>
              <a:defRPr sz="2100">
                <a:solidFill>
                  <a:srgbClr val="20334B"/>
                </a:solidFill>
                <a:latin typeface="Arial"/>
                <a:ea typeface="Arial"/>
                <a:cs typeface="Arial"/>
              </a:defRPr>
            </a:lvl9pPr>
          </a:lstStyle>
          <a:p xmlns:a="http://schemas.openxmlformats.org/drawingml/2006/main">
            <a:pPr>
              <a:defRPr sz="2100">
                <a:solidFill>
                  <a:srgbClr val="20334B"/>
                </a:solidFill>
                <a:latin typeface="Arial"/>
                <a:ea typeface="Arial"/>
                <a:cs typeface="Arial"/>
              </a:defRPr>
            </a:pPr>
            <a:r>
              <a:rPr sz="2100">
                <a:solidFill>
                  <a:srgbClr val="20334B"/>
                </a:solidFill>
                <a:latin typeface="Arial"/>
                <a:ea typeface="Arial"/>
                <a:cs typeface="Arial"/>
              </a:rPr>
              <a:t>Contigua se rechaza porque 7500 es mayor que 6144.</a:t>
            </a:r>
          </a:p>
        </p:txBody>
      </p:sp>
    </p:spTree>
    <p:extLst>
      <p:ext uri="{BB962C8B-B14F-4D97-AF65-F5344CB8AC3E}">
        <p14:creationId xmlns:p14="http://schemas.microsoft.com/office/powerpoint/2010/main" val="18520457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67441E-1C5F-4F56-86A0-F08D551F8CE4}"/>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IA y verificación del proyecto</a:t>
            </a:r>
          </a:p>
        </p:txBody>
      </p:sp>
      <p:sp>
        <p:nvSpPr>
          <p:cNvPr id="2" name="">
            <a:extLst xmlns:a="http://schemas.openxmlformats.org/drawingml/2006/main">
              <a:ext uri="{FF2B5EF4-FFF2-40B4-BE49-F238E27FC236}">
                <a16:creationId xmlns:a16="http://schemas.microsoft.com/office/drawing/2014/main" id="{1554C9B6-F5BD-46DF-BC08-C0A5AA4FF830}"/>
              </a:ext>
            </a:extLst>
          </p:cNvPr>
          <p:cNvSpPr>
            <a:spLocks xmlns:a="http://schemas.openxmlformats.org/drawingml/2006/main" noGrp="1"/>
          </p:cNvSpPr>
          <p:nvPr/>
        </p:nvSpPr>
        <p:spPr>
          <a:xfrm xmlns:a="http://schemas.openxmlformats.org/drawingml/2006/main">
            <a:off x="704850" y="1152525"/>
            <a:ext cx="10782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a:solidFill>
                  <a:srgbClr val="526171"/>
                </a:solidFill>
                <a:latin typeface="Arial"/>
                <a:ea typeface="Arial"/>
                <a:cs typeface="Arial"/>
              </a:defRPr>
            </a:defPPr>
            <a:lvl1pPr>
              <a:defRPr sz="1875">
                <a:solidFill>
                  <a:srgbClr val="526171"/>
                </a:solidFill>
                <a:latin typeface="Arial"/>
                <a:ea typeface="Arial"/>
                <a:cs typeface="Arial"/>
              </a:defRPr>
            </a:lvl1pPr>
            <a:lvl2pPr>
              <a:defRPr sz="1875">
                <a:solidFill>
                  <a:srgbClr val="526171"/>
                </a:solidFill>
                <a:latin typeface="Arial"/>
                <a:ea typeface="Arial"/>
                <a:cs typeface="Arial"/>
              </a:defRPr>
            </a:lvl2pPr>
            <a:lvl3pPr>
              <a:defRPr sz="1875">
                <a:solidFill>
                  <a:srgbClr val="526171"/>
                </a:solidFill>
                <a:latin typeface="Arial"/>
                <a:ea typeface="Arial"/>
                <a:cs typeface="Arial"/>
              </a:defRPr>
            </a:lvl3pPr>
            <a:lvl4pPr>
              <a:defRPr sz="1875">
                <a:solidFill>
                  <a:srgbClr val="526171"/>
                </a:solidFill>
                <a:latin typeface="Arial"/>
                <a:ea typeface="Arial"/>
                <a:cs typeface="Arial"/>
              </a:defRPr>
            </a:lvl4pPr>
            <a:lvl5pPr>
              <a:defRPr sz="1875">
                <a:solidFill>
                  <a:srgbClr val="526171"/>
                </a:solidFill>
                <a:latin typeface="Arial"/>
                <a:ea typeface="Arial"/>
                <a:cs typeface="Arial"/>
              </a:defRPr>
            </a:lvl5pPr>
            <a:lvl6pPr>
              <a:defRPr sz="1875">
                <a:solidFill>
                  <a:srgbClr val="526171"/>
                </a:solidFill>
                <a:latin typeface="Arial"/>
                <a:ea typeface="Arial"/>
                <a:cs typeface="Arial"/>
              </a:defRPr>
            </a:lvl6pPr>
            <a:lvl7pPr>
              <a:defRPr sz="1875">
                <a:solidFill>
                  <a:srgbClr val="526171"/>
                </a:solidFill>
                <a:latin typeface="Arial"/>
                <a:ea typeface="Arial"/>
                <a:cs typeface="Arial"/>
              </a:defRPr>
            </a:lvl7pPr>
            <a:lvl8pPr>
              <a:defRPr sz="1875">
                <a:solidFill>
                  <a:srgbClr val="526171"/>
                </a:solidFill>
                <a:latin typeface="Arial"/>
                <a:ea typeface="Arial"/>
                <a:cs typeface="Arial"/>
              </a:defRPr>
            </a:lvl8pPr>
            <a:lvl9pPr>
              <a:defRPr sz="1875">
                <a:solidFill>
                  <a:srgbClr val="526171"/>
                </a:solidFill>
                <a:latin typeface="Arial"/>
                <a:ea typeface="Arial"/>
                <a:cs typeface="Arial"/>
              </a:defRPr>
            </a:lvl9pPr>
          </a:lstStyle>
          <a:p xmlns:a="http://schemas.openxmlformats.org/drawingml/2006/main">
            <a:pPr>
              <a:defRPr sz="1875">
                <a:solidFill>
                  <a:srgbClr val="526171"/>
                </a:solidFill>
                <a:latin typeface="Arial"/>
                <a:ea typeface="Arial"/>
                <a:cs typeface="Arial"/>
              </a:defRPr>
            </a:pPr>
            <a:r>
              <a:rPr sz="1875">
                <a:solidFill>
                  <a:srgbClr val="526171"/>
                </a:solidFill>
                <a:latin typeface="Arial"/>
                <a:ea typeface="Arial"/>
                <a:cs typeface="Arial"/>
              </a:rPr>
              <a:t>Instrucciones, correcciones y resultados documentados.</a:t>
            </a:r>
          </a:p>
        </p:txBody>
      </p:sp>
      <p:sp>
        <p:nvSpPr>
          <p:cNvPr id="3" name="">
            <a:extLst xmlns:a="http://schemas.openxmlformats.org/drawingml/2006/main">
              <a:ext uri="{FF2B5EF4-FFF2-40B4-BE49-F238E27FC236}">
                <a16:creationId xmlns:a16="http://schemas.microsoft.com/office/drawing/2014/main" id="{B558A56E-3067-40BE-99E1-F314BB839DED}"/>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Carlos Lopez Urizar     54:00 a 57:00     22 de 24</a:t>
            </a:r>
          </a:p>
        </p:txBody>
      </p:sp>
      <p:sp>
        <p:nvSpPr>
          <p:cNvPr id="4" name="">
            <a:extLst xmlns:a="http://schemas.openxmlformats.org/drawingml/2006/main">
              <a:ext uri="{FF2B5EF4-FFF2-40B4-BE49-F238E27FC236}">
                <a16:creationId xmlns:a16="http://schemas.microsoft.com/office/drawing/2014/main" id="{80B619E5-0189-4020-82A9-92F4E77D00FF}"/>
              </a:ext>
            </a:extLst>
          </p:cNvPr>
          <p:cNvSpPr>
            <a:spLocks xmlns:a="http://schemas.openxmlformats.org/drawingml/2006/main" noGrp="1"/>
          </p:cNvSpPr>
          <p:nvPr/>
        </p:nvSpPr>
        <p:spPr>
          <a:xfrm xmlns:a="http://schemas.openxmlformats.org/drawingml/2006/main">
            <a:off x="742950" y="2171700"/>
            <a:ext cx="623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20334B"/>
                </a:solidFill>
                <a:latin typeface="Arial"/>
                <a:ea typeface="Arial"/>
                <a:cs typeface="Arial"/>
              </a:defRPr>
            </a:defPPr>
            <a:lvl1pPr>
              <a:defRPr sz="2625" b="1">
                <a:solidFill>
                  <a:srgbClr val="20334B"/>
                </a:solidFill>
                <a:latin typeface="Arial"/>
                <a:ea typeface="Arial"/>
                <a:cs typeface="Arial"/>
              </a:defRPr>
            </a:lvl1pPr>
            <a:lvl2pPr>
              <a:defRPr sz="2625" b="1">
                <a:solidFill>
                  <a:srgbClr val="20334B"/>
                </a:solidFill>
                <a:latin typeface="Arial"/>
                <a:ea typeface="Arial"/>
                <a:cs typeface="Arial"/>
              </a:defRPr>
            </a:lvl2pPr>
            <a:lvl3pPr>
              <a:defRPr sz="2625" b="1">
                <a:solidFill>
                  <a:srgbClr val="20334B"/>
                </a:solidFill>
                <a:latin typeface="Arial"/>
                <a:ea typeface="Arial"/>
                <a:cs typeface="Arial"/>
              </a:defRPr>
            </a:lvl3pPr>
            <a:lvl4pPr>
              <a:defRPr sz="2625" b="1">
                <a:solidFill>
                  <a:srgbClr val="20334B"/>
                </a:solidFill>
                <a:latin typeface="Arial"/>
                <a:ea typeface="Arial"/>
                <a:cs typeface="Arial"/>
              </a:defRPr>
            </a:lvl4pPr>
            <a:lvl5pPr>
              <a:defRPr sz="2625" b="1">
                <a:solidFill>
                  <a:srgbClr val="20334B"/>
                </a:solidFill>
                <a:latin typeface="Arial"/>
                <a:ea typeface="Arial"/>
                <a:cs typeface="Arial"/>
              </a:defRPr>
            </a:lvl5pPr>
            <a:lvl6pPr>
              <a:defRPr sz="2625" b="1">
                <a:solidFill>
                  <a:srgbClr val="20334B"/>
                </a:solidFill>
                <a:latin typeface="Arial"/>
                <a:ea typeface="Arial"/>
                <a:cs typeface="Arial"/>
              </a:defRPr>
            </a:lvl6pPr>
            <a:lvl7pPr>
              <a:defRPr sz="2625" b="1">
                <a:solidFill>
                  <a:srgbClr val="20334B"/>
                </a:solidFill>
                <a:latin typeface="Arial"/>
                <a:ea typeface="Arial"/>
                <a:cs typeface="Arial"/>
              </a:defRPr>
            </a:lvl7pPr>
            <a:lvl8pPr>
              <a:defRPr sz="2625" b="1">
                <a:solidFill>
                  <a:srgbClr val="20334B"/>
                </a:solidFill>
                <a:latin typeface="Arial"/>
                <a:ea typeface="Arial"/>
                <a:cs typeface="Arial"/>
              </a:defRPr>
            </a:lvl8pPr>
            <a:lvl9pPr>
              <a:defRPr sz="2625" b="1">
                <a:solidFill>
                  <a:srgbClr val="20334B"/>
                </a:solidFill>
                <a:latin typeface="Arial"/>
                <a:ea typeface="Arial"/>
                <a:cs typeface="Arial"/>
              </a:defRPr>
            </a:lvl9pPr>
          </a:lstStyle>
          <a:p xmlns:a="http://schemas.openxmlformats.org/drawingml/2006/main">
            <a:pPr>
              <a:defRPr sz="2625" b="1">
                <a:solidFill>
                  <a:srgbClr val="20334B"/>
                </a:solidFill>
                <a:latin typeface="Arial"/>
                <a:ea typeface="Arial"/>
                <a:cs typeface="Arial"/>
              </a:defRPr>
            </a:pPr>
            <a:r>
              <a:rPr sz="2625" b="1">
                <a:solidFill>
                  <a:srgbClr val="20334B"/>
                </a:solidFill>
                <a:latin typeface="Arial"/>
                <a:ea typeface="Arial"/>
                <a:cs typeface="Arial"/>
              </a:rPr>
              <a:t>Apoyo al desarrollo</a:t>
            </a:r>
          </a:p>
        </p:txBody>
      </p:sp>
      <p:sp>
        <p:nvSpPr>
          <p:cNvPr id="5" name="">
            <a:extLst xmlns:a="http://schemas.openxmlformats.org/drawingml/2006/main">
              <a:ext uri="{FF2B5EF4-FFF2-40B4-BE49-F238E27FC236}">
                <a16:creationId xmlns:a16="http://schemas.microsoft.com/office/drawing/2014/main" id="{6E3A8D31-6117-45ED-898C-975459738F3D}"/>
              </a:ext>
            </a:extLst>
          </p:cNvPr>
          <p:cNvSpPr>
            <a:spLocks xmlns:a="http://schemas.openxmlformats.org/drawingml/2006/main" noGrp="1"/>
          </p:cNvSpPr>
          <p:nvPr/>
        </p:nvSpPr>
        <p:spPr>
          <a:xfrm xmlns:a="http://schemas.openxmlformats.org/drawingml/2006/main">
            <a:off x="742950" y="2838450"/>
            <a:ext cx="6238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a:solidFill>
                  <a:srgbClr val="20334B"/>
                </a:solidFill>
                <a:latin typeface="Arial"/>
                <a:ea typeface="Arial"/>
                <a:cs typeface="Arial"/>
              </a:defRPr>
            </a:defPPr>
            <a:lvl1pPr>
              <a:defRPr sz="2250">
                <a:solidFill>
                  <a:srgbClr val="20334B"/>
                </a:solidFill>
                <a:latin typeface="Arial"/>
                <a:ea typeface="Arial"/>
                <a:cs typeface="Arial"/>
              </a:defRPr>
            </a:lvl1pPr>
            <a:lvl2pPr>
              <a:defRPr sz="2250">
                <a:solidFill>
                  <a:srgbClr val="20334B"/>
                </a:solidFill>
                <a:latin typeface="Arial"/>
                <a:ea typeface="Arial"/>
                <a:cs typeface="Arial"/>
              </a:defRPr>
            </a:lvl2pPr>
            <a:lvl3pPr>
              <a:defRPr sz="2250">
                <a:solidFill>
                  <a:srgbClr val="20334B"/>
                </a:solidFill>
                <a:latin typeface="Arial"/>
                <a:ea typeface="Arial"/>
                <a:cs typeface="Arial"/>
              </a:defRPr>
            </a:lvl3pPr>
            <a:lvl4pPr>
              <a:defRPr sz="2250">
                <a:solidFill>
                  <a:srgbClr val="20334B"/>
                </a:solidFill>
                <a:latin typeface="Arial"/>
                <a:ea typeface="Arial"/>
                <a:cs typeface="Arial"/>
              </a:defRPr>
            </a:lvl4pPr>
            <a:lvl5pPr>
              <a:defRPr sz="2250">
                <a:solidFill>
                  <a:srgbClr val="20334B"/>
                </a:solidFill>
                <a:latin typeface="Arial"/>
                <a:ea typeface="Arial"/>
                <a:cs typeface="Arial"/>
              </a:defRPr>
            </a:lvl5pPr>
            <a:lvl6pPr>
              <a:defRPr sz="2250">
                <a:solidFill>
                  <a:srgbClr val="20334B"/>
                </a:solidFill>
                <a:latin typeface="Arial"/>
                <a:ea typeface="Arial"/>
                <a:cs typeface="Arial"/>
              </a:defRPr>
            </a:lvl6pPr>
            <a:lvl7pPr>
              <a:defRPr sz="2250">
                <a:solidFill>
                  <a:srgbClr val="20334B"/>
                </a:solidFill>
                <a:latin typeface="Arial"/>
                <a:ea typeface="Arial"/>
                <a:cs typeface="Arial"/>
              </a:defRPr>
            </a:lvl7pPr>
            <a:lvl8pPr>
              <a:defRPr sz="2250">
                <a:solidFill>
                  <a:srgbClr val="20334B"/>
                </a:solidFill>
                <a:latin typeface="Arial"/>
                <a:ea typeface="Arial"/>
                <a:cs typeface="Arial"/>
              </a:defRPr>
            </a:lvl8pPr>
            <a:lvl9pPr>
              <a:defRPr sz="2250">
                <a:solidFill>
                  <a:srgbClr val="20334B"/>
                </a:solidFill>
                <a:latin typeface="Arial"/>
                <a:ea typeface="Arial"/>
                <a:cs typeface="Arial"/>
              </a:defRPr>
            </a:lvl9pPr>
          </a:lstStyle>
          <a:p xmlns:a="http://schemas.openxmlformats.org/drawingml/2006/main">
            <a:pPr>
              <a:defRPr sz="2250">
                <a:solidFill>
                  <a:srgbClr val="20334B"/>
                </a:solidFill>
                <a:latin typeface="Arial"/>
                <a:ea typeface="Arial"/>
                <a:cs typeface="Arial"/>
              </a:defRPr>
            </a:pPr>
            <a:r>
              <a:rPr sz="2250">
                <a:solidFill>
                  <a:srgbClr val="20334B"/>
                </a:solidFill>
                <a:latin typeface="Arial"/>
                <a:ea typeface="Arial"/>
                <a:cs typeface="Arial"/>
              </a:rPr>
              <a:t>Análisis, código y documentación</a:t>
            </a:r>
          </a:p>
          <a:p xmlns:a="http://schemas.openxmlformats.org/drawingml/2006/main">
            <a:pPr>
              <a:defRPr sz="2250">
                <a:solidFill>
                  <a:srgbClr val="20334B"/>
                </a:solidFill>
                <a:latin typeface="Arial"/>
                <a:ea typeface="Arial"/>
                <a:cs typeface="Arial"/>
              </a:defRPr>
            </a:pPr>
            <a:r>
              <a:rPr sz="2250">
                <a:solidFill>
                  <a:srgbClr val="20334B"/>
                </a:solidFill>
                <a:latin typeface="Arial"/>
                <a:ea typeface="Arial"/>
                <a:cs typeface="Arial"/>
              </a:rPr>
              <a:t>con asistencia de IA</a:t>
            </a:r>
          </a:p>
        </p:txBody>
      </p:sp>
      <p:sp>
        <p:nvSpPr>
          <p:cNvPr id="6" name="">
            <a:extLst xmlns:a="http://schemas.openxmlformats.org/drawingml/2006/main">
              <a:ext uri="{FF2B5EF4-FFF2-40B4-BE49-F238E27FC236}">
                <a16:creationId xmlns:a16="http://schemas.microsoft.com/office/drawing/2014/main" id="{800BC65E-B70A-4F05-B377-91A69FB8AB31}"/>
              </a:ext>
            </a:extLst>
          </p:cNvPr>
          <p:cNvSpPr>
            <a:spLocks xmlns:a="http://schemas.openxmlformats.org/drawingml/2006/main" noGrp="1"/>
          </p:cNvSpPr>
          <p:nvPr/>
        </p:nvSpPr>
        <p:spPr>
          <a:xfrm xmlns:a="http://schemas.openxmlformats.org/drawingml/2006/main">
            <a:off x="742950" y="4381500"/>
            <a:ext cx="6238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a:solidFill>
                  <a:srgbClr val="20334B"/>
                </a:solidFill>
                <a:latin typeface="Arial"/>
                <a:ea typeface="Arial"/>
                <a:cs typeface="Arial"/>
              </a:defRPr>
            </a:defPPr>
            <a:lvl1pPr>
              <a:defRPr sz="2250">
                <a:solidFill>
                  <a:srgbClr val="20334B"/>
                </a:solidFill>
                <a:latin typeface="Arial"/>
                <a:ea typeface="Arial"/>
                <a:cs typeface="Arial"/>
              </a:defRPr>
            </a:lvl1pPr>
            <a:lvl2pPr>
              <a:defRPr sz="2250">
                <a:solidFill>
                  <a:srgbClr val="20334B"/>
                </a:solidFill>
                <a:latin typeface="Arial"/>
                <a:ea typeface="Arial"/>
                <a:cs typeface="Arial"/>
              </a:defRPr>
            </a:lvl2pPr>
            <a:lvl3pPr>
              <a:defRPr sz="2250">
                <a:solidFill>
                  <a:srgbClr val="20334B"/>
                </a:solidFill>
                <a:latin typeface="Arial"/>
                <a:ea typeface="Arial"/>
                <a:cs typeface="Arial"/>
              </a:defRPr>
            </a:lvl3pPr>
            <a:lvl4pPr>
              <a:defRPr sz="2250">
                <a:solidFill>
                  <a:srgbClr val="20334B"/>
                </a:solidFill>
                <a:latin typeface="Arial"/>
                <a:ea typeface="Arial"/>
                <a:cs typeface="Arial"/>
              </a:defRPr>
            </a:lvl4pPr>
            <a:lvl5pPr>
              <a:defRPr sz="2250">
                <a:solidFill>
                  <a:srgbClr val="20334B"/>
                </a:solidFill>
                <a:latin typeface="Arial"/>
                <a:ea typeface="Arial"/>
                <a:cs typeface="Arial"/>
              </a:defRPr>
            </a:lvl5pPr>
            <a:lvl6pPr>
              <a:defRPr sz="2250">
                <a:solidFill>
                  <a:srgbClr val="20334B"/>
                </a:solidFill>
                <a:latin typeface="Arial"/>
                <a:ea typeface="Arial"/>
                <a:cs typeface="Arial"/>
              </a:defRPr>
            </a:lvl6pPr>
            <a:lvl7pPr>
              <a:defRPr sz="2250">
                <a:solidFill>
                  <a:srgbClr val="20334B"/>
                </a:solidFill>
                <a:latin typeface="Arial"/>
                <a:ea typeface="Arial"/>
                <a:cs typeface="Arial"/>
              </a:defRPr>
            </a:lvl7pPr>
            <a:lvl8pPr>
              <a:defRPr sz="2250">
                <a:solidFill>
                  <a:srgbClr val="20334B"/>
                </a:solidFill>
                <a:latin typeface="Arial"/>
                <a:ea typeface="Arial"/>
                <a:cs typeface="Arial"/>
              </a:defRPr>
            </a:lvl8pPr>
            <a:lvl9pPr>
              <a:defRPr sz="2250">
                <a:solidFill>
                  <a:srgbClr val="20334B"/>
                </a:solidFill>
                <a:latin typeface="Arial"/>
                <a:ea typeface="Arial"/>
                <a:cs typeface="Arial"/>
              </a:defRPr>
            </a:lvl9pPr>
          </a:lstStyle>
          <a:p xmlns:a="http://schemas.openxmlformats.org/drawingml/2006/main">
            <a:pPr>
              <a:defRPr sz="2250">
                <a:solidFill>
                  <a:srgbClr val="20334B"/>
                </a:solidFill>
                <a:latin typeface="Arial"/>
                <a:ea typeface="Arial"/>
                <a:cs typeface="Arial"/>
              </a:defRPr>
            </a:pPr>
            <a:r>
              <a:rPr sz="2250">
                <a:solidFill>
                  <a:srgbClr val="20334B"/>
                </a:solidFill>
                <a:latin typeface="Arial"/>
                <a:ea typeface="Arial"/>
                <a:cs typeface="Arial"/>
              </a:rPr>
              <a:t>Comprobación de tablas, límites,</a:t>
            </a:r>
          </a:p>
          <a:p xmlns:a="http://schemas.openxmlformats.org/drawingml/2006/main">
            <a:pPr>
              <a:defRPr sz="2250">
                <a:solidFill>
                  <a:srgbClr val="20334B"/>
                </a:solidFill>
                <a:latin typeface="Arial"/>
                <a:ea typeface="Arial"/>
                <a:cs typeface="Arial"/>
              </a:defRPr>
            </a:pPr>
            <a:r>
              <a:rPr sz="2250">
                <a:solidFill>
                  <a:srgbClr val="20334B"/>
                </a:solidFill>
                <a:latin typeface="Arial"/>
                <a:ea typeface="Arial"/>
                <a:cs typeface="Arial"/>
              </a:rPr>
              <a:t>permisos y cálculos</a:t>
            </a:r>
          </a:p>
        </p:txBody>
      </p:sp>
      <p:sp>
        <p:nvSpPr>
          <p:cNvPr id="7" name="">
            <a:extLst xmlns:a="http://schemas.openxmlformats.org/drawingml/2006/main">
              <a:ext uri="{FF2B5EF4-FFF2-40B4-BE49-F238E27FC236}">
                <a16:creationId xmlns:a16="http://schemas.microsoft.com/office/drawing/2014/main" id="{DB3A7628-8015-4E3D-91E9-964C6F783B11}"/>
              </a:ext>
            </a:extLst>
          </p:cNvPr>
          <p:cNvSpPr>
            <a:spLocks xmlns:a="http://schemas.openxmlformats.org/drawingml/2006/main" noGrp="1"/>
          </p:cNvSpPr>
          <p:nvPr/>
        </p:nvSpPr>
        <p:spPr>
          <a:xfrm xmlns:a="http://schemas.openxmlformats.org/drawingml/2006/main">
            <a:off x="8096250" y="1962150"/>
            <a:ext cx="314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7200" b="1">
                <a:solidFill>
                  <a:srgbClr val="16324F"/>
                </a:solidFill>
                <a:latin typeface="Arial"/>
                <a:ea typeface="Arial"/>
                <a:cs typeface="Arial"/>
              </a:defRPr>
            </a:defPPr>
            <a:lvl1pPr>
              <a:defRPr sz="7200" b="1">
                <a:solidFill>
                  <a:srgbClr val="16324F"/>
                </a:solidFill>
                <a:latin typeface="Arial"/>
                <a:ea typeface="Arial"/>
                <a:cs typeface="Arial"/>
              </a:defRPr>
            </a:lvl1pPr>
            <a:lvl2pPr>
              <a:defRPr sz="7200" b="1">
                <a:solidFill>
                  <a:srgbClr val="16324F"/>
                </a:solidFill>
                <a:latin typeface="Arial"/>
                <a:ea typeface="Arial"/>
                <a:cs typeface="Arial"/>
              </a:defRPr>
            </a:lvl2pPr>
            <a:lvl3pPr>
              <a:defRPr sz="7200" b="1">
                <a:solidFill>
                  <a:srgbClr val="16324F"/>
                </a:solidFill>
                <a:latin typeface="Arial"/>
                <a:ea typeface="Arial"/>
                <a:cs typeface="Arial"/>
              </a:defRPr>
            </a:lvl3pPr>
            <a:lvl4pPr>
              <a:defRPr sz="7200" b="1">
                <a:solidFill>
                  <a:srgbClr val="16324F"/>
                </a:solidFill>
                <a:latin typeface="Arial"/>
                <a:ea typeface="Arial"/>
                <a:cs typeface="Arial"/>
              </a:defRPr>
            </a:lvl4pPr>
            <a:lvl5pPr>
              <a:defRPr sz="7200" b="1">
                <a:solidFill>
                  <a:srgbClr val="16324F"/>
                </a:solidFill>
                <a:latin typeface="Arial"/>
                <a:ea typeface="Arial"/>
                <a:cs typeface="Arial"/>
              </a:defRPr>
            </a:lvl5pPr>
            <a:lvl6pPr>
              <a:defRPr sz="7200" b="1">
                <a:solidFill>
                  <a:srgbClr val="16324F"/>
                </a:solidFill>
                <a:latin typeface="Arial"/>
                <a:ea typeface="Arial"/>
                <a:cs typeface="Arial"/>
              </a:defRPr>
            </a:lvl6pPr>
            <a:lvl7pPr>
              <a:defRPr sz="7200" b="1">
                <a:solidFill>
                  <a:srgbClr val="16324F"/>
                </a:solidFill>
                <a:latin typeface="Arial"/>
                <a:ea typeface="Arial"/>
                <a:cs typeface="Arial"/>
              </a:defRPr>
            </a:lvl7pPr>
            <a:lvl8pPr>
              <a:defRPr sz="7200" b="1">
                <a:solidFill>
                  <a:srgbClr val="16324F"/>
                </a:solidFill>
                <a:latin typeface="Arial"/>
                <a:ea typeface="Arial"/>
                <a:cs typeface="Arial"/>
              </a:defRPr>
            </a:lvl8pPr>
            <a:lvl9pPr>
              <a:defRPr sz="7200" b="1">
                <a:solidFill>
                  <a:srgbClr val="16324F"/>
                </a:solidFill>
                <a:latin typeface="Arial"/>
                <a:ea typeface="Arial"/>
                <a:cs typeface="Arial"/>
              </a:defRPr>
            </a:lvl9pPr>
          </a:lstStyle>
          <a:p xmlns:a="http://schemas.openxmlformats.org/drawingml/2006/main">
            <a:pPr>
              <a:defRPr sz="7200" b="1">
                <a:solidFill>
                  <a:srgbClr val="16324F"/>
                </a:solidFill>
                <a:latin typeface="Arial"/>
                <a:ea typeface="Arial"/>
                <a:cs typeface="Arial"/>
              </a:defRPr>
            </a:pPr>
            <a:r>
              <a:rPr sz="7200" b="1">
                <a:solidFill>
                  <a:srgbClr val="16324F"/>
                </a:solidFill>
                <a:latin typeface="Arial"/>
                <a:ea typeface="Arial"/>
                <a:cs typeface="Arial"/>
              </a:rPr>
              <a:t>655</a:t>
            </a:r>
          </a:p>
        </p:txBody>
      </p:sp>
      <p:sp>
        <p:nvSpPr>
          <p:cNvPr id="8" name="">
            <a:extLst xmlns:a="http://schemas.openxmlformats.org/drawingml/2006/main">
              <a:ext uri="{FF2B5EF4-FFF2-40B4-BE49-F238E27FC236}">
                <a16:creationId xmlns:a16="http://schemas.microsoft.com/office/drawing/2014/main" id="{B7A6EE9D-94F3-4AD0-A3CB-4E04587867DD}"/>
              </a:ext>
            </a:extLst>
          </p:cNvPr>
          <p:cNvSpPr>
            <a:spLocks xmlns:a="http://schemas.openxmlformats.org/drawingml/2006/main" noGrp="1"/>
          </p:cNvSpPr>
          <p:nvPr/>
        </p:nvSpPr>
        <p:spPr>
          <a:xfrm xmlns:a="http://schemas.openxmlformats.org/drawingml/2006/main">
            <a:off x="8115300" y="33242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a:solidFill>
                  <a:srgbClr val="20334B"/>
                </a:solidFill>
                <a:latin typeface="Arial"/>
                <a:ea typeface="Arial"/>
                <a:cs typeface="Arial"/>
              </a:defRPr>
            </a:defPPr>
            <a:lvl1pPr>
              <a:defRPr sz="2100">
                <a:solidFill>
                  <a:srgbClr val="20334B"/>
                </a:solidFill>
                <a:latin typeface="Arial"/>
                <a:ea typeface="Arial"/>
                <a:cs typeface="Arial"/>
              </a:defRPr>
            </a:lvl1pPr>
            <a:lvl2pPr>
              <a:defRPr sz="2100">
                <a:solidFill>
                  <a:srgbClr val="20334B"/>
                </a:solidFill>
                <a:latin typeface="Arial"/>
                <a:ea typeface="Arial"/>
                <a:cs typeface="Arial"/>
              </a:defRPr>
            </a:lvl2pPr>
            <a:lvl3pPr>
              <a:defRPr sz="2100">
                <a:solidFill>
                  <a:srgbClr val="20334B"/>
                </a:solidFill>
                <a:latin typeface="Arial"/>
                <a:ea typeface="Arial"/>
                <a:cs typeface="Arial"/>
              </a:defRPr>
            </a:lvl3pPr>
            <a:lvl4pPr>
              <a:defRPr sz="2100">
                <a:solidFill>
                  <a:srgbClr val="20334B"/>
                </a:solidFill>
                <a:latin typeface="Arial"/>
                <a:ea typeface="Arial"/>
                <a:cs typeface="Arial"/>
              </a:defRPr>
            </a:lvl4pPr>
            <a:lvl5pPr>
              <a:defRPr sz="2100">
                <a:solidFill>
                  <a:srgbClr val="20334B"/>
                </a:solidFill>
                <a:latin typeface="Arial"/>
                <a:ea typeface="Arial"/>
                <a:cs typeface="Arial"/>
              </a:defRPr>
            </a:lvl5pPr>
            <a:lvl6pPr>
              <a:defRPr sz="2100">
                <a:solidFill>
                  <a:srgbClr val="20334B"/>
                </a:solidFill>
                <a:latin typeface="Arial"/>
                <a:ea typeface="Arial"/>
                <a:cs typeface="Arial"/>
              </a:defRPr>
            </a:lvl6pPr>
            <a:lvl7pPr>
              <a:defRPr sz="2100">
                <a:solidFill>
                  <a:srgbClr val="20334B"/>
                </a:solidFill>
                <a:latin typeface="Arial"/>
                <a:ea typeface="Arial"/>
                <a:cs typeface="Arial"/>
              </a:defRPr>
            </a:lvl7pPr>
            <a:lvl8pPr>
              <a:defRPr sz="2100">
                <a:solidFill>
                  <a:srgbClr val="20334B"/>
                </a:solidFill>
                <a:latin typeface="Arial"/>
                <a:ea typeface="Arial"/>
                <a:cs typeface="Arial"/>
              </a:defRPr>
            </a:lvl8pPr>
            <a:lvl9pPr>
              <a:defRPr sz="2100">
                <a:solidFill>
                  <a:srgbClr val="20334B"/>
                </a:solidFill>
                <a:latin typeface="Arial"/>
                <a:ea typeface="Arial"/>
                <a:cs typeface="Arial"/>
              </a:defRPr>
            </a:lvl9pPr>
          </a:lstStyle>
          <a:p xmlns:a="http://schemas.openxmlformats.org/drawingml/2006/main">
            <a:pPr>
              <a:defRPr sz="2100">
                <a:solidFill>
                  <a:srgbClr val="20334B"/>
                </a:solidFill>
                <a:latin typeface="Arial"/>
                <a:ea typeface="Arial"/>
                <a:cs typeface="Arial"/>
              </a:defRPr>
            </a:pPr>
            <a:r>
              <a:rPr sz="2100">
                <a:solidFill>
                  <a:srgbClr val="20334B"/>
                </a:solidFill>
                <a:latin typeface="Arial"/>
                <a:ea typeface="Arial"/>
                <a:cs typeface="Arial"/>
              </a:rPr>
              <a:t>pruebas aprobadas</a:t>
            </a:r>
          </a:p>
        </p:txBody>
      </p:sp>
      <p:sp>
        <p:nvSpPr>
          <p:cNvPr id="9" name="">
            <a:extLst xmlns:a="http://schemas.openxmlformats.org/drawingml/2006/main">
              <a:ext uri="{FF2B5EF4-FFF2-40B4-BE49-F238E27FC236}">
                <a16:creationId xmlns:a16="http://schemas.microsoft.com/office/drawing/2014/main" id="{17904419-C1FF-43DB-B079-C3D15E328F7B}"/>
              </a:ext>
            </a:extLst>
          </p:cNvPr>
          <p:cNvSpPr>
            <a:spLocks xmlns:a="http://schemas.openxmlformats.org/drawingml/2006/main" noGrp="1"/>
          </p:cNvSpPr>
          <p:nvPr/>
        </p:nvSpPr>
        <p:spPr>
          <a:xfrm xmlns:a="http://schemas.openxmlformats.org/drawingml/2006/main">
            <a:off x="8115300" y="39433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a:solidFill>
                  <a:srgbClr val="20334B"/>
                </a:solidFill>
                <a:latin typeface="Arial"/>
                <a:ea typeface="Arial"/>
                <a:cs typeface="Arial"/>
              </a:defRPr>
            </a:defPPr>
            <a:lvl1pPr>
              <a:defRPr sz="2025">
                <a:solidFill>
                  <a:srgbClr val="20334B"/>
                </a:solidFill>
                <a:latin typeface="Arial"/>
                <a:ea typeface="Arial"/>
                <a:cs typeface="Arial"/>
              </a:defRPr>
            </a:lvl1pPr>
            <a:lvl2pPr>
              <a:defRPr sz="2025">
                <a:solidFill>
                  <a:srgbClr val="20334B"/>
                </a:solidFill>
                <a:latin typeface="Arial"/>
                <a:ea typeface="Arial"/>
                <a:cs typeface="Arial"/>
              </a:defRPr>
            </a:lvl2pPr>
            <a:lvl3pPr>
              <a:defRPr sz="2025">
                <a:solidFill>
                  <a:srgbClr val="20334B"/>
                </a:solidFill>
                <a:latin typeface="Arial"/>
                <a:ea typeface="Arial"/>
                <a:cs typeface="Arial"/>
              </a:defRPr>
            </a:lvl3pPr>
            <a:lvl4pPr>
              <a:defRPr sz="2025">
                <a:solidFill>
                  <a:srgbClr val="20334B"/>
                </a:solidFill>
                <a:latin typeface="Arial"/>
                <a:ea typeface="Arial"/>
                <a:cs typeface="Arial"/>
              </a:defRPr>
            </a:lvl4pPr>
            <a:lvl5pPr>
              <a:defRPr sz="2025">
                <a:solidFill>
                  <a:srgbClr val="20334B"/>
                </a:solidFill>
                <a:latin typeface="Arial"/>
                <a:ea typeface="Arial"/>
                <a:cs typeface="Arial"/>
              </a:defRPr>
            </a:lvl5pPr>
            <a:lvl6pPr>
              <a:defRPr sz="2025">
                <a:solidFill>
                  <a:srgbClr val="20334B"/>
                </a:solidFill>
                <a:latin typeface="Arial"/>
                <a:ea typeface="Arial"/>
                <a:cs typeface="Arial"/>
              </a:defRPr>
            </a:lvl6pPr>
            <a:lvl7pPr>
              <a:defRPr sz="2025">
                <a:solidFill>
                  <a:srgbClr val="20334B"/>
                </a:solidFill>
                <a:latin typeface="Arial"/>
                <a:ea typeface="Arial"/>
                <a:cs typeface="Arial"/>
              </a:defRPr>
            </a:lvl7pPr>
            <a:lvl8pPr>
              <a:defRPr sz="2025">
                <a:solidFill>
                  <a:srgbClr val="20334B"/>
                </a:solidFill>
                <a:latin typeface="Arial"/>
                <a:ea typeface="Arial"/>
                <a:cs typeface="Arial"/>
              </a:defRPr>
            </a:lvl8pPr>
            <a:lvl9pPr>
              <a:defRPr sz="2025">
                <a:solidFill>
                  <a:srgbClr val="20334B"/>
                </a:solidFill>
                <a:latin typeface="Arial"/>
                <a:ea typeface="Arial"/>
                <a:cs typeface="Arial"/>
              </a:defRPr>
            </a:lvl9pPr>
          </a:lstStyle>
          <a:p xmlns:a="http://schemas.openxmlformats.org/drawingml/2006/main">
            <a:pPr>
              <a:defRPr sz="2025">
                <a:solidFill>
                  <a:srgbClr val="20334B"/>
                </a:solidFill>
                <a:latin typeface="Arial"/>
                <a:ea typeface="Arial"/>
                <a:cs typeface="Arial"/>
              </a:defRPr>
            </a:pPr>
            <a:r>
              <a:rPr sz="2025">
                <a:solidFill>
                  <a:srgbClr val="20334B"/>
                </a:solidFill>
                <a:latin typeface="Arial"/>
                <a:ea typeface="Arial"/>
                <a:cs typeface="Arial"/>
              </a:rPr>
              <a:t>1 omisión condicional</a:t>
            </a:r>
          </a:p>
          <a:p xmlns:a="http://schemas.openxmlformats.org/drawingml/2006/main">
            <a:pPr>
              <a:defRPr sz="2025">
                <a:solidFill>
                  <a:srgbClr val="20334B"/>
                </a:solidFill>
                <a:latin typeface="Arial"/>
                <a:ea typeface="Arial"/>
                <a:cs typeface="Arial"/>
              </a:defRPr>
            </a:pPr>
            <a:r>
              <a:rPr sz="2025">
                <a:solidFill>
                  <a:srgbClr val="20334B"/>
                </a:solidFill>
                <a:latin typeface="Arial"/>
                <a:ea typeface="Arial"/>
                <a:cs typeface="Arial"/>
              </a:rPr>
              <a:t>4575 aserciones</a:t>
            </a:r>
          </a:p>
        </p:txBody>
      </p:sp>
      <p:sp>
        <p:nvSpPr>
          <p:cNvPr id="10" name="">
            <a:extLst xmlns:a="http://schemas.openxmlformats.org/drawingml/2006/main">
              <a:ext uri="{FF2B5EF4-FFF2-40B4-BE49-F238E27FC236}">
                <a16:creationId xmlns:a16="http://schemas.microsoft.com/office/drawing/2014/main" id="{D21946D2-5840-47D1-8CCB-9778A50D261D}"/>
              </a:ext>
            </a:extLst>
          </p:cNvPr>
          <p:cNvSpPr>
            <a:spLocks xmlns:a="http://schemas.openxmlformats.org/drawingml/2006/main" noGrp="1"/>
          </p:cNvSpPr>
          <p:nvPr/>
        </p:nvSpPr>
        <p:spPr>
          <a:xfrm xmlns:a="http://schemas.openxmlformats.org/drawingml/2006/main">
            <a:off x="8115300" y="5238750"/>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a:solidFill>
                  <a:srgbClr val="C63D44"/>
                </a:solidFill>
                <a:latin typeface="Arial"/>
                <a:ea typeface="Arial"/>
                <a:cs typeface="Arial"/>
              </a:defRPr>
            </a:defPPr>
            <a:lvl1pPr>
              <a:defRPr sz="1725">
                <a:solidFill>
                  <a:srgbClr val="C63D44"/>
                </a:solidFill>
                <a:latin typeface="Arial"/>
                <a:ea typeface="Arial"/>
                <a:cs typeface="Arial"/>
              </a:defRPr>
            </a:lvl1pPr>
            <a:lvl2pPr>
              <a:defRPr sz="1725">
                <a:solidFill>
                  <a:srgbClr val="C63D44"/>
                </a:solidFill>
                <a:latin typeface="Arial"/>
                <a:ea typeface="Arial"/>
                <a:cs typeface="Arial"/>
              </a:defRPr>
            </a:lvl2pPr>
            <a:lvl3pPr>
              <a:defRPr sz="1725">
                <a:solidFill>
                  <a:srgbClr val="C63D44"/>
                </a:solidFill>
                <a:latin typeface="Arial"/>
                <a:ea typeface="Arial"/>
                <a:cs typeface="Arial"/>
              </a:defRPr>
            </a:lvl3pPr>
            <a:lvl4pPr>
              <a:defRPr sz="1725">
                <a:solidFill>
                  <a:srgbClr val="C63D44"/>
                </a:solidFill>
                <a:latin typeface="Arial"/>
                <a:ea typeface="Arial"/>
                <a:cs typeface="Arial"/>
              </a:defRPr>
            </a:lvl4pPr>
            <a:lvl5pPr>
              <a:defRPr sz="1725">
                <a:solidFill>
                  <a:srgbClr val="C63D44"/>
                </a:solidFill>
                <a:latin typeface="Arial"/>
                <a:ea typeface="Arial"/>
                <a:cs typeface="Arial"/>
              </a:defRPr>
            </a:lvl5pPr>
            <a:lvl6pPr>
              <a:defRPr sz="1725">
                <a:solidFill>
                  <a:srgbClr val="C63D44"/>
                </a:solidFill>
                <a:latin typeface="Arial"/>
                <a:ea typeface="Arial"/>
                <a:cs typeface="Arial"/>
              </a:defRPr>
            </a:lvl6pPr>
            <a:lvl7pPr>
              <a:defRPr sz="1725">
                <a:solidFill>
                  <a:srgbClr val="C63D44"/>
                </a:solidFill>
                <a:latin typeface="Arial"/>
                <a:ea typeface="Arial"/>
                <a:cs typeface="Arial"/>
              </a:defRPr>
            </a:lvl7pPr>
            <a:lvl8pPr>
              <a:defRPr sz="1725">
                <a:solidFill>
                  <a:srgbClr val="C63D44"/>
                </a:solidFill>
                <a:latin typeface="Arial"/>
                <a:ea typeface="Arial"/>
                <a:cs typeface="Arial"/>
              </a:defRPr>
            </a:lvl8pPr>
            <a:lvl9pPr>
              <a:defRPr sz="1725">
                <a:solidFill>
                  <a:srgbClr val="C63D44"/>
                </a:solidFill>
                <a:latin typeface="Arial"/>
                <a:ea typeface="Arial"/>
                <a:cs typeface="Arial"/>
              </a:defRPr>
            </a:lvl9pPr>
          </a:lstStyle>
          <a:p xmlns:a="http://schemas.openxmlformats.org/drawingml/2006/main">
            <a:pPr>
              <a:defRPr sz="1725">
                <a:solidFill>
                  <a:srgbClr val="C63D44"/>
                </a:solidFill>
                <a:latin typeface="Arial"/>
                <a:ea typeface="Arial"/>
                <a:cs typeface="Arial"/>
              </a:defRPr>
            </a:pPr>
            <a:r>
              <a:rPr sz="1725">
                <a:solidFill>
                  <a:srgbClr val="C63D44"/>
                </a:solidFill>
                <a:latin typeface="Arial"/>
                <a:ea typeface="Arial"/>
                <a:cs typeface="Arial"/>
              </a:rPr>
              <a:t>Revisión del 8 de octubre de 2026</a:t>
            </a:r>
          </a:p>
        </p:txBody>
      </p:sp>
    </p:spTree>
    <p:extLst>
      <p:ext uri="{BB962C8B-B14F-4D97-AF65-F5344CB8AC3E}">
        <p14:creationId xmlns:p14="http://schemas.microsoft.com/office/powerpoint/2010/main" val="100191388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591A9F-38CD-497A-A428-67C8201DC850}"/>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6324F"/>
                </a:solidFill>
                <a:latin typeface="Arial"/>
                <a:ea typeface="Arial"/>
                <a:cs typeface="Arial"/>
              </a:defRPr>
            </a:defPPr>
            <a:lvl1pPr>
              <a:defRPr sz="3300" b="1">
                <a:solidFill>
                  <a:srgbClr val="16324F"/>
                </a:solidFill>
                <a:latin typeface="Arial"/>
                <a:ea typeface="Arial"/>
                <a:cs typeface="Arial"/>
              </a:defRPr>
            </a:lvl1pPr>
            <a:lvl2pPr>
              <a:defRPr sz="3300" b="1">
                <a:solidFill>
                  <a:srgbClr val="16324F"/>
                </a:solidFill>
                <a:latin typeface="Arial"/>
                <a:ea typeface="Arial"/>
                <a:cs typeface="Arial"/>
              </a:defRPr>
            </a:lvl2pPr>
            <a:lvl3pPr>
              <a:defRPr sz="3300" b="1">
                <a:solidFill>
                  <a:srgbClr val="16324F"/>
                </a:solidFill>
                <a:latin typeface="Arial"/>
                <a:ea typeface="Arial"/>
                <a:cs typeface="Arial"/>
              </a:defRPr>
            </a:lvl3pPr>
            <a:lvl4pPr>
              <a:defRPr sz="3300" b="1">
                <a:solidFill>
                  <a:srgbClr val="16324F"/>
                </a:solidFill>
                <a:latin typeface="Arial"/>
                <a:ea typeface="Arial"/>
                <a:cs typeface="Arial"/>
              </a:defRPr>
            </a:lvl4pPr>
            <a:lvl5pPr>
              <a:defRPr sz="3300" b="1">
                <a:solidFill>
                  <a:srgbClr val="16324F"/>
                </a:solidFill>
                <a:latin typeface="Arial"/>
                <a:ea typeface="Arial"/>
                <a:cs typeface="Arial"/>
              </a:defRPr>
            </a:lvl5pPr>
            <a:lvl6pPr>
              <a:defRPr sz="3300" b="1">
                <a:solidFill>
                  <a:srgbClr val="16324F"/>
                </a:solidFill>
                <a:latin typeface="Arial"/>
                <a:ea typeface="Arial"/>
                <a:cs typeface="Arial"/>
              </a:defRPr>
            </a:lvl6pPr>
            <a:lvl7pPr>
              <a:defRPr sz="3300" b="1">
                <a:solidFill>
                  <a:srgbClr val="16324F"/>
                </a:solidFill>
                <a:latin typeface="Arial"/>
                <a:ea typeface="Arial"/>
                <a:cs typeface="Arial"/>
              </a:defRPr>
            </a:lvl7pPr>
            <a:lvl8pPr>
              <a:defRPr sz="3300" b="1">
                <a:solidFill>
                  <a:srgbClr val="16324F"/>
                </a:solidFill>
                <a:latin typeface="Arial"/>
                <a:ea typeface="Arial"/>
                <a:cs typeface="Arial"/>
              </a:defRPr>
            </a:lvl8pPr>
            <a:lvl9pPr>
              <a:defRPr sz="3300" b="1">
                <a:solidFill>
                  <a:srgbClr val="16324F"/>
                </a:solidFill>
                <a:latin typeface="Arial"/>
                <a:ea typeface="Arial"/>
                <a:cs typeface="Arial"/>
              </a:defRPr>
            </a:lvl9pPr>
          </a:lstStyle>
          <a:p xmlns:a="http://schemas.openxmlformats.org/drawingml/2006/main">
            <a:pPr>
              <a:defRPr sz="3300" b="1">
                <a:solidFill>
                  <a:srgbClr val="16324F"/>
                </a:solidFill>
                <a:latin typeface="Arial"/>
                <a:ea typeface="Arial"/>
                <a:cs typeface="Arial"/>
              </a:defRPr>
            </a:pPr>
            <a:r>
              <a:rPr sz="3300" b="1">
                <a:solidFill>
                  <a:srgbClr val="16324F"/>
                </a:solidFill>
                <a:latin typeface="Arial"/>
                <a:ea typeface="Arial"/>
                <a:cs typeface="Arial"/>
              </a:rPr>
              <a:t>Conclusiones</a:t>
            </a:r>
          </a:p>
        </p:txBody>
      </p:sp>
      <p:sp>
        <p:nvSpPr>
          <p:cNvPr id="2" name="">
            <a:extLst xmlns:a="http://schemas.openxmlformats.org/drawingml/2006/main">
              <a:ext uri="{FF2B5EF4-FFF2-40B4-BE49-F238E27FC236}">
                <a16:creationId xmlns:a16="http://schemas.microsoft.com/office/drawing/2014/main" id="{0BBC2FE2-2A50-49CA-AE52-B52D12192A2B}"/>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526171"/>
                </a:solidFill>
                <a:latin typeface="Arial"/>
                <a:ea typeface="Arial"/>
                <a:cs typeface="Arial"/>
              </a:defRPr>
            </a:defPPr>
            <a:lvl1pPr>
              <a:defRPr sz="1200">
                <a:solidFill>
                  <a:srgbClr val="526171"/>
                </a:solidFill>
                <a:latin typeface="Arial"/>
                <a:ea typeface="Arial"/>
                <a:cs typeface="Arial"/>
              </a:defRPr>
            </a:lvl1pPr>
            <a:lvl2pPr>
              <a:defRPr sz="1200">
                <a:solidFill>
                  <a:srgbClr val="526171"/>
                </a:solidFill>
                <a:latin typeface="Arial"/>
                <a:ea typeface="Arial"/>
                <a:cs typeface="Arial"/>
              </a:defRPr>
            </a:lvl2pPr>
            <a:lvl3pPr>
              <a:defRPr sz="1200">
                <a:solidFill>
                  <a:srgbClr val="526171"/>
                </a:solidFill>
                <a:latin typeface="Arial"/>
                <a:ea typeface="Arial"/>
                <a:cs typeface="Arial"/>
              </a:defRPr>
            </a:lvl3pPr>
            <a:lvl4pPr>
              <a:defRPr sz="1200">
                <a:solidFill>
                  <a:srgbClr val="526171"/>
                </a:solidFill>
                <a:latin typeface="Arial"/>
                <a:ea typeface="Arial"/>
                <a:cs typeface="Arial"/>
              </a:defRPr>
            </a:lvl4pPr>
            <a:lvl5pPr>
              <a:defRPr sz="1200">
                <a:solidFill>
                  <a:srgbClr val="526171"/>
                </a:solidFill>
                <a:latin typeface="Arial"/>
                <a:ea typeface="Arial"/>
                <a:cs typeface="Arial"/>
              </a:defRPr>
            </a:lvl5pPr>
            <a:lvl6pPr>
              <a:defRPr sz="1200">
                <a:solidFill>
                  <a:srgbClr val="526171"/>
                </a:solidFill>
                <a:latin typeface="Arial"/>
                <a:ea typeface="Arial"/>
                <a:cs typeface="Arial"/>
              </a:defRPr>
            </a:lvl6pPr>
            <a:lvl7pPr>
              <a:defRPr sz="1200">
                <a:solidFill>
                  <a:srgbClr val="526171"/>
                </a:solidFill>
                <a:latin typeface="Arial"/>
                <a:ea typeface="Arial"/>
                <a:cs typeface="Arial"/>
              </a:defRPr>
            </a:lvl7pPr>
            <a:lvl8pPr>
              <a:defRPr sz="1200">
                <a:solidFill>
                  <a:srgbClr val="526171"/>
                </a:solidFill>
                <a:latin typeface="Arial"/>
                <a:ea typeface="Arial"/>
                <a:cs typeface="Arial"/>
              </a:defRPr>
            </a:lvl8pPr>
            <a:lvl9pPr>
              <a:defRPr sz="1200">
                <a:solidFill>
                  <a:srgbClr val="526171"/>
                </a:solidFill>
                <a:latin typeface="Arial"/>
                <a:ea typeface="Arial"/>
                <a:cs typeface="Arial"/>
              </a:defRPr>
            </a:lvl9pPr>
          </a:lstStyle>
          <a:p xmlns:a="http://schemas.openxmlformats.org/drawingml/2006/main">
            <a:pPr>
              <a:defRPr sz="1200">
                <a:solidFill>
                  <a:srgbClr val="526171"/>
                </a:solidFill>
                <a:latin typeface="Arial"/>
                <a:ea typeface="Arial"/>
                <a:cs typeface="Arial"/>
              </a:defRPr>
            </a:pPr>
            <a:r>
              <a:rPr sz="1200">
                <a:solidFill>
                  <a:srgbClr val="526171"/>
                </a:solidFill>
                <a:latin typeface="Arial"/>
                <a:ea typeface="Arial"/>
                <a:cs typeface="Arial"/>
              </a:rPr>
              <a:t>Carlos Lopez Urizar     57:00 a 58:40     23 de 24</a:t>
            </a:r>
          </a:p>
        </p:txBody>
      </p:sp>
      <p:sp>
        <p:nvSpPr>
          <p:cNvPr id="3" name="">
            <a:extLst xmlns:a="http://schemas.openxmlformats.org/drawingml/2006/main">
              <a:ext uri="{FF2B5EF4-FFF2-40B4-BE49-F238E27FC236}">
                <a16:creationId xmlns:a16="http://schemas.microsoft.com/office/drawing/2014/main" id="{89CFD8E8-6411-4406-8CD7-CA71FB241B84}"/>
              </a:ext>
            </a:extLst>
          </p:cNvPr>
          <p:cNvSpPr>
            <a:spLocks xmlns:a="http://schemas.openxmlformats.org/drawingml/2006/main" noGrp="1"/>
          </p:cNvSpPr>
          <p:nvPr/>
        </p:nvSpPr>
        <p:spPr>
          <a:xfrm xmlns:a="http://schemas.openxmlformats.org/drawingml/2006/main">
            <a:off x="742950" y="19431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a:solidFill>
                  <a:srgbClr val="20334B"/>
                </a:solidFill>
                <a:latin typeface="Arial"/>
                <a:ea typeface="Arial"/>
                <a:cs typeface="Arial"/>
              </a:defRPr>
            </a:defPPr>
            <a:lvl1pPr>
              <a:defRPr sz="2700">
                <a:solidFill>
                  <a:srgbClr val="20334B"/>
                </a:solidFill>
                <a:latin typeface="Arial"/>
                <a:ea typeface="Arial"/>
                <a:cs typeface="Arial"/>
              </a:defRPr>
            </a:lvl1pPr>
            <a:lvl2pPr>
              <a:defRPr sz="2700">
                <a:solidFill>
                  <a:srgbClr val="20334B"/>
                </a:solidFill>
                <a:latin typeface="Arial"/>
                <a:ea typeface="Arial"/>
                <a:cs typeface="Arial"/>
              </a:defRPr>
            </a:lvl2pPr>
            <a:lvl3pPr>
              <a:defRPr sz="2700">
                <a:solidFill>
                  <a:srgbClr val="20334B"/>
                </a:solidFill>
                <a:latin typeface="Arial"/>
                <a:ea typeface="Arial"/>
                <a:cs typeface="Arial"/>
              </a:defRPr>
            </a:lvl3pPr>
            <a:lvl4pPr>
              <a:defRPr sz="2700">
                <a:solidFill>
                  <a:srgbClr val="20334B"/>
                </a:solidFill>
                <a:latin typeface="Arial"/>
                <a:ea typeface="Arial"/>
                <a:cs typeface="Arial"/>
              </a:defRPr>
            </a:lvl4pPr>
            <a:lvl5pPr>
              <a:defRPr sz="2700">
                <a:solidFill>
                  <a:srgbClr val="20334B"/>
                </a:solidFill>
                <a:latin typeface="Arial"/>
                <a:ea typeface="Arial"/>
                <a:cs typeface="Arial"/>
              </a:defRPr>
            </a:lvl5pPr>
            <a:lvl6pPr>
              <a:defRPr sz="2700">
                <a:solidFill>
                  <a:srgbClr val="20334B"/>
                </a:solidFill>
                <a:latin typeface="Arial"/>
                <a:ea typeface="Arial"/>
                <a:cs typeface="Arial"/>
              </a:defRPr>
            </a:lvl6pPr>
            <a:lvl7pPr>
              <a:defRPr sz="2700">
                <a:solidFill>
                  <a:srgbClr val="20334B"/>
                </a:solidFill>
                <a:latin typeface="Arial"/>
                <a:ea typeface="Arial"/>
                <a:cs typeface="Arial"/>
              </a:defRPr>
            </a:lvl7pPr>
            <a:lvl8pPr>
              <a:defRPr sz="2700">
                <a:solidFill>
                  <a:srgbClr val="20334B"/>
                </a:solidFill>
                <a:latin typeface="Arial"/>
                <a:ea typeface="Arial"/>
                <a:cs typeface="Arial"/>
              </a:defRPr>
            </a:lvl8pPr>
            <a:lvl9pPr>
              <a:defRPr sz="2700">
                <a:solidFill>
                  <a:srgbClr val="20334B"/>
                </a:solidFill>
                <a:latin typeface="Arial"/>
                <a:ea typeface="Arial"/>
                <a:cs typeface="Arial"/>
              </a:defRPr>
            </a:lvl9pPr>
          </a:lstStyle>
          <a:p xmlns:a="http://schemas.openxmlformats.org/drawingml/2006/main">
            <a:pPr>
              <a:defRPr sz="2700">
                <a:solidFill>
                  <a:srgbClr val="20334B"/>
                </a:solidFill>
                <a:latin typeface="Arial"/>
                <a:ea typeface="Arial"/>
                <a:cs typeface="Arial"/>
              </a:defRPr>
            </a:pPr>
            <a:r>
              <a:rPr sz="2700">
                <a:solidFill>
                  <a:srgbClr val="20334B"/>
                </a:solidFill>
                <a:latin typeface="Arial"/>
                <a:ea typeface="Arial"/>
                <a:cs typeface="Arial"/>
              </a:rPr>
              <a:t>La tabla de páginas relaciona cada página</a:t>
            </a:r>
          </a:p>
          <a:p xmlns:a="http://schemas.openxmlformats.org/drawingml/2006/main">
            <a:pPr>
              <a:defRPr sz="2700">
                <a:solidFill>
                  <a:srgbClr val="20334B"/>
                </a:solidFill>
                <a:latin typeface="Arial"/>
                <a:ea typeface="Arial"/>
                <a:cs typeface="Arial"/>
              </a:defRPr>
            </a:pPr>
            <a:r>
              <a:rPr sz="2700">
                <a:solidFill>
                  <a:srgbClr val="20334B"/>
                </a:solidFill>
                <a:latin typeface="Arial"/>
                <a:ea typeface="Arial"/>
                <a:cs typeface="Arial"/>
              </a:rPr>
              <a:t>con su ubicación actual en RAM.</a:t>
            </a:r>
          </a:p>
        </p:txBody>
      </p:sp>
      <p:sp>
        <p:nvSpPr>
          <p:cNvPr id="4" name="">
            <a:extLst xmlns:a="http://schemas.openxmlformats.org/drawingml/2006/main">
              <a:ext uri="{FF2B5EF4-FFF2-40B4-BE49-F238E27FC236}">
                <a16:creationId xmlns:a16="http://schemas.microsoft.com/office/drawing/2014/main" id="{AF4F2395-2347-40BF-BDA9-8077113AF09E}"/>
              </a:ext>
            </a:extLst>
          </p:cNvPr>
          <p:cNvSpPr>
            <a:spLocks xmlns:a="http://schemas.openxmlformats.org/drawingml/2006/main" noGrp="1"/>
          </p:cNvSpPr>
          <p:nvPr/>
        </p:nvSpPr>
        <p:spPr>
          <a:xfrm xmlns:a="http://schemas.openxmlformats.org/drawingml/2006/main">
            <a:off x="742950" y="34575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a:solidFill>
                  <a:srgbClr val="20334B"/>
                </a:solidFill>
                <a:latin typeface="Arial"/>
                <a:ea typeface="Arial"/>
                <a:cs typeface="Arial"/>
              </a:defRPr>
            </a:defPPr>
            <a:lvl1pPr>
              <a:defRPr sz="2700">
                <a:solidFill>
                  <a:srgbClr val="20334B"/>
                </a:solidFill>
                <a:latin typeface="Arial"/>
                <a:ea typeface="Arial"/>
                <a:cs typeface="Arial"/>
              </a:defRPr>
            </a:lvl1pPr>
            <a:lvl2pPr>
              <a:defRPr sz="2700">
                <a:solidFill>
                  <a:srgbClr val="20334B"/>
                </a:solidFill>
                <a:latin typeface="Arial"/>
                <a:ea typeface="Arial"/>
                <a:cs typeface="Arial"/>
              </a:defRPr>
            </a:lvl2pPr>
            <a:lvl3pPr>
              <a:defRPr sz="2700">
                <a:solidFill>
                  <a:srgbClr val="20334B"/>
                </a:solidFill>
                <a:latin typeface="Arial"/>
                <a:ea typeface="Arial"/>
                <a:cs typeface="Arial"/>
              </a:defRPr>
            </a:lvl3pPr>
            <a:lvl4pPr>
              <a:defRPr sz="2700">
                <a:solidFill>
                  <a:srgbClr val="20334B"/>
                </a:solidFill>
                <a:latin typeface="Arial"/>
                <a:ea typeface="Arial"/>
                <a:cs typeface="Arial"/>
              </a:defRPr>
            </a:lvl4pPr>
            <a:lvl5pPr>
              <a:defRPr sz="2700">
                <a:solidFill>
                  <a:srgbClr val="20334B"/>
                </a:solidFill>
                <a:latin typeface="Arial"/>
                <a:ea typeface="Arial"/>
                <a:cs typeface="Arial"/>
              </a:defRPr>
            </a:lvl5pPr>
            <a:lvl6pPr>
              <a:defRPr sz="2700">
                <a:solidFill>
                  <a:srgbClr val="20334B"/>
                </a:solidFill>
                <a:latin typeface="Arial"/>
                <a:ea typeface="Arial"/>
                <a:cs typeface="Arial"/>
              </a:defRPr>
            </a:lvl6pPr>
            <a:lvl7pPr>
              <a:defRPr sz="2700">
                <a:solidFill>
                  <a:srgbClr val="20334B"/>
                </a:solidFill>
                <a:latin typeface="Arial"/>
                <a:ea typeface="Arial"/>
                <a:cs typeface="Arial"/>
              </a:defRPr>
            </a:lvl7pPr>
            <a:lvl8pPr>
              <a:defRPr sz="2700">
                <a:solidFill>
                  <a:srgbClr val="20334B"/>
                </a:solidFill>
                <a:latin typeface="Arial"/>
                <a:ea typeface="Arial"/>
                <a:cs typeface="Arial"/>
              </a:defRPr>
            </a:lvl8pPr>
            <a:lvl9pPr>
              <a:defRPr sz="2700">
                <a:solidFill>
                  <a:srgbClr val="20334B"/>
                </a:solidFill>
                <a:latin typeface="Arial"/>
                <a:ea typeface="Arial"/>
                <a:cs typeface="Arial"/>
              </a:defRPr>
            </a:lvl9pPr>
          </a:lstStyle>
          <a:p xmlns:a="http://schemas.openxmlformats.org/drawingml/2006/main">
            <a:pPr>
              <a:defRPr sz="2700">
                <a:solidFill>
                  <a:srgbClr val="20334B"/>
                </a:solidFill>
                <a:latin typeface="Arial"/>
                <a:ea typeface="Arial"/>
                <a:cs typeface="Arial"/>
              </a:defRPr>
            </a:pPr>
            <a:r>
              <a:rPr sz="2700">
                <a:solidFill>
                  <a:srgbClr val="20334B"/>
                </a:solidFill>
                <a:latin typeface="Arial"/>
                <a:ea typeface="Arial"/>
                <a:cs typeface="Arial"/>
              </a:rPr>
              <a:t>El límite protege el acceso</a:t>
            </a:r>
          </a:p>
          <a:p xmlns:a="http://schemas.openxmlformats.org/drawingml/2006/main">
            <a:pPr>
              <a:defRPr sz="2700">
                <a:solidFill>
                  <a:srgbClr val="20334B"/>
                </a:solidFill>
                <a:latin typeface="Arial"/>
                <a:ea typeface="Arial"/>
                <a:cs typeface="Arial"/>
              </a:defRPr>
            </a:pPr>
            <a:r>
              <a:rPr sz="2700">
                <a:solidFill>
                  <a:srgbClr val="20334B"/>
                </a:solidFill>
                <a:latin typeface="Arial"/>
                <a:ea typeface="Arial"/>
                <a:cs typeface="Arial"/>
              </a:rPr>
              <a:t>a cada segmento.</a:t>
            </a:r>
          </a:p>
        </p:txBody>
      </p:sp>
      <p:sp>
        <p:nvSpPr>
          <p:cNvPr id="5" name="">
            <a:extLst xmlns:a="http://schemas.openxmlformats.org/drawingml/2006/main">
              <a:ext uri="{FF2B5EF4-FFF2-40B4-BE49-F238E27FC236}">
                <a16:creationId xmlns:a16="http://schemas.microsoft.com/office/drawing/2014/main" id="{885D90D8-5452-4972-9EBC-507D910789A7}"/>
              </a:ext>
            </a:extLst>
          </p:cNvPr>
          <p:cNvSpPr>
            <a:spLocks xmlns:a="http://schemas.openxmlformats.org/drawingml/2006/main" noGrp="1"/>
          </p:cNvSpPr>
          <p:nvPr/>
        </p:nvSpPr>
        <p:spPr>
          <a:xfrm xmlns:a="http://schemas.openxmlformats.org/drawingml/2006/main">
            <a:off x="742950" y="49720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a:solidFill>
                  <a:srgbClr val="20334B"/>
                </a:solidFill>
                <a:latin typeface="Arial"/>
                <a:ea typeface="Arial"/>
                <a:cs typeface="Arial"/>
              </a:defRPr>
            </a:defPPr>
            <a:lvl1pPr>
              <a:defRPr sz="2700">
                <a:solidFill>
                  <a:srgbClr val="20334B"/>
                </a:solidFill>
                <a:latin typeface="Arial"/>
                <a:ea typeface="Arial"/>
                <a:cs typeface="Arial"/>
              </a:defRPr>
            </a:lvl1pPr>
            <a:lvl2pPr>
              <a:defRPr sz="2700">
                <a:solidFill>
                  <a:srgbClr val="20334B"/>
                </a:solidFill>
                <a:latin typeface="Arial"/>
                <a:ea typeface="Arial"/>
                <a:cs typeface="Arial"/>
              </a:defRPr>
            </a:lvl2pPr>
            <a:lvl3pPr>
              <a:defRPr sz="2700">
                <a:solidFill>
                  <a:srgbClr val="20334B"/>
                </a:solidFill>
                <a:latin typeface="Arial"/>
                <a:ea typeface="Arial"/>
                <a:cs typeface="Arial"/>
              </a:defRPr>
            </a:lvl3pPr>
            <a:lvl4pPr>
              <a:defRPr sz="2700">
                <a:solidFill>
                  <a:srgbClr val="20334B"/>
                </a:solidFill>
                <a:latin typeface="Arial"/>
                <a:ea typeface="Arial"/>
                <a:cs typeface="Arial"/>
              </a:defRPr>
            </a:lvl4pPr>
            <a:lvl5pPr>
              <a:defRPr sz="2700">
                <a:solidFill>
                  <a:srgbClr val="20334B"/>
                </a:solidFill>
                <a:latin typeface="Arial"/>
                <a:ea typeface="Arial"/>
                <a:cs typeface="Arial"/>
              </a:defRPr>
            </a:lvl5pPr>
            <a:lvl6pPr>
              <a:defRPr sz="2700">
                <a:solidFill>
                  <a:srgbClr val="20334B"/>
                </a:solidFill>
                <a:latin typeface="Arial"/>
                <a:ea typeface="Arial"/>
                <a:cs typeface="Arial"/>
              </a:defRPr>
            </a:lvl6pPr>
            <a:lvl7pPr>
              <a:defRPr sz="2700">
                <a:solidFill>
                  <a:srgbClr val="20334B"/>
                </a:solidFill>
                <a:latin typeface="Arial"/>
                <a:ea typeface="Arial"/>
                <a:cs typeface="Arial"/>
              </a:defRPr>
            </a:lvl7pPr>
            <a:lvl8pPr>
              <a:defRPr sz="2700">
                <a:solidFill>
                  <a:srgbClr val="20334B"/>
                </a:solidFill>
                <a:latin typeface="Arial"/>
                <a:ea typeface="Arial"/>
                <a:cs typeface="Arial"/>
              </a:defRPr>
            </a:lvl8pPr>
            <a:lvl9pPr>
              <a:defRPr sz="2700">
                <a:solidFill>
                  <a:srgbClr val="20334B"/>
                </a:solidFill>
                <a:latin typeface="Arial"/>
                <a:ea typeface="Arial"/>
                <a:cs typeface="Arial"/>
              </a:defRPr>
            </a:lvl9pPr>
          </a:lstStyle>
          <a:p xmlns:a="http://schemas.openxmlformats.org/drawingml/2006/main">
            <a:pPr>
              <a:defRPr sz="2700">
                <a:solidFill>
                  <a:srgbClr val="20334B"/>
                </a:solidFill>
                <a:latin typeface="Arial"/>
                <a:ea typeface="Arial"/>
                <a:cs typeface="Arial"/>
              </a:defRPr>
            </a:pPr>
            <a:r>
              <a:rPr sz="2700">
                <a:solidFill>
                  <a:srgbClr val="20334B"/>
                </a:solidFill>
                <a:latin typeface="Arial"/>
                <a:ea typeface="Arial"/>
                <a:cs typeface="Arial"/>
              </a:rPr>
              <a:t>La distribución del espacio libre</a:t>
            </a:r>
          </a:p>
          <a:p xmlns:a="http://schemas.openxmlformats.org/drawingml/2006/main">
            <a:pPr>
              <a:defRPr sz="2700">
                <a:solidFill>
                  <a:srgbClr val="20334B"/>
                </a:solidFill>
                <a:latin typeface="Arial"/>
                <a:ea typeface="Arial"/>
                <a:cs typeface="Arial"/>
              </a:defRPr>
            </a:pPr>
            <a:r>
              <a:rPr sz="2700">
                <a:solidFill>
                  <a:srgbClr val="20334B"/>
                </a:solidFill>
                <a:latin typeface="Arial"/>
                <a:ea typeface="Arial"/>
                <a:cs typeface="Arial"/>
              </a:rPr>
              <a:t>determina qué solicitudes caben.</a:t>
            </a:r>
          </a:p>
        </p:txBody>
      </p:sp>
    </p:spTree>
    <p:extLst>
      <p:ext uri="{BB962C8B-B14F-4D97-AF65-F5344CB8AC3E}">
        <p14:creationId xmlns:p14="http://schemas.microsoft.com/office/powerpoint/2010/main" val="1491708185"/>
      </p:ext>
    </p:extLst>
  </p:cSld>
</p:sld>
</file>

<file path=ppt/slides/slide24.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4E6E65-45EF-4DA5-85F3-906CD7B8BA9A}"/>
              </a:ext>
            </a:extLst>
          </p:cNvPr>
          <p:cNvSpPr>
            <a:spLocks xmlns:a="http://schemas.openxmlformats.org/drawingml/2006/main" noGrp="1"/>
          </p:cNvSpPr>
          <p:nvPr/>
        </p:nvSpPr>
        <p:spPr>
          <a:xfrm xmlns:a="http://schemas.openxmlformats.org/drawingml/2006/main">
            <a:off x="685800" y="4000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Preguntas</a:t>
            </a:r>
          </a:p>
        </p:txBody>
      </p:sp>
      <p:sp>
        <p:nvSpPr>
          <p:cNvPr id="2" name="">
            <a:extLst xmlns:a="http://schemas.openxmlformats.org/drawingml/2006/main">
              <a:ext uri="{FF2B5EF4-FFF2-40B4-BE49-F238E27FC236}">
                <a16:creationId xmlns:a16="http://schemas.microsoft.com/office/drawing/2014/main" id="{52732411-8921-4981-B32D-F2B831E27936}"/>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a:solidFill>
                  <a:srgbClr val="DCE5EF"/>
                </a:solidFill>
                <a:latin typeface="Arial"/>
                <a:ea typeface="Arial"/>
                <a:cs typeface="Arial"/>
              </a:defRPr>
            </a:defPPr>
            <a:lvl1pPr>
              <a:defRPr sz="1200">
                <a:solidFill>
                  <a:srgbClr val="DCE5EF"/>
                </a:solidFill>
                <a:latin typeface="Arial"/>
                <a:ea typeface="Arial"/>
                <a:cs typeface="Arial"/>
              </a:defRPr>
            </a:lvl1pPr>
            <a:lvl2pPr>
              <a:defRPr sz="1200">
                <a:solidFill>
                  <a:srgbClr val="DCE5EF"/>
                </a:solidFill>
                <a:latin typeface="Arial"/>
                <a:ea typeface="Arial"/>
                <a:cs typeface="Arial"/>
              </a:defRPr>
            </a:lvl2pPr>
            <a:lvl3pPr>
              <a:defRPr sz="1200">
                <a:solidFill>
                  <a:srgbClr val="DCE5EF"/>
                </a:solidFill>
                <a:latin typeface="Arial"/>
                <a:ea typeface="Arial"/>
                <a:cs typeface="Arial"/>
              </a:defRPr>
            </a:lvl3pPr>
            <a:lvl4pPr>
              <a:defRPr sz="1200">
                <a:solidFill>
                  <a:srgbClr val="DCE5EF"/>
                </a:solidFill>
                <a:latin typeface="Arial"/>
                <a:ea typeface="Arial"/>
                <a:cs typeface="Arial"/>
              </a:defRPr>
            </a:lvl4pPr>
            <a:lvl5pPr>
              <a:defRPr sz="1200">
                <a:solidFill>
                  <a:srgbClr val="DCE5EF"/>
                </a:solidFill>
                <a:latin typeface="Arial"/>
                <a:ea typeface="Arial"/>
                <a:cs typeface="Arial"/>
              </a:defRPr>
            </a:lvl5pPr>
            <a:lvl6pPr>
              <a:defRPr sz="1200">
                <a:solidFill>
                  <a:srgbClr val="DCE5EF"/>
                </a:solidFill>
                <a:latin typeface="Arial"/>
                <a:ea typeface="Arial"/>
                <a:cs typeface="Arial"/>
              </a:defRPr>
            </a:lvl6pPr>
            <a:lvl7pPr>
              <a:defRPr sz="1200">
                <a:solidFill>
                  <a:srgbClr val="DCE5EF"/>
                </a:solidFill>
                <a:latin typeface="Arial"/>
                <a:ea typeface="Arial"/>
                <a:cs typeface="Arial"/>
              </a:defRPr>
            </a:lvl7pPr>
            <a:lvl8pPr>
              <a:defRPr sz="1200">
                <a:solidFill>
                  <a:srgbClr val="DCE5EF"/>
                </a:solidFill>
                <a:latin typeface="Arial"/>
                <a:ea typeface="Arial"/>
                <a:cs typeface="Arial"/>
              </a:defRPr>
            </a:lvl8pPr>
            <a:lvl9pPr>
              <a:defRPr sz="1200">
                <a:solidFill>
                  <a:srgbClr val="DCE5EF"/>
                </a:solidFill>
                <a:latin typeface="Arial"/>
                <a:ea typeface="Arial"/>
                <a:cs typeface="Arial"/>
              </a:defRPr>
            </a:lvl9pPr>
          </a:lstStyle>
          <a:p xmlns:a="http://schemas.openxmlformats.org/drawingml/2006/main">
            <a:pPr>
              <a:defRPr sz="1200">
                <a:solidFill>
                  <a:srgbClr val="DCE5EF"/>
                </a:solidFill>
                <a:latin typeface="Arial"/>
                <a:ea typeface="Arial"/>
                <a:cs typeface="Arial"/>
              </a:defRPr>
            </a:pPr>
            <a:r>
              <a:rPr sz="1200">
                <a:solidFill>
                  <a:srgbClr val="DCE5EF"/>
                </a:solidFill>
                <a:latin typeface="Arial"/>
                <a:ea typeface="Arial"/>
                <a:cs typeface="Arial"/>
              </a:rPr>
              <a:t>Carlos Lopez Urizar     58:40 a 60:00     24 de 24</a:t>
            </a:r>
          </a:p>
        </p:txBody>
      </p:sp>
      <p:sp>
        <p:nvSpPr>
          <p:cNvPr id="3" name="">
            <a:extLst xmlns:a="http://schemas.openxmlformats.org/drawingml/2006/main">
              <a:ext uri="{FF2B5EF4-FFF2-40B4-BE49-F238E27FC236}">
                <a16:creationId xmlns:a16="http://schemas.microsoft.com/office/drawing/2014/main" id="{A6A7C941-2F88-4AFA-BB44-3A4B42E42C4D}"/>
              </a:ext>
            </a:extLst>
          </p:cNvPr>
          <p:cNvSpPr>
            <a:spLocks xmlns:a="http://schemas.openxmlformats.org/drawingml/2006/main" noGrp="1"/>
          </p:cNvSpPr>
          <p:nvPr/>
        </p:nvSpPr>
        <p:spPr>
          <a:xfrm xmlns:a="http://schemas.openxmlformats.org/drawingml/2006/main">
            <a:off x="742950" y="2114550"/>
            <a:ext cx="10553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a:solidFill>
                  <a:srgbClr val="FFFFFF"/>
                </a:solidFill>
                <a:latin typeface="Arial"/>
                <a:ea typeface="Arial"/>
                <a:cs typeface="Arial"/>
              </a:defRPr>
            </a:defPPr>
            <a:lvl1pPr>
              <a:defRPr sz="3225">
                <a:solidFill>
                  <a:srgbClr val="FFFFFF"/>
                </a:solidFill>
                <a:latin typeface="Arial"/>
                <a:ea typeface="Arial"/>
                <a:cs typeface="Arial"/>
              </a:defRPr>
            </a:lvl1pPr>
            <a:lvl2pPr>
              <a:defRPr sz="3225">
                <a:solidFill>
                  <a:srgbClr val="FFFFFF"/>
                </a:solidFill>
                <a:latin typeface="Arial"/>
                <a:ea typeface="Arial"/>
                <a:cs typeface="Arial"/>
              </a:defRPr>
            </a:lvl2pPr>
            <a:lvl3pPr>
              <a:defRPr sz="3225">
                <a:solidFill>
                  <a:srgbClr val="FFFFFF"/>
                </a:solidFill>
                <a:latin typeface="Arial"/>
                <a:ea typeface="Arial"/>
                <a:cs typeface="Arial"/>
              </a:defRPr>
            </a:lvl3pPr>
            <a:lvl4pPr>
              <a:defRPr sz="3225">
                <a:solidFill>
                  <a:srgbClr val="FFFFFF"/>
                </a:solidFill>
                <a:latin typeface="Arial"/>
                <a:ea typeface="Arial"/>
                <a:cs typeface="Arial"/>
              </a:defRPr>
            </a:lvl4pPr>
            <a:lvl5pPr>
              <a:defRPr sz="3225">
                <a:solidFill>
                  <a:srgbClr val="FFFFFF"/>
                </a:solidFill>
                <a:latin typeface="Arial"/>
                <a:ea typeface="Arial"/>
                <a:cs typeface="Arial"/>
              </a:defRPr>
            </a:lvl5pPr>
            <a:lvl6pPr>
              <a:defRPr sz="3225">
                <a:solidFill>
                  <a:srgbClr val="FFFFFF"/>
                </a:solidFill>
                <a:latin typeface="Arial"/>
                <a:ea typeface="Arial"/>
                <a:cs typeface="Arial"/>
              </a:defRPr>
            </a:lvl6pPr>
            <a:lvl7pPr>
              <a:defRPr sz="3225">
                <a:solidFill>
                  <a:srgbClr val="FFFFFF"/>
                </a:solidFill>
                <a:latin typeface="Arial"/>
                <a:ea typeface="Arial"/>
                <a:cs typeface="Arial"/>
              </a:defRPr>
            </a:lvl7pPr>
            <a:lvl8pPr>
              <a:defRPr sz="3225">
                <a:solidFill>
                  <a:srgbClr val="FFFFFF"/>
                </a:solidFill>
                <a:latin typeface="Arial"/>
                <a:ea typeface="Arial"/>
                <a:cs typeface="Arial"/>
              </a:defRPr>
            </a:lvl8pPr>
            <a:lvl9pPr>
              <a:defRPr sz="3225">
                <a:solidFill>
                  <a:srgbClr val="FFFFFF"/>
                </a:solidFill>
                <a:latin typeface="Arial"/>
                <a:ea typeface="Arial"/>
                <a:cs typeface="Arial"/>
              </a:defRPr>
            </a:lvl9pPr>
          </a:lstStyle>
          <a:p xmlns:a="http://schemas.openxmlformats.org/drawingml/2006/main">
            <a:pPr>
              <a:defRPr sz="3225">
                <a:solidFill>
                  <a:srgbClr val="FFFFFF"/>
                </a:solidFill>
                <a:latin typeface="Arial"/>
                <a:ea typeface="Arial"/>
                <a:cs typeface="Arial"/>
              </a:defRPr>
            </a:pPr>
            <a:r>
              <a:rPr sz="3225">
                <a:solidFill>
                  <a:srgbClr val="FFFFFF"/>
                </a:solidFill>
                <a:latin typeface="Arial"/>
                <a:ea typeface="Arial"/>
                <a:cs typeface="Arial"/>
              </a:rPr>
              <a:t>¿La página cero siempre ocupa</a:t>
            </a:r>
          </a:p>
          <a:p xmlns:a="http://schemas.openxmlformats.org/drawingml/2006/main">
            <a:pPr>
              <a:defRPr sz="3225">
                <a:solidFill>
                  <a:srgbClr val="FFFFFF"/>
                </a:solidFill>
                <a:latin typeface="Arial"/>
                <a:ea typeface="Arial"/>
                <a:cs typeface="Arial"/>
              </a:defRPr>
            </a:pPr>
            <a:r>
              <a:rPr sz="3225">
                <a:solidFill>
                  <a:srgbClr val="FFFFFF"/>
                </a:solidFill>
                <a:latin typeface="Arial"/>
                <a:ea typeface="Arial"/>
                <a:cs typeface="Arial"/>
              </a:rPr>
              <a:t>el marco cero?</a:t>
            </a:r>
          </a:p>
        </p:txBody>
      </p:sp>
      <p:sp>
        <p:nvSpPr>
          <p:cNvPr id="4" name="">
            <a:extLst xmlns:a="http://schemas.openxmlformats.org/drawingml/2006/main">
              <a:ext uri="{FF2B5EF4-FFF2-40B4-BE49-F238E27FC236}">
                <a16:creationId xmlns:a16="http://schemas.microsoft.com/office/drawing/2014/main" id="{417237AF-895C-4A72-8D39-7BAB3AD34424}"/>
              </a:ext>
            </a:extLst>
          </p:cNvPr>
          <p:cNvSpPr>
            <a:spLocks xmlns:a="http://schemas.openxmlformats.org/drawingml/2006/main" noGrp="1"/>
          </p:cNvSpPr>
          <p:nvPr/>
        </p:nvSpPr>
        <p:spPr>
          <a:xfrm xmlns:a="http://schemas.openxmlformats.org/drawingml/2006/main">
            <a:off x="742950" y="3829050"/>
            <a:ext cx="10553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a:solidFill>
                  <a:srgbClr val="FFFFFF"/>
                </a:solidFill>
                <a:latin typeface="Arial"/>
                <a:ea typeface="Arial"/>
                <a:cs typeface="Arial"/>
              </a:defRPr>
            </a:defPPr>
            <a:lvl1pPr>
              <a:defRPr sz="3225">
                <a:solidFill>
                  <a:srgbClr val="FFFFFF"/>
                </a:solidFill>
                <a:latin typeface="Arial"/>
                <a:ea typeface="Arial"/>
                <a:cs typeface="Arial"/>
              </a:defRPr>
            </a:lvl1pPr>
            <a:lvl2pPr>
              <a:defRPr sz="3225">
                <a:solidFill>
                  <a:srgbClr val="FFFFFF"/>
                </a:solidFill>
                <a:latin typeface="Arial"/>
                <a:ea typeface="Arial"/>
                <a:cs typeface="Arial"/>
              </a:defRPr>
            </a:lvl2pPr>
            <a:lvl3pPr>
              <a:defRPr sz="3225">
                <a:solidFill>
                  <a:srgbClr val="FFFFFF"/>
                </a:solidFill>
                <a:latin typeface="Arial"/>
                <a:ea typeface="Arial"/>
                <a:cs typeface="Arial"/>
              </a:defRPr>
            </a:lvl3pPr>
            <a:lvl4pPr>
              <a:defRPr sz="3225">
                <a:solidFill>
                  <a:srgbClr val="FFFFFF"/>
                </a:solidFill>
                <a:latin typeface="Arial"/>
                <a:ea typeface="Arial"/>
                <a:cs typeface="Arial"/>
              </a:defRPr>
            </a:lvl4pPr>
            <a:lvl5pPr>
              <a:defRPr sz="3225">
                <a:solidFill>
                  <a:srgbClr val="FFFFFF"/>
                </a:solidFill>
                <a:latin typeface="Arial"/>
                <a:ea typeface="Arial"/>
                <a:cs typeface="Arial"/>
              </a:defRPr>
            </a:lvl5pPr>
            <a:lvl6pPr>
              <a:defRPr sz="3225">
                <a:solidFill>
                  <a:srgbClr val="FFFFFF"/>
                </a:solidFill>
                <a:latin typeface="Arial"/>
                <a:ea typeface="Arial"/>
                <a:cs typeface="Arial"/>
              </a:defRPr>
            </a:lvl6pPr>
            <a:lvl7pPr>
              <a:defRPr sz="3225">
                <a:solidFill>
                  <a:srgbClr val="FFFFFF"/>
                </a:solidFill>
                <a:latin typeface="Arial"/>
                <a:ea typeface="Arial"/>
                <a:cs typeface="Arial"/>
              </a:defRPr>
            </a:lvl7pPr>
            <a:lvl8pPr>
              <a:defRPr sz="3225">
                <a:solidFill>
                  <a:srgbClr val="FFFFFF"/>
                </a:solidFill>
                <a:latin typeface="Arial"/>
                <a:ea typeface="Arial"/>
                <a:cs typeface="Arial"/>
              </a:defRPr>
            </a:lvl8pPr>
            <a:lvl9pPr>
              <a:defRPr sz="3225">
                <a:solidFill>
                  <a:srgbClr val="FFFFFF"/>
                </a:solidFill>
                <a:latin typeface="Arial"/>
                <a:ea typeface="Arial"/>
                <a:cs typeface="Arial"/>
              </a:defRPr>
            </a:lvl9pPr>
          </a:lstStyle>
          <a:p xmlns:a="http://schemas.openxmlformats.org/drawingml/2006/main">
            <a:pPr>
              <a:defRPr sz="3225">
                <a:solidFill>
                  <a:srgbClr val="FFFFFF"/>
                </a:solidFill>
                <a:latin typeface="Arial"/>
                <a:ea typeface="Arial"/>
                <a:cs typeface="Arial"/>
              </a:defRPr>
            </a:pPr>
            <a:r>
              <a:rPr sz="3225">
                <a:solidFill>
                  <a:srgbClr val="FFFFFF"/>
                </a:solidFill>
                <a:latin typeface="Arial"/>
                <a:ea typeface="Arial"/>
                <a:cs typeface="Arial"/>
              </a:rPr>
              <a:t>¿Nueve KB libres garantizan</a:t>
            </a:r>
          </a:p>
          <a:p xmlns:a="http://schemas.openxmlformats.org/drawingml/2006/main">
            <a:pPr>
              <a:defRPr sz="3225">
                <a:solidFill>
                  <a:srgbClr val="FFFFFF"/>
                </a:solidFill>
                <a:latin typeface="Arial"/>
                <a:ea typeface="Arial"/>
                <a:cs typeface="Arial"/>
              </a:defRPr>
            </a:pPr>
            <a:r>
              <a:rPr sz="3225">
                <a:solidFill>
                  <a:srgbClr val="FFFFFF"/>
                </a:solidFill>
                <a:latin typeface="Arial"/>
                <a:ea typeface="Arial"/>
                <a:cs typeface="Arial"/>
              </a:rPr>
              <a:t>ocho KB contiguos?</a:t>
            </a:r>
          </a:p>
        </p:txBody>
      </p:sp>
      <p:sp>
        <p:nvSpPr>
          <p:cNvPr id="5" name="">
            <a:extLst xmlns:a="http://schemas.openxmlformats.org/drawingml/2006/main">
              <a:ext uri="{FF2B5EF4-FFF2-40B4-BE49-F238E27FC236}">
                <a16:creationId xmlns:a16="http://schemas.microsoft.com/office/drawing/2014/main" id="{FCC2A52B-E62D-4367-983A-9B77A9469CF2}"/>
              </a:ext>
            </a:extLst>
          </p:cNvPr>
          <p:cNvSpPr>
            <a:spLocks xmlns:a="http://schemas.openxmlformats.org/drawingml/2006/main" noGrp="1"/>
          </p:cNvSpPr>
          <p:nvPr/>
        </p:nvSpPr>
        <p:spPr>
          <a:xfrm xmlns:a="http://schemas.openxmlformats.org/drawingml/2006/main">
            <a:off x="762000" y="5638800"/>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a:solidFill>
                  <a:srgbClr val="DCE5EF"/>
                </a:solidFill>
                <a:latin typeface="Arial"/>
                <a:ea typeface="Arial"/>
                <a:cs typeface="Arial"/>
              </a:defRPr>
            </a:defPPr>
            <a:lvl1pPr>
              <a:defRPr sz="2175">
                <a:solidFill>
                  <a:srgbClr val="DCE5EF"/>
                </a:solidFill>
                <a:latin typeface="Arial"/>
                <a:ea typeface="Arial"/>
                <a:cs typeface="Arial"/>
              </a:defRPr>
            </a:lvl1pPr>
            <a:lvl2pPr>
              <a:defRPr sz="2175">
                <a:solidFill>
                  <a:srgbClr val="DCE5EF"/>
                </a:solidFill>
                <a:latin typeface="Arial"/>
                <a:ea typeface="Arial"/>
                <a:cs typeface="Arial"/>
              </a:defRPr>
            </a:lvl2pPr>
            <a:lvl3pPr>
              <a:defRPr sz="2175">
                <a:solidFill>
                  <a:srgbClr val="DCE5EF"/>
                </a:solidFill>
                <a:latin typeface="Arial"/>
                <a:ea typeface="Arial"/>
                <a:cs typeface="Arial"/>
              </a:defRPr>
            </a:lvl3pPr>
            <a:lvl4pPr>
              <a:defRPr sz="2175">
                <a:solidFill>
                  <a:srgbClr val="DCE5EF"/>
                </a:solidFill>
                <a:latin typeface="Arial"/>
                <a:ea typeface="Arial"/>
                <a:cs typeface="Arial"/>
              </a:defRPr>
            </a:lvl4pPr>
            <a:lvl5pPr>
              <a:defRPr sz="2175">
                <a:solidFill>
                  <a:srgbClr val="DCE5EF"/>
                </a:solidFill>
                <a:latin typeface="Arial"/>
                <a:ea typeface="Arial"/>
                <a:cs typeface="Arial"/>
              </a:defRPr>
            </a:lvl5pPr>
            <a:lvl6pPr>
              <a:defRPr sz="2175">
                <a:solidFill>
                  <a:srgbClr val="DCE5EF"/>
                </a:solidFill>
                <a:latin typeface="Arial"/>
                <a:ea typeface="Arial"/>
                <a:cs typeface="Arial"/>
              </a:defRPr>
            </a:lvl6pPr>
            <a:lvl7pPr>
              <a:defRPr sz="2175">
                <a:solidFill>
                  <a:srgbClr val="DCE5EF"/>
                </a:solidFill>
                <a:latin typeface="Arial"/>
                <a:ea typeface="Arial"/>
                <a:cs typeface="Arial"/>
              </a:defRPr>
            </a:lvl7pPr>
            <a:lvl8pPr>
              <a:defRPr sz="2175">
                <a:solidFill>
                  <a:srgbClr val="DCE5EF"/>
                </a:solidFill>
                <a:latin typeface="Arial"/>
                <a:ea typeface="Arial"/>
                <a:cs typeface="Arial"/>
              </a:defRPr>
            </a:lvl8pPr>
            <a:lvl9pPr>
              <a:defRPr sz="2175">
                <a:solidFill>
                  <a:srgbClr val="DCE5EF"/>
                </a:solidFill>
                <a:latin typeface="Arial"/>
                <a:ea typeface="Arial"/>
                <a:cs typeface="Arial"/>
              </a:defRPr>
            </a:lvl9pPr>
          </a:lstStyle>
          <a:p xmlns:a="http://schemas.openxmlformats.org/drawingml/2006/main">
            <a:pPr>
              <a:defRPr sz="2175">
                <a:solidFill>
                  <a:srgbClr val="DCE5EF"/>
                </a:solidFill>
                <a:latin typeface="Arial"/>
                <a:ea typeface="Arial"/>
                <a:cs typeface="Arial"/>
              </a:defRPr>
            </a:pPr>
            <a:r>
              <a:rPr sz="2175">
                <a:solidFill>
                  <a:srgbClr val="DCE5EF"/>
                </a:solidFill>
                <a:latin typeface="Arial"/>
                <a:ea typeface="Arial"/>
                <a:cs typeface="Arial"/>
              </a:rPr>
              <a:t>Gracias por su atención</a:t>
            </a:r>
          </a:p>
        </p:txBody>
      </p:sp>
    </p:spTree>
    <p:extLst>
      <p:ext uri="{BB962C8B-B14F-4D97-AF65-F5344CB8AC3E}">
        <p14:creationId xmlns:p14="http://schemas.microsoft.com/office/powerpoint/2010/main" val="10837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2026-10-21T20:28:23.0730000Z</dcterms:created>
  <dcterms:modified xsi:type="dcterms:W3CDTF">2026-10-21T20:28:23.0730000Z</dcterms:modified>
</coreProperties>
</file>